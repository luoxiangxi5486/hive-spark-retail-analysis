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0.xml" ContentType="application/vnd.openxmlformats-officedocument.presentationml.notesSlide+xml"/>
  <Override PartName="/ppt/tags/tag67.xml" ContentType="application/vnd.openxmlformats-officedocument.presentationml.tags+xml"/>
  <Override PartName="/ppt/notesSlides/notesSlide11.xml" ContentType="application/vnd.openxmlformats-officedocument.presentationml.notesSlide+xml"/>
  <Override PartName="/ppt/tags/tag68.xml" ContentType="application/vnd.openxmlformats-officedocument.presentationml.tags+xml"/>
  <Override PartName="/ppt/notesSlides/notesSlide1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4" r:id="rId2"/>
  </p:sldMasterIdLst>
  <p:notesMasterIdLst>
    <p:notesMasterId r:id="rId82"/>
  </p:notesMasterIdLst>
  <p:sldIdLst>
    <p:sldId id="275" r:id="rId3"/>
    <p:sldId id="354" r:id="rId4"/>
    <p:sldId id="327" r:id="rId5"/>
    <p:sldId id="357" r:id="rId6"/>
    <p:sldId id="359" r:id="rId7"/>
    <p:sldId id="360" r:id="rId8"/>
    <p:sldId id="358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  <p:sldId id="397" r:id="rId46"/>
    <p:sldId id="398" r:id="rId47"/>
    <p:sldId id="399" r:id="rId48"/>
    <p:sldId id="400" r:id="rId49"/>
    <p:sldId id="401" r:id="rId50"/>
    <p:sldId id="402" r:id="rId51"/>
    <p:sldId id="403" r:id="rId52"/>
    <p:sldId id="404" r:id="rId53"/>
    <p:sldId id="405" r:id="rId54"/>
    <p:sldId id="406" r:id="rId55"/>
    <p:sldId id="407" r:id="rId56"/>
    <p:sldId id="408" r:id="rId57"/>
    <p:sldId id="409" r:id="rId58"/>
    <p:sldId id="410" r:id="rId59"/>
    <p:sldId id="411" r:id="rId60"/>
    <p:sldId id="412" r:id="rId61"/>
    <p:sldId id="413" r:id="rId62"/>
    <p:sldId id="414" r:id="rId63"/>
    <p:sldId id="415" r:id="rId64"/>
    <p:sldId id="416" r:id="rId65"/>
    <p:sldId id="434" r:id="rId66"/>
    <p:sldId id="435" r:id="rId67"/>
    <p:sldId id="436" r:id="rId68"/>
    <p:sldId id="433" r:id="rId69"/>
    <p:sldId id="417" r:id="rId70"/>
    <p:sldId id="429" r:id="rId71"/>
    <p:sldId id="427" r:id="rId72"/>
    <p:sldId id="418" r:id="rId73"/>
    <p:sldId id="419" r:id="rId74"/>
    <p:sldId id="420" r:id="rId75"/>
    <p:sldId id="421" r:id="rId76"/>
    <p:sldId id="422" r:id="rId77"/>
    <p:sldId id="424" r:id="rId78"/>
    <p:sldId id="425" r:id="rId79"/>
    <p:sldId id="430" r:id="rId80"/>
    <p:sldId id="426" r:id="rId81"/>
  </p:sldIdLst>
  <p:sldSz cx="12192000" cy="6858000"/>
  <p:notesSz cx="6858000" cy="9144000"/>
  <p:custDataLst>
    <p:tags r:id="rId8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1A6492"/>
    <a:srgbClr val="156F97"/>
    <a:srgbClr val="EEF5FB"/>
    <a:srgbClr val="6CA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31" autoAdjust="0"/>
    <p:restoredTop sz="89723" autoAdjust="0"/>
  </p:normalViewPr>
  <p:slideViewPr>
    <p:cSldViewPr snapToGrid="0">
      <p:cViewPr varScale="1">
        <p:scale>
          <a:sx n="73" d="100"/>
          <a:sy n="73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04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commentAuthors" Target="commentAuthor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gs" Target="tags/tag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BE8C6-C54A-4068-83C2-89B62879A18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67D4C-A80E-484A-9258-76C45D905E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093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48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514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02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vmware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-toolbox-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-v</a:t>
            </a:r>
            <a:endParaRPr lang="es-ES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03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441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01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我选择</a:t>
            </a:r>
            <a:r>
              <a:rPr lang="en-US" altLang="zh-CN" dirty="0"/>
              <a:t>A</a:t>
            </a:r>
            <a:r>
              <a:rPr lang="zh-CN" altLang="en-US" dirty="0"/>
              <a:t>；但是</a:t>
            </a:r>
            <a:r>
              <a:rPr lang="en-US" altLang="zh-CN" dirty="0" err="1"/>
              <a:t>mysql</a:t>
            </a:r>
            <a:r>
              <a:rPr lang="zh-CN" altLang="en-US" dirty="0"/>
              <a:t>现在已经被我删除了 怎么办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357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508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412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690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137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2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67D4C-A80E-484A-9258-76C45D905E68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36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14760" y="6400800"/>
            <a:ext cx="777240" cy="365125"/>
          </a:xfrm>
        </p:spPr>
        <p:txBody>
          <a:bodyPr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"/>
            <a:ext cx="12192000" cy="349135"/>
          </a:xfrm>
          <a:prstGeom prst="rect">
            <a:avLst/>
          </a:prstGeom>
          <a:solidFill>
            <a:srgbClr val="156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60480" y="6356350"/>
            <a:ext cx="731520" cy="365125"/>
          </a:xfrm>
        </p:spPr>
        <p:txBody>
          <a:bodyPr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"/>
            <a:ext cx="12192000" cy="349135"/>
          </a:xfrm>
          <a:prstGeom prst="rect">
            <a:avLst/>
          </a:prstGeom>
          <a:solidFill>
            <a:srgbClr val="156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"/>
            <a:ext cx="12192000" cy="598516"/>
            <a:chOff x="-1" y="190175"/>
            <a:chExt cx="9145786" cy="525795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2194" y="52240"/>
            <a:ext cx="7391205" cy="506641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4.4.1</a:t>
            </a:r>
            <a:r>
              <a:rPr lang="zh-CN" altLang="zh-CN" dirty="0"/>
              <a:t>基于</a:t>
            </a:r>
            <a:r>
              <a:rPr lang="en-US" altLang="zh-CN" dirty="0" err="1"/>
              <a:t>Hive+MySQL+Sqoop</a:t>
            </a:r>
            <a:r>
              <a:rPr lang="zh-CN" altLang="zh-CN" dirty="0"/>
              <a:t>的数据存储与传输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00907" y="6356222"/>
            <a:ext cx="888076" cy="365125"/>
          </a:xfrm>
        </p:spPr>
        <p:txBody>
          <a:bodyPr/>
          <a:lstStyle>
            <a:lvl1pPr algn="ctr"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21475"/>
            <a:ext cx="12192001" cy="136525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 userDrawn="1"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4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3" name="graduate-cap_49944"/>
          <p:cNvSpPr/>
          <p:nvPr userDrawn="1"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14760" y="6400800"/>
            <a:ext cx="777240" cy="365125"/>
          </a:xfrm>
        </p:spPr>
        <p:txBody>
          <a:bodyPr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"/>
            <a:ext cx="12192000" cy="349135"/>
          </a:xfrm>
          <a:prstGeom prst="rect">
            <a:avLst/>
          </a:prstGeom>
          <a:solidFill>
            <a:srgbClr val="156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60480" y="6356350"/>
            <a:ext cx="731520" cy="365125"/>
          </a:xfrm>
        </p:spPr>
        <p:txBody>
          <a:bodyPr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"/>
            <a:ext cx="12192000" cy="349135"/>
          </a:xfrm>
          <a:prstGeom prst="rect">
            <a:avLst/>
          </a:prstGeom>
          <a:solidFill>
            <a:srgbClr val="156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"/>
            <a:ext cx="12192000" cy="598516"/>
            <a:chOff x="-1" y="190175"/>
            <a:chExt cx="9145786" cy="525795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194" y="52240"/>
            <a:ext cx="7391205" cy="506641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00907" y="6356222"/>
            <a:ext cx="888076" cy="365125"/>
          </a:xfrm>
        </p:spPr>
        <p:txBody>
          <a:bodyPr/>
          <a:lstStyle>
            <a:lvl1pPr algn="ctr"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21475"/>
            <a:ext cx="12192001" cy="136525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 userDrawn="1"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4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3" name="graduate-cap_49944"/>
          <p:cNvSpPr/>
          <p:nvPr userDrawn="1"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"/>
            <a:ext cx="12192000" cy="598516"/>
            <a:chOff x="-1" y="190175"/>
            <a:chExt cx="9145786" cy="525795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194" y="52240"/>
            <a:ext cx="7391205" cy="506641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00907" y="6356222"/>
            <a:ext cx="888076" cy="365125"/>
          </a:xfrm>
        </p:spPr>
        <p:txBody>
          <a:bodyPr/>
          <a:lstStyle>
            <a:lvl1pPr algn="ctr"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21475"/>
            <a:ext cx="12192001" cy="136525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graduate-cap_49944"/>
          <p:cNvSpPr/>
          <p:nvPr userDrawn="1"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标题 1"/>
          <p:cNvSpPr>
            <a:spLocks noGrp="1"/>
          </p:cNvSpPr>
          <p:nvPr userDrawn="1"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4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"/>
            <a:ext cx="12192000" cy="598516"/>
            <a:chOff x="-1" y="190175"/>
            <a:chExt cx="9145786" cy="525795"/>
          </a:xfrm>
        </p:grpSpPr>
        <p:sp>
          <p:nvSpPr>
            <p:cNvPr id="8" name="任意多边形 7"/>
            <p:cNvSpPr/>
            <p:nvPr userDrawn="1"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8"/>
            <p:cNvSpPr/>
            <p:nvPr userDrawn="1"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194" y="52240"/>
            <a:ext cx="7391205" cy="506641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320" y="853036"/>
            <a:ext cx="10515600" cy="487443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00907" y="6356222"/>
            <a:ext cx="888076" cy="365125"/>
          </a:xfrm>
        </p:spPr>
        <p:txBody>
          <a:bodyPr/>
          <a:lstStyle>
            <a:lvl1pPr algn="ctr"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21475"/>
            <a:ext cx="12192001" cy="136525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600" smtClean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algn="r"/>
            <a:fld id="{565CE74E-AB26-4998-AD42-012C4C1AD07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600" smtClean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algn="r"/>
            <a:fld id="{565CE74E-AB26-4998-AD42-012C4C1AD07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4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Relationship Id="rId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Relationship Id="rId4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Relationship Id="rId4" Type="http://schemas.openxmlformats.org/officeDocument/2006/relationships/image" Target="../media/image6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if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Relationship Id="rId4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Relationship Id="rId4" Type="http://schemas.openxmlformats.org/officeDocument/2006/relationships/image" Target="../media/image8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Relationship Id="rId4" Type="http://schemas.openxmlformats.org/officeDocument/2006/relationships/image" Target="../media/image8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Relationship Id="rId4" Type="http://schemas.openxmlformats.org/officeDocument/2006/relationships/image" Target="../media/image8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Relationship Id="rId4" Type="http://schemas.openxmlformats.org/officeDocument/2006/relationships/image" Target="../media/image8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test/index.jsp" TargetMode="Externa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Relationship Id="rId4" Type="http://schemas.openxmlformats.org/officeDocument/2006/relationships/image" Target="../media/image87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Relationship Id="rId4" Type="http://schemas.openxmlformats.org/officeDocument/2006/relationships/image" Target="../media/image8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-1" y="8467"/>
            <a:ext cx="31326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《大数据综合应用实践》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11480" y="702945"/>
            <a:ext cx="1127696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3200" b="1" dirty="0">
                <a:solidFill>
                  <a:srgbClr val="1A649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srgbClr val="1A649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1A649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cs typeface="微软雅黑" panose="020B0503020204020204" pitchFamily="34" charset="-122"/>
              </a:rPr>
              <a:t>章   基于</a:t>
            </a:r>
            <a:r>
              <a:rPr lang="en-US" altLang="zh-CN" sz="3200" b="1" dirty="0" err="1">
                <a:solidFill>
                  <a:srgbClr val="1A649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cs typeface="微软雅黑" panose="020B0503020204020204" pitchFamily="34" charset="-122"/>
              </a:rPr>
              <a:t>Hive+MySQL+Spark</a:t>
            </a:r>
            <a:r>
              <a:rPr lang="zh-CN" altLang="en-US" sz="3200" b="1" dirty="0">
                <a:solidFill>
                  <a:srgbClr val="1A649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cs typeface="微软雅黑" panose="020B0503020204020204" pitchFamily="34" charset="-122"/>
              </a:rPr>
              <a:t>的零售数据分析及可视化</a:t>
            </a:r>
            <a:endParaRPr lang="zh-CN" altLang="en-US" sz="3200" b="1" dirty="0">
              <a:solidFill>
                <a:srgbClr val="1A649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55725" y="1981835"/>
            <a:ext cx="9296400" cy="4676140"/>
            <a:chOff x="2135" y="3121"/>
            <a:chExt cx="14640" cy="7364"/>
          </a:xfrm>
        </p:grpSpPr>
        <p:grpSp>
          <p:nvGrpSpPr>
            <p:cNvPr id="2" name="组合 1"/>
            <p:cNvGrpSpPr/>
            <p:nvPr/>
          </p:nvGrpSpPr>
          <p:grpSpPr>
            <a:xfrm>
              <a:off x="2135" y="3121"/>
              <a:ext cx="14640" cy="7365"/>
              <a:chOff x="2135" y="3474"/>
              <a:chExt cx="14640" cy="7012"/>
            </a:xfrm>
          </p:grpSpPr>
          <p:grpSp>
            <p:nvGrpSpPr>
              <p:cNvPr id="10745" name="图形 10741"/>
              <p:cNvGrpSpPr/>
              <p:nvPr/>
            </p:nvGrpSpPr>
            <p:grpSpPr>
              <a:xfrm>
                <a:off x="2939" y="3940"/>
                <a:ext cx="13094" cy="6009"/>
                <a:chOff x="3476625" y="2152554"/>
                <a:chExt cx="5274945" cy="2520473"/>
              </a:xfrm>
              <a:noFill/>
            </p:grpSpPr>
            <p:sp>
              <p:nvSpPr>
                <p:cNvPr id="10746" name="任意多边形: 形状 10745"/>
                <p:cNvSpPr/>
                <p:nvPr/>
              </p:nvSpPr>
              <p:spPr>
                <a:xfrm>
                  <a:off x="3598689" y="2152554"/>
                  <a:ext cx="5037262" cy="2440357"/>
                </a:xfrm>
                <a:custGeom>
                  <a:avLst/>
                  <a:gdLst>
                    <a:gd name="connsiteX0" fmla="*/ 0 w 5037200"/>
                    <a:gd name="connsiteY0" fmla="*/ 2290667 h 2290667"/>
                    <a:gd name="connsiteX1" fmla="*/ 0 w 5037200"/>
                    <a:gd name="connsiteY1" fmla="*/ 0 h 2290667"/>
                    <a:gd name="connsiteX2" fmla="*/ 5037201 w 5037200"/>
                    <a:gd name="connsiteY2" fmla="*/ 0 h 2290667"/>
                    <a:gd name="connsiteX3" fmla="*/ 5037201 w 5037200"/>
                    <a:gd name="connsiteY3" fmla="*/ 2290667 h 2290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37200" h="2290667">
                      <a:moveTo>
                        <a:pt x="0" y="2290667"/>
                      </a:moveTo>
                      <a:lnTo>
                        <a:pt x="0" y="0"/>
                      </a:lnTo>
                      <a:lnTo>
                        <a:pt x="5037201" y="0"/>
                      </a:lnTo>
                      <a:lnTo>
                        <a:pt x="5037201" y="2290667"/>
                      </a:lnTo>
                    </a:path>
                  </a:pathLst>
                </a:custGeom>
                <a:solidFill>
                  <a:srgbClr val="EEF5FB"/>
                </a:solidFill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47" name="任意多边形: 形状 10746"/>
                <p:cNvSpPr/>
                <p:nvPr/>
              </p:nvSpPr>
              <p:spPr>
                <a:xfrm>
                  <a:off x="3476625" y="4586255"/>
                  <a:ext cx="5274945" cy="86772"/>
                </a:xfrm>
                <a:custGeom>
                  <a:avLst/>
                  <a:gdLst>
                    <a:gd name="connsiteX0" fmla="*/ 0 w 5274945"/>
                    <a:gd name="connsiteY0" fmla="*/ 0 h 86772"/>
                    <a:gd name="connsiteX1" fmla="*/ 5274945 w 5274945"/>
                    <a:gd name="connsiteY1" fmla="*/ 0 h 86772"/>
                    <a:gd name="connsiteX2" fmla="*/ 5274945 w 5274945"/>
                    <a:gd name="connsiteY2" fmla="*/ 86773 h 86772"/>
                    <a:gd name="connsiteX3" fmla="*/ 0 w 5274945"/>
                    <a:gd name="connsiteY3" fmla="*/ 86773 h 86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274945" h="86772">
                      <a:moveTo>
                        <a:pt x="0" y="0"/>
                      </a:moveTo>
                      <a:lnTo>
                        <a:pt x="5274945" y="0"/>
                      </a:lnTo>
                      <a:lnTo>
                        <a:pt x="5274945" y="86773"/>
                      </a:lnTo>
                      <a:lnTo>
                        <a:pt x="0" y="86773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748" name="图形 10741"/>
              <p:cNvSpPr/>
              <p:nvPr/>
            </p:nvSpPr>
            <p:spPr>
              <a:xfrm>
                <a:off x="2135" y="3940"/>
                <a:ext cx="678" cy="931"/>
              </a:xfrm>
              <a:custGeom>
                <a:avLst/>
                <a:gdLst>
                  <a:gd name="connsiteX0" fmla="*/ 0 w 273177"/>
                  <a:gd name="connsiteY0" fmla="*/ 0 h 390334"/>
                  <a:gd name="connsiteX1" fmla="*/ 273177 w 273177"/>
                  <a:gd name="connsiteY1" fmla="*/ 0 h 390334"/>
                  <a:gd name="connsiteX2" fmla="*/ 273177 w 273177"/>
                  <a:gd name="connsiteY2" fmla="*/ 390335 h 390334"/>
                  <a:gd name="connsiteX3" fmla="*/ 0 w 273177"/>
                  <a:gd name="connsiteY3" fmla="*/ 390335 h 390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3177" h="390334">
                    <a:moveTo>
                      <a:pt x="0" y="0"/>
                    </a:moveTo>
                    <a:lnTo>
                      <a:pt x="273177" y="0"/>
                    </a:lnTo>
                    <a:lnTo>
                      <a:pt x="273177" y="390335"/>
                    </a:lnTo>
                    <a:lnTo>
                      <a:pt x="0" y="390335"/>
                    </a:lnTo>
                    <a:close/>
                  </a:path>
                </a:pathLst>
              </a:custGeom>
              <a:gradFill>
                <a:gsLst>
                  <a:gs pos="74000">
                    <a:srgbClr val="C8DDEE"/>
                  </a:gs>
                  <a:gs pos="23000">
                    <a:srgbClr val="88B7C9"/>
                  </a:gs>
                  <a:gs pos="100000">
                    <a:srgbClr val="EEF3F9"/>
                  </a:gs>
                </a:gsLst>
                <a:lin scaled="1"/>
              </a:gradFill>
              <a:ln w="19050" cap="flat">
                <a:solidFill>
                  <a:srgbClr val="2856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0749" name="图形 10741"/>
              <p:cNvGrpSpPr/>
              <p:nvPr/>
            </p:nvGrpSpPr>
            <p:grpSpPr>
              <a:xfrm>
                <a:off x="7308" y="8859"/>
                <a:ext cx="4221" cy="1627"/>
                <a:chOff x="5236940" y="4023454"/>
                <a:chExt cx="1700593" cy="875157"/>
              </a:xfrm>
            </p:grpSpPr>
            <p:sp>
              <p:nvSpPr>
                <p:cNvPr id="10750" name="任意多边形: 形状 10749"/>
                <p:cNvSpPr/>
                <p:nvPr/>
              </p:nvSpPr>
              <p:spPr>
                <a:xfrm>
                  <a:off x="5236940" y="4291012"/>
                  <a:ext cx="1700593" cy="60960"/>
                </a:xfrm>
                <a:custGeom>
                  <a:avLst/>
                  <a:gdLst>
                    <a:gd name="connsiteX0" fmla="*/ 0 w 1700593"/>
                    <a:gd name="connsiteY0" fmla="*/ 0 h 60960"/>
                    <a:gd name="connsiteX1" fmla="*/ 1700594 w 1700593"/>
                    <a:gd name="connsiteY1" fmla="*/ 0 h 60960"/>
                    <a:gd name="connsiteX2" fmla="*/ 1700594 w 1700593"/>
                    <a:gd name="connsiteY2" fmla="*/ 60960 h 60960"/>
                    <a:gd name="connsiteX3" fmla="*/ 0 w 1700593"/>
                    <a:gd name="connsiteY3" fmla="*/ 60960 h 60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00593" h="60960">
                      <a:moveTo>
                        <a:pt x="0" y="0"/>
                      </a:moveTo>
                      <a:lnTo>
                        <a:pt x="1700594" y="0"/>
                      </a:lnTo>
                      <a:lnTo>
                        <a:pt x="1700594" y="60960"/>
                      </a:lnTo>
                      <a:lnTo>
                        <a:pt x="0" y="60960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1" name="任意多边形: 形状 10750"/>
                <p:cNvSpPr/>
                <p:nvPr/>
              </p:nvSpPr>
              <p:spPr>
                <a:xfrm>
                  <a:off x="5269896" y="4352067"/>
                  <a:ext cx="1634489" cy="546544"/>
                </a:xfrm>
                <a:custGeom>
                  <a:avLst/>
                  <a:gdLst>
                    <a:gd name="connsiteX0" fmla="*/ 1591342 w 1634489"/>
                    <a:gd name="connsiteY0" fmla="*/ 0 h 546544"/>
                    <a:gd name="connsiteX1" fmla="*/ 1567148 w 1634489"/>
                    <a:gd name="connsiteY1" fmla="*/ 0 h 546544"/>
                    <a:gd name="connsiteX2" fmla="*/ 67437 w 1634489"/>
                    <a:gd name="connsiteY2" fmla="*/ 0 h 546544"/>
                    <a:gd name="connsiteX3" fmla="*/ 33718 w 1634489"/>
                    <a:gd name="connsiteY3" fmla="*/ 0 h 546544"/>
                    <a:gd name="connsiteX4" fmla="*/ 0 w 1634489"/>
                    <a:gd name="connsiteY4" fmla="*/ 0 h 546544"/>
                    <a:gd name="connsiteX5" fmla="*/ 0 w 1634489"/>
                    <a:gd name="connsiteY5" fmla="*/ 546545 h 546544"/>
                    <a:gd name="connsiteX6" fmla="*/ 67437 w 1634489"/>
                    <a:gd name="connsiteY6" fmla="*/ 546545 h 546544"/>
                    <a:gd name="connsiteX7" fmla="*/ 67437 w 1634489"/>
                    <a:gd name="connsiteY7" fmla="*/ 359664 h 546544"/>
                    <a:gd name="connsiteX8" fmla="*/ 1567148 w 1634489"/>
                    <a:gd name="connsiteY8" fmla="*/ 359664 h 546544"/>
                    <a:gd name="connsiteX9" fmla="*/ 1567148 w 1634489"/>
                    <a:gd name="connsiteY9" fmla="*/ 546545 h 546544"/>
                    <a:gd name="connsiteX10" fmla="*/ 1634490 w 1634489"/>
                    <a:gd name="connsiteY10" fmla="*/ 546545 h 546544"/>
                    <a:gd name="connsiteX11" fmla="*/ 1634490 w 1634489"/>
                    <a:gd name="connsiteY11" fmla="*/ 0 h 546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34489" h="546544">
                      <a:moveTo>
                        <a:pt x="1591342" y="0"/>
                      </a:moveTo>
                      <a:lnTo>
                        <a:pt x="1567148" y="0"/>
                      </a:lnTo>
                      <a:lnTo>
                        <a:pt x="67437" y="0"/>
                      </a:lnTo>
                      <a:lnTo>
                        <a:pt x="33718" y="0"/>
                      </a:lnTo>
                      <a:lnTo>
                        <a:pt x="0" y="0"/>
                      </a:lnTo>
                      <a:lnTo>
                        <a:pt x="0" y="546545"/>
                      </a:lnTo>
                      <a:lnTo>
                        <a:pt x="67437" y="546545"/>
                      </a:lnTo>
                      <a:lnTo>
                        <a:pt x="67437" y="359664"/>
                      </a:lnTo>
                      <a:lnTo>
                        <a:pt x="1567148" y="359664"/>
                      </a:lnTo>
                      <a:lnTo>
                        <a:pt x="1567148" y="546545"/>
                      </a:lnTo>
                      <a:lnTo>
                        <a:pt x="1634490" y="546545"/>
                      </a:lnTo>
                      <a:lnTo>
                        <a:pt x="1634490" y="0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2" name="任意多边形: 形状 10751"/>
                <p:cNvSpPr/>
                <p:nvPr/>
              </p:nvSpPr>
              <p:spPr>
                <a:xfrm>
                  <a:off x="6087141" y="4023454"/>
                  <a:ext cx="324802" cy="267557"/>
                </a:xfrm>
                <a:custGeom>
                  <a:avLst/>
                  <a:gdLst>
                    <a:gd name="connsiteX0" fmla="*/ 324803 w 324802"/>
                    <a:gd name="connsiteY0" fmla="*/ 267557 h 267557"/>
                    <a:gd name="connsiteX1" fmla="*/ 0 w 324802"/>
                    <a:gd name="connsiteY1" fmla="*/ 267557 h 267557"/>
                    <a:gd name="connsiteX2" fmla="*/ 36386 w 324802"/>
                    <a:gd name="connsiteY2" fmla="*/ 45720 h 267557"/>
                    <a:gd name="connsiteX3" fmla="*/ 90202 w 324802"/>
                    <a:gd name="connsiteY3" fmla="*/ 0 h 267557"/>
                    <a:gd name="connsiteX4" fmla="*/ 231934 w 324802"/>
                    <a:gd name="connsiteY4" fmla="*/ 0 h 267557"/>
                    <a:gd name="connsiteX5" fmla="*/ 285655 w 324802"/>
                    <a:gd name="connsiteY5" fmla="*/ 45053 h 267557"/>
                    <a:gd name="connsiteX6" fmla="*/ 324803 w 324802"/>
                    <a:gd name="connsiteY6" fmla="*/ 267557 h 267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4802" h="267557">
                      <a:moveTo>
                        <a:pt x="324803" y="267557"/>
                      </a:moveTo>
                      <a:lnTo>
                        <a:pt x="0" y="267557"/>
                      </a:lnTo>
                      <a:lnTo>
                        <a:pt x="36386" y="45720"/>
                      </a:lnTo>
                      <a:cubicBezTo>
                        <a:pt x="40672" y="19336"/>
                        <a:pt x="63532" y="0"/>
                        <a:pt x="90202" y="0"/>
                      </a:cubicBezTo>
                      <a:lnTo>
                        <a:pt x="231934" y="0"/>
                      </a:lnTo>
                      <a:cubicBezTo>
                        <a:pt x="258413" y="0"/>
                        <a:pt x="281083" y="19050"/>
                        <a:pt x="285655" y="45053"/>
                      </a:cubicBezTo>
                      <a:lnTo>
                        <a:pt x="324803" y="267557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3" name="任意多边形: 形状 10752"/>
                <p:cNvSpPr/>
                <p:nvPr/>
              </p:nvSpPr>
              <p:spPr>
                <a:xfrm>
                  <a:off x="5664898" y="4094035"/>
                  <a:ext cx="43815" cy="196977"/>
                </a:xfrm>
                <a:custGeom>
                  <a:avLst/>
                  <a:gdLst>
                    <a:gd name="connsiteX0" fmla="*/ 0 w 43815"/>
                    <a:gd name="connsiteY0" fmla="*/ 0 h 196977"/>
                    <a:gd name="connsiteX1" fmla="*/ 43815 w 43815"/>
                    <a:gd name="connsiteY1" fmla="*/ 0 h 196977"/>
                    <a:gd name="connsiteX2" fmla="*/ 43815 w 43815"/>
                    <a:gd name="connsiteY2" fmla="*/ 196977 h 196977"/>
                    <a:gd name="connsiteX3" fmla="*/ 0 w 43815"/>
                    <a:gd name="connsiteY3" fmla="*/ 196977 h 196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15" h="196977">
                      <a:moveTo>
                        <a:pt x="0" y="0"/>
                      </a:moveTo>
                      <a:lnTo>
                        <a:pt x="43815" y="0"/>
                      </a:lnTo>
                      <a:lnTo>
                        <a:pt x="43815" y="196977"/>
                      </a:lnTo>
                      <a:lnTo>
                        <a:pt x="0" y="196977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4" name="任意多边形: 形状 10753"/>
                <p:cNvSpPr/>
                <p:nvPr/>
              </p:nvSpPr>
              <p:spPr>
                <a:xfrm>
                  <a:off x="5802153" y="4196047"/>
                  <a:ext cx="40004" cy="94964"/>
                </a:xfrm>
                <a:custGeom>
                  <a:avLst/>
                  <a:gdLst>
                    <a:gd name="connsiteX0" fmla="*/ 0 w 40004"/>
                    <a:gd name="connsiteY0" fmla="*/ 0 h 94964"/>
                    <a:gd name="connsiteX1" fmla="*/ 40005 w 40004"/>
                    <a:gd name="connsiteY1" fmla="*/ 0 h 94964"/>
                    <a:gd name="connsiteX2" fmla="*/ 40005 w 40004"/>
                    <a:gd name="connsiteY2" fmla="*/ 94964 h 94964"/>
                    <a:gd name="connsiteX3" fmla="*/ 0 w 40004"/>
                    <a:gd name="connsiteY3" fmla="*/ 94964 h 94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004" h="94964">
                      <a:moveTo>
                        <a:pt x="0" y="0"/>
                      </a:moveTo>
                      <a:lnTo>
                        <a:pt x="40005" y="0"/>
                      </a:lnTo>
                      <a:lnTo>
                        <a:pt x="40005" y="94964"/>
                      </a:lnTo>
                      <a:lnTo>
                        <a:pt x="0" y="94964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5" name="任意多边形: 形状 10754"/>
                <p:cNvSpPr/>
                <p:nvPr/>
              </p:nvSpPr>
              <p:spPr>
                <a:xfrm rot="1149583">
                  <a:off x="5599682" y="4144898"/>
                  <a:ext cx="36480" cy="137920"/>
                </a:xfrm>
                <a:custGeom>
                  <a:avLst/>
                  <a:gdLst>
                    <a:gd name="connsiteX0" fmla="*/ 0 w 36480"/>
                    <a:gd name="connsiteY0" fmla="*/ 0 h 137920"/>
                    <a:gd name="connsiteX1" fmla="*/ 36480 w 36480"/>
                    <a:gd name="connsiteY1" fmla="*/ 0 h 137920"/>
                    <a:gd name="connsiteX2" fmla="*/ 36480 w 36480"/>
                    <a:gd name="connsiteY2" fmla="*/ 137921 h 137920"/>
                    <a:gd name="connsiteX3" fmla="*/ 0 w 36480"/>
                    <a:gd name="connsiteY3" fmla="*/ 137921 h 137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80" h="137920">
                      <a:moveTo>
                        <a:pt x="0" y="0"/>
                      </a:moveTo>
                      <a:lnTo>
                        <a:pt x="36480" y="0"/>
                      </a:lnTo>
                      <a:lnTo>
                        <a:pt x="36480" y="137921"/>
                      </a:lnTo>
                      <a:lnTo>
                        <a:pt x="0" y="137921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6" name="任意多边形: 形状 10755"/>
                <p:cNvSpPr/>
                <p:nvPr/>
              </p:nvSpPr>
              <p:spPr>
                <a:xfrm>
                  <a:off x="6029039" y="4898611"/>
                  <a:ext cx="108680" cy="9525"/>
                </a:xfrm>
                <a:custGeom>
                  <a:avLst/>
                  <a:gdLst>
                    <a:gd name="connsiteX0" fmla="*/ 0 w 108680"/>
                    <a:gd name="connsiteY0" fmla="*/ 0 h 9525"/>
                    <a:gd name="connsiteX1" fmla="*/ 108680 w 108680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680" h="9525">
                      <a:moveTo>
                        <a:pt x="0" y="0"/>
                      </a:moveTo>
                      <a:lnTo>
                        <a:pt x="108680" y="0"/>
                      </a:lnTo>
                    </a:path>
                  </a:pathLst>
                </a:custGeom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7" name="任意多边形: 形状 10756"/>
                <p:cNvSpPr/>
                <p:nvPr/>
              </p:nvSpPr>
              <p:spPr>
                <a:xfrm>
                  <a:off x="6357651" y="4898611"/>
                  <a:ext cx="108680" cy="9525"/>
                </a:xfrm>
                <a:custGeom>
                  <a:avLst/>
                  <a:gdLst>
                    <a:gd name="connsiteX0" fmla="*/ 0 w 108680"/>
                    <a:gd name="connsiteY0" fmla="*/ 0 h 9525"/>
                    <a:gd name="connsiteX1" fmla="*/ 108680 w 108680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8680" h="9525">
                      <a:moveTo>
                        <a:pt x="0" y="0"/>
                      </a:moveTo>
                      <a:lnTo>
                        <a:pt x="108680" y="0"/>
                      </a:lnTo>
                    </a:path>
                  </a:pathLst>
                </a:custGeom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8" name="任意多边形: 形状 10757"/>
                <p:cNvSpPr/>
                <p:nvPr/>
              </p:nvSpPr>
              <p:spPr>
                <a:xfrm>
                  <a:off x="6083331" y="4711731"/>
                  <a:ext cx="9525" cy="186880"/>
                </a:xfrm>
                <a:custGeom>
                  <a:avLst/>
                  <a:gdLst>
                    <a:gd name="connsiteX0" fmla="*/ 0 w 9525"/>
                    <a:gd name="connsiteY0" fmla="*/ 0 h 186880"/>
                    <a:gd name="connsiteX1" fmla="*/ 0 w 9525"/>
                    <a:gd name="connsiteY1" fmla="*/ 186881 h 186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186880">
                      <a:moveTo>
                        <a:pt x="0" y="0"/>
                      </a:moveTo>
                      <a:lnTo>
                        <a:pt x="0" y="186881"/>
                      </a:lnTo>
                    </a:path>
                  </a:pathLst>
                </a:custGeom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59" name="任意多边形: 形状 10758"/>
                <p:cNvSpPr/>
                <p:nvPr/>
              </p:nvSpPr>
              <p:spPr>
                <a:xfrm>
                  <a:off x="6411944" y="4711731"/>
                  <a:ext cx="9525" cy="186880"/>
                </a:xfrm>
                <a:custGeom>
                  <a:avLst/>
                  <a:gdLst>
                    <a:gd name="connsiteX0" fmla="*/ 0 w 9525"/>
                    <a:gd name="connsiteY0" fmla="*/ 0 h 186880"/>
                    <a:gd name="connsiteX1" fmla="*/ 0 w 9525"/>
                    <a:gd name="connsiteY1" fmla="*/ 186881 h 186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186880">
                      <a:moveTo>
                        <a:pt x="0" y="0"/>
                      </a:moveTo>
                      <a:lnTo>
                        <a:pt x="0" y="186881"/>
                      </a:lnTo>
                    </a:path>
                  </a:pathLst>
                </a:custGeom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60" name="任意多边形: 形状 10759"/>
                <p:cNvSpPr/>
                <p:nvPr/>
              </p:nvSpPr>
              <p:spPr>
                <a:xfrm>
                  <a:off x="5416677" y="4441030"/>
                  <a:ext cx="1324356" cy="152400"/>
                </a:xfrm>
                <a:custGeom>
                  <a:avLst/>
                  <a:gdLst>
                    <a:gd name="connsiteX0" fmla="*/ 0 w 1324356"/>
                    <a:gd name="connsiteY0" fmla="*/ 0 h 152400"/>
                    <a:gd name="connsiteX1" fmla="*/ 1324356 w 1324356"/>
                    <a:gd name="connsiteY1" fmla="*/ 0 h 152400"/>
                    <a:gd name="connsiteX2" fmla="*/ 1324356 w 1324356"/>
                    <a:gd name="connsiteY2" fmla="*/ 152400 h 152400"/>
                    <a:gd name="connsiteX3" fmla="*/ 0 w 1324356"/>
                    <a:gd name="connsiteY3" fmla="*/ 152400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24356" h="152400">
                      <a:moveTo>
                        <a:pt x="0" y="0"/>
                      </a:moveTo>
                      <a:lnTo>
                        <a:pt x="1324356" y="0"/>
                      </a:lnTo>
                      <a:lnTo>
                        <a:pt x="1324356" y="152400"/>
                      </a:lnTo>
                      <a:lnTo>
                        <a:pt x="0" y="1524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61" name="任意多边形: 形状 10760"/>
                <p:cNvSpPr/>
                <p:nvPr/>
              </p:nvSpPr>
              <p:spPr>
                <a:xfrm>
                  <a:off x="6057995" y="4496371"/>
                  <a:ext cx="46291" cy="46291"/>
                </a:xfrm>
                <a:custGeom>
                  <a:avLst/>
                  <a:gdLst>
                    <a:gd name="connsiteX0" fmla="*/ 46291 w 46291"/>
                    <a:gd name="connsiteY0" fmla="*/ 23146 h 46291"/>
                    <a:gd name="connsiteX1" fmla="*/ 23146 w 46291"/>
                    <a:gd name="connsiteY1" fmla="*/ 46291 h 46291"/>
                    <a:gd name="connsiteX2" fmla="*/ 0 w 46291"/>
                    <a:gd name="connsiteY2" fmla="*/ 23146 h 46291"/>
                    <a:gd name="connsiteX3" fmla="*/ 23146 w 46291"/>
                    <a:gd name="connsiteY3" fmla="*/ 0 h 46291"/>
                    <a:gd name="connsiteX4" fmla="*/ 46291 w 46291"/>
                    <a:gd name="connsiteY4" fmla="*/ 23146 h 46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291" h="46291">
                      <a:moveTo>
                        <a:pt x="46291" y="23146"/>
                      </a:moveTo>
                      <a:cubicBezTo>
                        <a:pt x="46291" y="35929"/>
                        <a:pt x="35929" y="46291"/>
                        <a:pt x="23146" y="46291"/>
                      </a:cubicBezTo>
                      <a:cubicBezTo>
                        <a:pt x="10363" y="46291"/>
                        <a:pt x="0" y="35929"/>
                        <a:pt x="0" y="23146"/>
                      </a:cubicBezTo>
                      <a:cubicBezTo>
                        <a:pt x="0" y="10363"/>
                        <a:pt x="10363" y="0"/>
                        <a:pt x="23146" y="0"/>
                      </a:cubicBezTo>
                      <a:cubicBezTo>
                        <a:pt x="35929" y="0"/>
                        <a:pt x="46291" y="10363"/>
                        <a:pt x="46291" y="23146"/>
                      </a:cubicBezTo>
                      <a:close/>
                    </a:path>
                  </a:pathLst>
                </a:custGeom>
                <a:solidFill>
                  <a:srgbClr val="BEEADD"/>
                </a:solidFill>
                <a:ln w="19050" cap="flat">
                  <a:solidFill>
                    <a:srgbClr val="2856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762" name="图形 10741"/>
              <p:cNvSpPr/>
              <p:nvPr/>
            </p:nvSpPr>
            <p:spPr>
              <a:xfrm>
                <a:off x="13334" y="3474"/>
                <a:ext cx="3441" cy="23"/>
              </a:xfrm>
              <a:custGeom>
                <a:avLst/>
                <a:gdLst>
                  <a:gd name="connsiteX0" fmla="*/ 0 w 1386458"/>
                  <a:gd name="connsiteY0" fmla="*/ 0 h 9525"/>
                  <a:gd name="connsiteX1" fmla="*/ 284321 w 1386458"/>
                  <a:gd name="connsiteY1" fmla="*/ 0 h 9525"/>
                  <a:gd name="connsiteX2" fmla="*/ 1386459 w 1386458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86458" h="9525">
                    <a:moveTo>
                      <a:pt x="0" y="0"/>
                    </a:moveTo>
                    <a:lnTo>
                      <a:pt x="284321" y="0"/>
                    </a:lnTo>
                    <a:lnTo>
                      <a:pt x="1386459" y="0"/>
                    </a:lnTo>
                  </a:path>
                </a:pathLst>
              </a:custGeom>
              <a:noFill/>
              <a:ln w="19050" cap="flat">
                <a:solidFill>
                  <a:srgbClr val="2856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63" name="图形 10741"/>
              <p:cNvSpPr/>
              <p:nvPr/>
            </p:nvSpPr>
            <p:spPr>
              <a:xfrm>
                <a:off x="14040" y="3474"/>
                <a:ext cx="24" cy="625"/>
              </a:xfrm>
              <a:custGeom>
                <a:avLst/>
                <a:gdLst>
                  <a:gd name="connsiteX0" fmla="*/ 0 w 9525"/>
                  <a:gd name="connsiteY0" fmla="*/ 262033 h 262032"/>
                  <a:gd name="connsiteX1" fmla="*/ 0 w 9525"/>
                  <a:gd name="connsiteY1" fmla="*/ 0 h 26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262032">
                    <a:moveTo>
                      <a:pt x="0" y="262033"/>
                    </a:moveTo>
                    <a:lnTo>
                      <a:pt x="0" y="0"/>
                    </a:lnTo>
                  </a:path>
                </a:pathLst>
              </a:custGeom>
              <a:ln w="19050" cap="flat">
                <a:solidFill>
                  <a:srgbClr val="2856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64" name="图形 10741"/>
              <p:cNvSpPr/>
              <p:nvPr/>
            </p:nvSpPr>
            <p:spPr>
              <a:xfrm>
                <a:off x="14753" y="3474"/>
                <a:ext cx="24" cy="1191"/>
              </a:xfrm>
              <a:custGeom>
                <a:avLst/>
                <a:gdLst>
                  <a:gd name="connsiteX0" fmla="*/ 0 w 9525"/>
                  <a:gd name="connsiteY0" fmla="*/ 499967 h 499967"/>
                  <a:gd name="connsiteX1" fmla="*/ 0 w 9525"/>
                  <a:gd name="connsiteY1" fmla="*/ 0 h 499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99967">
                    <a:moveTo>
                      <a:pt x="0" y="499967"/>
                    </a:moveTo>
                    <a:lnTo>
                      <a:pt x="0" y="0"/>
                    </a:lnTo>
                  </a:path>
                </a:pathLst>
              </a:custGeom>
              <a:ln w="19050" cap="flat">
                <a:solidFill>
                  <a:srgbClr val="2856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65" name="图形 10741"/>
              <p:cNvSpPr/>
              <p:nvPr/>
            </p:nvSpPr>
            <p:spPr>
              <a:xfrm>
                <a:off x="13867" y="4099"/>
                <a:ext cx="347" cy="534"/>
              </a:xfrm>
              <a:custGeom>
                <a:avLst/>
                <a:gdLst>
                  <a:gd name="connsiteX0" fmla="*/ 139351 w 139445"/>
                  <a:gd name="connsiteY0" fmla="*/ 224028 h 224028"/>
                  <a:gd name="connsiteX1" fmla="*/ 0 w 139445"/>
                  <a:gd name="connsiteY1" fmla="*/ 224028 h 224028"/>
                  <a:gd name="connsiteX2" fmla="*/ 0 w 139445"/>
                  <a:gd name="connsiteY2" fmla="*/ 69723 h 224028"/>
                  <a:gd name="connsiteX3" fmla="*/ 69723 w 139445"/>
                  <a:gd name="connsiteY3" fmla="*/ 0 h 224028"/>
                  <a:gd name="connsiteX4" fmla="*/ 69723 w 139445"/>
                  <a:gd name="connsiteY4" fmla="*/ 0 h 224028"/>
                  <a:gd name="connsiteX5" fmla="*/ 139446 w 139445"/>
                  <a:gd name="connsiteY5" fmla="*/ 69723 h 224028"/>
                  <a:gd name="connsiteX6" fmla="*/ 139446 w 139445"/>
                  <a:gd name="connsiteY6" fmla="*/ 224028 h 22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9445" h="224028">
                    <a:moveTo>
                      <a:pt x="139351" y="224028"/>
                    </a:moveTo>
                    <a:lnTo>
                      <a:pt x="0" y="224028"/>
                    </a:lnTo>
                    <a:lnTo>
                      <a:pt x="0" y="69723"/>
                    </a:lnTo>
                    <a:cubicBezTo>
                      <a:pt x="0" y="31242"/>
                      <a:pt x="31242" y="0"/>
                      <a:pt x="69723" y="0"/>
                    </a:cubicBezTo>
                    <a:lnTo>
                      <a:pt x="69723" y="0"/>
                    </a:lnTo>
                    <a:cubicBezTo>
                      <a:pt x="108204" y="0"/>
                      <a:pt x="139446" y="31242"/>
                      <a:pt x="139446" y="69723"/>
                    </a:cubicBezTo>
                    <a:lnTo>
                      <a:pt x="139446" y="224028"/>
                    </a:lnTo>
                    <a:close/>
                  </a:path>
                </a:pathLst>
              </a:custGeom>
              <a:gradFill>
                <a:gsLst>
                  <a:gs pos="23000">
                    <a:srgbClr val="EFF4F0"/>
                  </a:gs>
                  <a:gs pos="0">
                    <a:srgbClr val="F4E21B"/>
                  </a:gs>
                  <a:gs pos="50000">
                    <a:srgbClr val="F3F18C"/>
                  </a:gs>
                </a:gsLst>
                <a:lin ang="5400000" scaled="0"/>
              </a:gradFill>
              <a:ln w="19050" cap="flat">
                <a:solidFill>
                  <a:srgbClr val="2856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66" name="图形 10741"/>
              <p:cNvSpPr/>
              <p:nvPr/>
            </p:nvSpPr>
            <p:spPr>
              <a:xfrm>
                <a:off x="14511" y="4667"/>
                <a:ext cx="481" cy="586"/>
              </a:xfrm>
              <a:custGeom>
                <a:avLst/>
                <a:gdLst>
                  <a:gd name="connsiteX0" fmla="*/ 193739 w 193738"/>
                  <a:gd name="connsiteY0" fmla="*/ 245745 h 245744"/>
                  <a:gd name="connsiteX1" fmla="*/ 0 w 193738"/>
                  <a:gd name="connsiteY1" fmla="*/ 245745 h 245744"/>
                  <a:gd name="connsiteX2" fmla="*/ 0 w 193738"/>
                  <a:gd name="connsiteY2" fmla="*/ 96869 h 245744"/>
                  <a:gd name="connsiteX3" fmla="*/ 96869 w 193738"/>
                  <a:gd name="connsiteY3" fmla="*/ 0 h 245744"/>
                  <a:gd name="connsiteX4" fmla="*/ 96869 w 193738"/>
                  <a:gd name="connsiteY4" fmla="*/ 0 h 245744"/>
                  <a:gd name="connsiteX5" fmla="*/ 193739 w 193738"/>
                  <a:gd name="connsiteY5" fmla="*/ 96869 h 245744"/>
                  <a:gd name="connsiteX6" fmla="*/ 193739 w 193738"/>
                  <a:gd name="connsiteY6" fmla="*/ 245745 h 24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3738" h="245744">
                    <a:moveTo>
                      <a:pt x="193739" y="245745"/>
                    </a:moveTo>
                    <a:lnTo>
                      <a:pt x="0" y="245745"/>
                    </a:lnTo>
                    <a:lnTo>
                      <a:pt x="0" y="96869"/>
                    </a:lnTo>
                    <a:cubicBezTo>
                      <a:pt x="0" y="43339"/>
                      <a:pt x="43339" y="0"/>
                      <a:pt x="96869" y="0"/>
                    </a:cubicBezTo>
                    <a:lnTo>
                      <a:pt x="96869" y="0"/>
                    </a:lnTo>
                    <a:cubicBezTo>
                      <a:pt x="150400" y="0"/>
                      <a:pt x="193739" y="43339"/>
                      <a:pt x="193739" y="96869"/>
                    </a:cubicBezTo>
                    <a:lnTo>
                      <a:pt x="193739" y="245745"/>
                    </a:lnTo>
                    <a:close/>
                  </a:path>
                </a:pathLst>
              </a:custGeom>
              <a:gradFill>
                <a:gsLst>
                  <a:gs pos="100000">
                    <a:srgbClr val="F8F3B1"/>
                  </a:gs>
                  <a:gs pos="0">
                    <a:srgbClr val="FBBE97"/>
                  </a:gs>
                </a:gsLst>
                <a:lin ang="5400000" scaled="1"/>
              </a:gradFill>
              <a:ln w="19050" cap="flat">
                <a:solidFill>
                  <a:srgbClr val="2856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437" y="3982"/>
                <a:ext cx="8217" cy="489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en-US" altLang="zh-CN" sz="2400" spc="100" dirty="0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3.1 </a:t>
                </a:r>
                <a:r>
                  <a:rPr lang="en-US" altLang="zh-CN" sz="2400" spc="100" dirty="0" err="1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项目概述</a:t>
                </a:r>
                <a:endParaRPr lang="en-US" altLang="zh-CN" sz="2400" spc="100" dirty="0">
                  <a:ln w="6350">
                    <a:noFill/>
                  </a:ln>
                  <a:solidFill>
                    <a:srgbClr val="285649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400" b="1" spc="100" dirty="0">
                    <a:ln w="6350">
                      <a:noFill/>
                    </a:ln>
                    <a:solidFill>
                      <a:srgbClr val="156F97"/>
                    </a:solidFill>
                    <a:latin typeface="微软雅黑" panose="020B0503020204020204" pitchFamily="34" charset="-122"/>
                    <a:cs typeface="微软雅黑" panose="020B0503020204020204" pitchFamily="34" charset="-122"/>
                  </a:rPr>
                  <a:t>3.2</a:t>
                </a:r>
                <a:r>
                  <a:rPr lang="en-US" altLang="zh-CN" sz="2400" spc="100" dirty="0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400" b="1" spc="100" dirty="0" err="1">
                    <a:ln w="6350">
                      <a:noFill/>
                    </a:ln>
                    <a:solidFill>
                      <a:srgbClr val="156F97"/>
                    </a:solidFill>
                    <a:latin typeface="微软雅黑" panose="020B0503020204020204" pitchFamily="34" charset="-122"/>
                    <a:cs typeface="微软雅黑" panose="020B0503020204020204" pitchFamily="34" charset="-122"/>
                  </a:rPr>
                  <a:t>项目环境部署</a:t>
                </a:r>
                <a:endParaRPr lang="en-US" altLang="zh-CN" sz="2400" b="1" spc="100" dirty="0">
                  <a:ln w="6350">
                    <a:noFill/>
                  </a:ln>
                  <a:solidFill>
                    <a:srgbClr val="156F97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400" spc="100" dirty="0">
                    <a:ln w="6350">
                      <a:noFill/>
                    </a:ln>
                    <a:solidFill>
                      <a:srgbClr val="28564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3.3</a:t>
                </a:r>
                <a:r>
                  <a:rPr lang="en-US" altLang="zh-CN" sz="2400" b="1" spc="100" dirty="0">
                    <a:ln w="6350">
                      <a:noFill/>
                    </a:ln>
                    <a:solidFill>
                      <a:srgbClr val="156F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400" spc="100" dirty="0" err="1">
                    <a:ln w="6350">
                      <a:noFill/>
                    </a:ln>
                    <a:solidFill>
                      <a:srgbClr val="285649"/>
                    </a:solidFill>
                    <a:latin typeface="微软雅黑" panose="020B0503020204020204" pitchFamily="34" charset="-122"/>
                    <a:cs typeface="微软雅黑" panose="020B0503020204020204" pitchFamily="34" charset="-122"/>
                  </a:rPr>
                  <a:t>项目技术知识</a:t>
                </a:r>
                <a:endParaRPr lang="en-US" altLang="zh-CN" sz="2400" spc="100" dirty="0">
                  <a:ln w="6350">
                    <a:noFill/>
                  </a:ln>
                  <a:solidFill>
                    <a:srgbClr val="285649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400" spc="100" dirty="0">
                    <a:ln w="6350">
                      <a:noFill/>
                    </a:ln>
                    <a:solidFill>
                      <a:srgbClr val="28564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3.4 </a:t>
                </a:r>
                <a:r>
                  <a:rPr lang="en-US" altLang="zh-CN" sz="2400" spc="100" dirty="0" err="1">
                    <a:ln w="6350">
                      <a:noFill/>
                    </a:ln>
                    <a:solidFill>
                      <a:srgbClr val="28564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项目实践</a:t>
                </a:r>
                <a:endParaRPr lang="en-US" altLang="zh-CN" sz="2400" spc="100" dirty="0">
                  <a:ln w="6350">
                    <a:noFill/>
                  </a:ln>
                  <a:solidFill>
                    <a:srgbClr val="2856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spc="100" dirty="0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3.5 </a:t>
                </a:r>
                <a:r>
                  <a:rPr lang="zh-CN" altLang="en-US" sz="2400" spc="100" dirty="0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项目小结</a:t>
                </a:r>
              </a:p>
              <a:p>
                <a:pPr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spc="100" dirty="0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3.6 </a:t>
                </a:r>
                <a:r>
                  <a:rPr lang="zh-CN" altLang="en-US" sz="2400" spc="100" dirty="0">
                    <a:ln w="6350">
                      <a:noFill/>
                    </a:ln>
                    <a:solidFill>
                      <a:srgbClr val="285649"/>
                    </a:solidFill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项目拓展训练</a:t>
                </a:r>
              </a:p>
            </p:txBody>
          </p:sp>
        </p:grpSp>
        <p:grpSp>
          <p:nvGrpSpPr>
            <p:cNvPr id="134" name="Group 265"/>
            <p:cNvGrpSpPr/>
            <p:nvPr/>
          </p:nvGrpSpPr>
          <p:grpSpPr bwMode="auto">
            <a:xfrm>
              <a:off x="10654" y="8728"/>
              <a:ext cx="753" cy="567"/>
              <a:chOff x="0" y="0"/>
              <a:chExt cx="6746875" cy="6419850"/>
            </a:xfrm>
            <a:solidFill>
              <a:srgbClr val="3CA5A8">
                <a:lumMod val="75000"/>
              </a:srgbClr>
            </a:solidFill>
          </p:grpSpPr>
          <p:sp>
            <p:nvSpPr>
              <p:cNvPr id="135" name="Freeform 5"/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6746875" cy="6419850"/>
              </a:xfrm>
              <a:custGeom>
                <a:avLst/>
                <a:gdLst>
                  <a:gd name="T0" fmla="*/ 6179627 w 1796"/>
                  <a:gd name="T1" fmla="*/ 0 h 1709"/>
                  <a:gd name="T2" fmla="*/ 567248 w 1796"/>
                  <a:gd name="T3" fmla="*/ 0 h 1709"/>
                  <a:gd name="T4" fmla="*/ 0 w 1796"/>
                  <a:gd name="T5" fmla="*/ 567231 h 1709"/>
                  <a:gd name="T6" fmla="*/ 0 w 1796"/>
                  <a:gd name="T7" fmla="*/ 4909739 h 1709"/>
                  <a:gd name="T8" fmla="*/ 567248 w 1796"/>
                  <a:gd name="T9" fmla="*/ 5476970 h 1709"/>
                  <a:gd name="T10" fmla="*/ 2276507 w 1796"/>
                  <a:gd name="T11" fmla="*/ 5476970 h 1709"/>
                  <a:gd name="T12" fmla="*/ 1975978 w 1796"/>
                  <a:gd name="T13" fmla="*/ 5803785 h 1709"/>
                  <a:gd name="T14" fmla="*/ 1814444 w 1796"/>
                  <a:gd name="T15" fmla="*/ 5972827 h 1709"/>
                  <a:gd name="T16" fmla="*/ 1799417 w 1796"/>
                  <a:gd name="T17" fmla="*/ 6232025 h 1709"/>
                  <a:gd name="T18" fmla="*/ 2227671 w 1796"/>
                  <a:gd name="T19" fmla="*/ 6419850 h 1709"/>
                  <a:gd name="T20" fmla="*/ 4519204 w 1796"/>
                  <a:gd name="T21" fmla="*/ 6419850 h 1709"/>
                  <a:gd name="T22" fmla="*/ 4943701 w 1796"/>
                  <a:gd name="T23" fmla="*/ 6232025 h 1709"/>
                  <a:gd name="T24" fmla="*/ 4928675 w 1796"/>
                  <a:gd name="T25" fmla="*/ 5972827 h 1709"/>
                  <a:gd name="T26" fmla="*/ 4770897 w 1796"/>
                  <a:gd name="T27" fmla="*/ 5803785 h 1709"/>
                  <a:gd name="T28" fmla="*/ 4470368 w 1796"/>
                  <a:gd name="T29" fmla="*/ 5476970 h 1709"/>
                  <a:gd name="T30" fmla="*/ 6179627 w 1796"/>
                  <a:gd name="T31" fmla="*/ 5476970 h 1709"/>
                  <a:gd name="T32" fmla="*/ 6746875 w 1796"/>
                  <a:gd name="T33" fmla="*/ 4909739 h 1709"/>
                  <a:gd name="T34" fmla="*/ 6746875 w 1796"/>
                  <a:gd name="T35" fmla="*/ 567231 h 1709"/>
                  <a:gd name="T36" fmla="*/ 6179627 w 1796"/>
                  <a:gd name="T37" fmla="*/ 0 h 1709"/>
                  <a:gd name="T38" fmla="*/ 4624389 w 1796"/>
                  <a:gd name="T39" fmla="*/ 5954045 h 1709"/>
                  <a:gd name="T40" fmla="*/ 4759627 w 1796"/>
                  <a:gd name="T41" fmla="*/ 6093035 h 1709"/>
                  <a:gd name="T42" fmla="*/ 4752114 w 1796"/>
                  <a:gd name="T43" fmla="*/ 6141869 h 1709"/>
                  <a:gd name="T44" fmla="*/ 4519204 w 1796"/>
                  <a:gd name="T45" fmla="*/ 6209486 h 1709"/>
                  <a:gd name="T46" fmla="*/ 2227671 w 1796"/>
                  <a:gd name="T47" fmla="*/ 6209486 h 1709"/>
                  <a:gd name="T48" fmla="*/ 1991004 w 1796"/>
                  <a:gd name="T49" fmla="*/ 6141869 h 1709"/>
                  <a:gd name="T50" fmla="*/ 1983491 w 1796"/>
                  <a:gd name="T51" fmla="*/ 6096791 h 1709"/>
                  <a:gd name="T52" fmla="*/ 1983491 w 1796"/>
                  <a:gd name="T53" fmla="*/ 6096791 h 1709"/>
                  <a:gd name="T54" fmla="*/ 2122486 w 1796"/>
                  <a:gd name="T55" fmla="*/ 5954045 h 1709"/>
                  <a:gd name="T56" fmla="*/ 2524443 w 1796"/>
                  <a:gd name="T57" fmla="*/ 5476970 h 1709"/>
                  <a:gd name="T58" fmla="*/ 4222432 w 1796"/>
                  <a:gd name="T59" fmla="*/ 5476970 h 1709"/>
                  <a:gd name="T60" fmla="*/ 4624389 w 1796"/>
                  <a:gd name="T61" fmla="*/ 5954045 h 1709"/>
                  <a:gd name="T62" fmla="*/ 6326134 w 1796"/>
                  <a:gd name="T63" fmla="*/ 4909739 h 1709"/>
                  <a:gd name="T64" fmla="*/ 6179627 w 1796"/>
                  <a:gd name="T65" fmla="*/ 5056242 h 1709"/>
                  <a:gd name="T66" fmla="*/ 567248 w 1796"/>
                  <a:gd name="T67" fmla="*/ 5056242 h 1709"/>
                  <a:gd name="T68" fmla="*/ 420741 w 1796"/>
                  <a:gd name="T69" fmla="*/ 4909739 h 1709"/>
                  <a:gd name="T70" fmla="*/ 420741 w 1796"/>
                  <a:gd name="T71" fmla="*/ 567231 h 1709"/>
                  <a:gd name="T72" fmla="*/ 567248 w 1796"/>
                  <a:gd name="T73" fmla="*/ 420727 h 1709"/>
                  <a:gd name="T74" fmla="*/ 6179627 w 1796"/>
                  <a:gd name="T75" fmla="*/ 420727 h 1709"/>
                  <a:gd name="T76" fmla="*/ 6326134 w 1796"/>
                  <a:gd name="T77" fmla="*/ 567231 h 1709"/>
                  <a:gd name="T78" fmla="*/ 6326134 w 1796"/>
                  <a:gd name="T79" fmla="*/ 4909739 h 170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796"/>
                  <a:gd name="T121" fmla="*/ 0 h 1709"/>
                  <a:gd name="T122" fmla="*/ 1796 w 1796"/>
                  <a:gd name="T123" fmla="*/ 1709 h 170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796" h="1709">
                    <a:moveTo>
                      <a:pt x="1645" y="0"/>
                    </a:moveTo>
                    <a:cubicBezTo>
                      <a:pt x="151" y="0"/>
                      <a:pt x="151" y="0"/>
                      <a:pt x="151" y="0"/>
                    </a:cubicBezTo>
                    <a:cubicBezTo>
                      <a:pt x="68" y="0"/>
                      <a:pt x="0" y="67"/>
                      <a:pt x="0" y="151"/>
                    </a:cubicBezTo>
                    <a:cubicBezTo>
                      <a:pt x="0" y="1307"/>
                      <a:pt x="0" y="1307"/>
                      <a:pt x="0" y="1307"/>
                    </a:cubicBezTo>
                    <a:cubicBezTo>
                      <a:pt x="0" y="1390"/>
                      <a:pt x="68" y="1458"/>
                      <a:pt x="151" y="1458"/>
                    </a:cubicBezTo>
                    <a:cubicBezTo>
                      <a:pt x="606" y="1458"/>
                      <a:pt x="606" y="1458"/>
                      <a:pt x="606" y="1458"/>
                    </a:cubicBezTo>
                    <a:cubicBezTo>
                      <a:pt x="582" y="1488"/>
                      <a:pt x="544" y="1527"/>
                      <a:pt x="526" y="1545"/>
                    </a:cubicBezTo>
                    <a:cubicBezTo>
                      <a:pt x="506" y="1564"/>
                      <a:pt x="491" y="1579"/>
                      <a:pt x="483" y="1590"/>
                    </a:cubicBezTo>
                    <a:cubicBezTo>
                      <a:pt x="472" y="1605"/>
                      <a:pt x="467" y="1634"/>
                      <a:pt x="479" y="1659"/>
                    </a:cubicBezTo>
                    <a:cubicBezTo>
                      <a:pt x="491" y="1682"/>
                      <a:pt x="520" y="1709"/>
                      <a:pt x="593" y="1709"/>
                    </a:cubicBezTo>
                    <a:cubicBezTo>
                      <a:pt x="1203" y="1709"/>
                      <a:pt x="1203" y="1709"/>
                      <a:pt x="1203" y="1709"/>
                    </a:cubicBezTo>
                    <a:cubicBezTo>
                      <a:pt x="1276" y="1709"/>
                      <a:pt x="1305" y="1682"/>
                      <a:pt x="1316" y="1659"/>
                    </a:cubicBezTo>
                    <a:cubicBezTo>
                      <a:pt x="1329" y="1634"/>
                      <a:pt x="1324" y="1605"/>
                      <a:pt x="1312" y="1590"/>
                    </a:cubicBezTo>
                    <a:cubicBezTo>
                      <a:pt x="1304" y="1579"/>
                      <a:pt x="1289" y="1564"/>
                      <a:pt x="1270" y="1545"/>
                    </a:cubicBezTo>
                    <a:cubicBezTo>
                      <a:pt x="1252" y="1527"/>
                      <a:pt x="1213" y="1488"/>
                      <a:pt x="1190" y="1458"/>
                    </a:cubicBezTo>
                    <a:cubicBezTo>
                      <a:pt x="1645" y="1458"/>
                      <a:pt x="1645" y="1458"/>
                      <a:pt x="1645" y="1458"/>
                    </a:cubicBezTo>
                    <a:cubicBezTo>
                      <a:pt x="1728" y="1458"/>
                      <a:pt x="1796" y="1390"/>
                      <a:pt x="1796" y="1307"/>
                    </a:cubicBezTo>
                    <a:cubicBezTo>
                      <a:pt x="1796" y="151"/>
                      <a:pt x="1796" y="151"/>
                      <a:pt x="1796" y="151"/>
                    </a:cubicBezTo>
                    <a:cubicBezTo>
                      <a:pt x="1796" y="67"/>
                      <a:pt x="1728" y="0"/>
                      <a:pt x="1645" y="0"/>
                    </a:cubicBezTo>
                    <a:close/>
                    <a:moveTo>
                      <a:pt x="1231" y="1585"/>
                    </a:moveTo>
                    <a:cubicBezTo>
                      <a:pt x="1247" y="1601"/>
                      <a:pt x="1262" y="1616"/>
                      <a:pt x="1267" y="1622"/>
                    </a:cubicBezTo>
                    <a:cubicBezTo>
                      <a:pt x="1267" y="1622"/>
                      <a:pt x="1269" y="1629"/>
                      <a:pt x="1265" y="1635"/>
                    </a:cubicBezTo>
                    <a:cubicBezTo>
                      <a:pt x="1258" y="1646"/>
                      <a:pt x="1235" y="1653"/>
                      <a:pt x="1203" y="1653"/>
                    </a:cubicBezTo>
                    <a:cubicBezTo>
                      <a:pt x="593" y="1653"/>
                      <a:pt x="593" y="1653"/>
                      <a:pt x="593" y="1653"/>
                    </a:cubicBezTo>
                    <a:cubicBezTo>
                      <a:pt x="561" y="1653"/>
                      <a:pt x="538" y="1646"/>
                      <a:pt x="530" y="1635"/>
                    </a:cubicBezTo>
                    <a:cubicBezTo>
                      <a:pt x="527" y="1629"/>
                      <a:pt x="528" y="1623"/>
                      <a:pt x="528" y="1623"/>
                    </a:cubicBezTo>
                    <a:cubicBezTo>
                      <a:pt x="528" y="1623"/>
                      <a:pt x="528" y="1623"/>
                      <a:pt x="528" y="1623"/>
                    </a:cubicBezTo>
                    <a:cubicBezTo>
                      <a:pt x="534" y="1616"/>
                      <a:pt x="549" y="1601"/>
                      <a:pt x="565" y="1585"/>
                    </a:cubicBezTo>
                    <a:cubicBezTo>
                      <a:pt x="614" y="1536"/>
                      <a:pt x="654" y="1494"/>
                      <a:pt x="672" y="1458"/>
                    </a:cubicBezTo>
                    <a:cubicBezTo>
                      <a:pt x="1124" y="1458"/>
                      <a:pt x="1124" y="1458"/>
                      <a:pt x="1124" y="1458"/>
                    </a:cubicBezTo>
                    <a:cubicBezTo>
                      <a:pt x="1142" y="1494"/>
                      <a:pt x="1182" y="1536"/>
                      <a:pt x="1231" y="1585"/>
                    </a:cubicBezTo>
                    <a:close/>
                    <a:moveTo>
                      <a:pt x="1684" y="1307"/>
                    </a:moveTo>
                    <a:cubicBezTo>
                      <a:pt x="1684" y="1328"/>
                      <a:pt x="1666" y="1346"/>
                      <a:pt x="1645" y="1346"/>
                    </a:cubicBezTo>
                    <a:cubicBezTo>
                      <a:pt x="151" y="1346"/>
                      <a:pt x="151" y="1346"/>
                      <a:pt x="151" y="1346"/>
                    </a:cubicBezTo>
                    <a:cubicBezTo>
                      <a:pt x="129" y="1346"/>
                      <a:pt x="112" y="1328"/>
                      <a:pt x="112" y="1307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29"/>
                      <a:pt x="129" y="112"/>
                      <a:pt x="151" y="112"/>
                    </a:cubicBezTo>
                    <a:cubicBezTo>
                      <a:pt x="1645" y="112"/>
                      <a:pt x="1645" y="112"/>
                      <a:pt x="1645" y="112"/>
                    </a:cubicBezTo>
                    <a:cubicBezTo>
                      <a:pt x="1666" y="112"/>
                      <a:pt x="1684" y="129"/>
                      <a:pt x="1684" y="151"/>
                    </a:cubicBezTo>
                    <a:lnTo>
                      <a:pt x="1684" y="13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6" name="Freeform 6"/>
              <p:cNvSpPr>
                <a:spLocks noEditPoints="1" noChangeArrowheads="1"/>
              </p:cNvSpPr>
              <p:nvPr/>
            </p:nvSpPr>
            <p:spPr bwMode="auto">
              <a:xfrm>
                <a:off x="841375" y="841375"/>
                <a:ext cx="5064125" cy="3376613"/>
              </a:xfrm>
              <a:custGeom>
                <a:avLst/>
                <a:gdLst>
                  <a:gd name="T0" fmla="*/ 4703475 w 1348"/>
                  <a:gd name="T1" fmla="*/ 0 h 899"/>
                  <a:gd name="T2" fmla="*/ 360650 w 1348"/>
                  <a:gd name="T3" fmla="*/ 0 h 899"/>
                  <a:gd name="T4" fmla="*/ 0 w 1348"/>
                  <a:gd name="T5" fmla="*/ 356817 h 899"/>
                  <a:gd name="T6" fmla="*/ 0 w 1348"/>
                  <a:gd name="T7" fmla="*/ 3016040 h 899"/>
                  <a:gd name="T8" fmla="*/ 360650 w 1348"/>
                  <a:gd name="T9" fmla="*/ 3376613 h 899"/>
                  <a:gd name="T10" fmla="*/ 4703475 w 1348"/>
                  <a:gd name="T11" fmla="*/ 3376613 h 899"/>
                  <a:gd name="T12" fmla="*/ 5064125 w 1348"/>
                  <a:gd name="T13" fmla="*/ 3016040 h 899"/>
                  <a:gd name="T14" fmla="*/ 5064125 w 1348"/>
                  <a:gd name="T15" fmla="*/ 356817 h 899"/>
                  <a:gd name="T16" fmla="*/ 4703475 w 1348"/>
                  <a:gd name="T17" fmla="*/ 0 h 899"/>
                  <a:gd name="T18" fmla="*/ 4849989 w 1348"/>
                  <a:gd name="T19" fmla="*/ 3016040 h 899"/>
                  <a:gd name="T20" fmla="*/ 4703475 w 1348"/>
                  <a:gd name="T21" fmla="*/ 3166279 h 899"/>
                  <a:gd name="T22" fmla="*/ 360650 w 1348"/>
                  <a:gd name="T23" fmla="*/ 3166279 h 899"/>
                  <a:gd name="T24" fmla="*/ 210379 w 1348"/>
                  <a:gd name="T25" fmla="*/ 3016040 h 899"/>
                  <a:gd name="T26" fmla="*/ 210379 w 1348"/>
                  <a:gd name="T27" fmla="*/ 356817 h 899"/>
                  <a:gd name="T28" fmla="*/ 360650 w 1348"/>
                  <a:gd name="T29" fmla="*/ 210334 h 899"/>
                  <a:gd name="T30" fmla="*/ 4703475 w 1348"/>
                  <a:gd name="T31" fmla="*/ 210334 h 899"/>
                  <a:gd name="T32" fmla="*/ 4849989 w 1348"/>
                  <a:gd name="T33" fmla="*/ 356817 h 899"/>
                  <a:gd name="T34" fmla="*/ 4849989 w 1348"/>
                  <a:gd name="T35" fmla="*/ 3016040 h 8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348"/>
                  <a:gd name="T55" fmla="*/ 0 h 899"/>
                  <a:gd name="T56" fmla="*/ 1348 w 1348"/>
                  <a:gd name="T57" fmla="*/ 899 h 89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348" h="899">
                    <a:moveTo>
                      <a:pt x="1252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43" y="0"/>
                      <a:pt x="0" y="43"/>
                      <a:pt x="0" y="95"/>
                    </a:cubicBezTo>
                    <a:cubicBezTo>
                      <a:pt x="0" y="803"/>
                      <a:pt x="0" y="803"/>
                      <a:pt x="0" y="803"/>
                    </a:cubicBezTo>
                    <a:cubicBezTo>
                      <a:pt x="0" y="856"/>
                      <a:pt x="43" y="899"/>
                      <a:pt x="96" y="899"/>
                    </a:cubicBezTo>
                    <a:cubicBezTo>
                      <a:pt x="1252" y="899"/>
                      <a:pt x="1252" y="899"/>
                      <a:pt x="1252" y="899"/>
                    </a:cubicBezTo>
                    <a:cubicBezTo>
                      <a:pt x="1305" y="899"/>
                      <a:pt x="1348" y="856"/>
                      <a:pt x="1348" y="803"/>
                    </a:cubicBezTo>
                    <a:cubicBezTo>
                      <a:pt x="1348" y="95"/>
                      <a:pt x="1348" y="95"/>
                      <a:pt x="1348" y="95"/>
                    </a:cubicBezTo>
                    <a:cubicBezTo>
                      <a:pt x="1348" y="43"/>
                      <a:pt x="1305" y="0"/>
                      <a:pt x="1252" y="0"/>
                    </a:cubicBezTo>
                    <a:close/>
                    <a:moveTo>
                      <a:pt x="1291" y="803"/>
                    </a:moveTo>
                    <a:cubicBezTo>
                      <a:pt x="1291" y="825"/>
                      <a:pt x="1274" y="843"/>
                      <a:pt x="1252" y="843"/>
                    </a:cubicBezTo>
                    <a:cubicBezTo>
                      <a:pt x="96" y="843"/>
                      <a:pt x="96" y="843"/>
                      <a:pt x="96" y="843"/>
                    </a:cubicBezTo>
                    <a:cubicBezTo>
                      <a:pt x="74" y="843"/>
                      <a:pt x="56" y="825"/>
                      <a:pt x="56" y="803"/>
                    </a:cubicBezTo>
                    <a:cubicBezTo>
                      <a:pt x="56" y="95"/>
                      <a:pt x="56" y="95"/>
                      <a:pt x="56" y="95"/>
                    </a:cubicBezTo>
                    <a:cubicBezTo>
                      <a:pt x="56" y="74"/>
                      <a:pt x="74" y="56"/>
                      <a:pt x="96" y="56"/>
                    </a:cubicBezTo>
                    <a:cubicBezTo>
                      <a:pt x="1252" y="56"/>
                      <a:pt x="1252" y="56"/>
                      <a:pt x="1252" y="56"/>
                    </a:cubicBezTo>
                    <a:cubicBezTo>
                      <a:pt x="1274" y="56"/>
                      <a:pt x="1291" y="74"/>
                      <a:pt x="1291" y="95"/>
                    </a:cubicBezTo>
                    <a:lnTo>
                      <a:pt x="1291" y="8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7" name="Freeform 7"/>
              <p:cNvSpPr>
                <a:spLocks noEditPoints="1" noChangeArrowheads="1"/>
              </p:cNvSpPr>
              <p:nvPr/>
            </p:nvSpPr>
            <p:spPr bwMode="auto">
              <a:xfrm>
                <a:off x="3057525" y="4316413"/>
                <a:ext cx="631825" cy="630238"/>
              </a:xfrm>
              <a:custGeom>
                <a:avLst/>
                <a:gdLst>
                  <a:gd name="T0" fmla="*/ 315913 w 168"/>
                  <a:gd name="T1" fmla="*/ 0 h 168"/>
                  <a:gd name="T2" fmla="*/ 0 w 168"/>
                  <a:gd name="T3" fmla="*/ 315119 h 168"/>
                  <a:gd name="T4" fmla="*/ 315913 w 168"/>
                  <a:gd name="T5" fmla="*/ 630238 h 168"/>
                  <a:gd name="T6" fmla="*/ 631825 w 168"/>
                  <a:gd name="T7" fmla="*/ 315119 h 168"/>
                  <a:gd name="T8" fmla="*/ 315913 w 168"/>
                  <a:gd name="T9" fmla="*/ 0 h 168"/>
                  <a:gd name="T10" fmla="*/ 315913 w 168"/>
                  <a:gd name="T11" fmla="*/ 420159 h 168"/>
                  <a:gd name="T12" fmla="*/ 210608 w 168"/>
                  <a:gd name="T13" fmla="*/ 315119 h 168"/>
                  <a:gd name="T14" fmla="*/ 315913 w 168"/>
                  <a:gd name="T15" fmla="*/ 210079 h 168"/>
                  <a:gd name="T16" fmla="*/ 421217 w 168"/>
                  <a:gd name="T17" fmla="*/ 315119 h 168"/>
                  <a:gd name="T18" fmla="*/ 315913 w 168"/>
                  <a:gd name="T19" fmla="*/ 420159 h 1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8"/>
                  <a:gd name="T31" fmla="*/ 0 h 168"/>
                  <a:gd name="T32" fmla="*/ 168 w 168"/>
                  <a:gd name="T33" fmla="*/ 168 h 16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8" h="168">
                    <a:moveTo>
                      <a:pt x="84" y="0"/>
                    </a:moveTo>
                    <a:cubicBezTo>
                      <a:pt x="38" y="0"/>
                      <a:pt x="0" y="38"/>
                      <a:pt x="0" y="84"/>
                    </a:cubicBezTo>
                    <a:cubicBezTo>
                      <a:pt x="0" y="131"/>
                      <a:pt x="38" y="168"/>
                      <a:pt x="84" y="168"/>
                    </a:cubicBezTo>
                    <a:cubicBezTo>
                      <a:pt x="130" y="168"/>
                      <a:pt x="168" y="131"/>
                      <a:pt x="168" y="84"/>
                    </a:cubicBezTo>
                    <a:cubicBezTo>
                      <a:pt x="168" y="38"/>
                      <a:pt x="130" y="0"/>
                      <a:pt x="84" y="0"/>
                    </a:cubicBezTo>
                    <a:close/>
                    <a:moveTo>
                      <a:pt x="84" y="112"/>
                    </a:moveTo>
                    <a:cubicBezTo>
                      <a:pt x="68" y="112"/>
                      <a:pt x="56" y="100"/>
                      <a:pt x="56" y="84"/>
                    </a:cubicBezTo>
                    <a:cubicBezTo>
                      <a:pt x="56" y="69"/>
                      <a:pt x="68" y="56"/>
                      <a:pt x="84" y="56"/>
                    </a:cubicBezTo>
                    <a:cubicBezTo>
                      <a:pt x="99" y="56"/>
                      <a:pt x="112" y="69"/>
                      <a:pt x="112" y="84"/>
                    </a:cubicBezTo>
                    <a:cubicBezTo>
                      <a:pt x="112" y="100"/>
                      <a:pt x="99" y="112"/>
                      <a:pt x="84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8" name="Freeform 8"/>
              <p:cNvSpPr>
                <a:spLocks noChangeArrowheads="1"/>
              </p:cNvSpPr>
              <p:nvPr/>
            </p:nvSpPr>
            <p:spPr bwMode="auto">
              <a:xfrm>
                <a:off x="2527300" y="2528888"/>
                <a:ext cx="628650" cy="1262063"/>
              </a:xfrm>
              <a:custGeom>
                <a:avLst/>
                <a:gdLst>
                  <a:gd name="T0" fmla="*/ 470546 w 167"/>
                  <a:gd name="T1" fmla="*/ 0 h 336"/>
                  <a:gd name="T2" fmla="*/ 158104 w 167"/>
                  <a:gd name="T3" fmla="*/ 0 h 336"/>
                  <a:gd name="T4" fmla="*/ 0 w 167"/>
                  <a:gd name="T5" fmla="*/ 157758 h 336"/>
                  <a:gd name="T6" fmla="*/ 0 w 167"/>
                  <a:gd name="T7" fmla="*/ 1104305 h 336"/>
                  <a:gd name="T8" fmla="*/ 158104 w 167"/>
                  <a:gd name="T9" fmla="*/ 1262063 h 336"/>
                  <a:gd name="T10" fmla="*/ 470546 w 167"/>
                  <a:gd name="T11" fmla="*/ 1262063 h 336"/>
                  <a:gd name="T12" fmla="*/ 628650 w 167"/>
                  <a:gd name="T13" fmla="*/ 1104305 h 336"/>
                  <a:gd name="T14" fmla="*/ 628650 w 167"/>
                  <a:gd name="T15" fmla="*/ 157758 h 336"/>
                  <a:gd name="T16" fmla="*/ 470546 w 167"/>
                  <a:gd name="T17" fmla="*/ 0 h 3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7"/>
                  <a:gd name="T28" fmla="*/ 0 h 336"/>
                  <a:gd name="T29" fmla="*/ 167 w 167"/>
                  <a:gd name="T30" fmla="*/ 336 h 3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7" h="336">
                    <a:moveTo>
                      <a:pt x="12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19" y="0"/>
                      <a:pt x="0" y="18"/>
                      <a:pt x="0" y="42"/>
                    </a:cubicBezTo>
                    <a:cubicBezTo>
                      <a:pt x="0" y="294"/>
                      <a:pt x="0" y="294"/>
                      <a:pt x="0" y="294"/>
                    </a:cubicBezTo>
                    <a:cubicBezTo>
                      <a:pt x="0" y="317"/>
                      <a:pt x="19" y="336"/>
                      <a:pt x="42" y="336"/>
                    </a:cubicBezTo>
                    <a:cubicBezTo>
                      <a:pt x="125" y="336"/>
                      <a:pt x="125" y="336"/>
                      <a:pt x="125" y="336"/>
                    </a:cubicBezTo>
                    <a:cubicBezTo>
                      <a:pt x="148" y="336"/>
                      <a:pt x="167" y="317"/>
                      <a:pt x="167" y="294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167" y="18"/>
                      <a:pt x="148" y="0"/>
                      <a:pt x="1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9" name="Freeform 9"/>
              <p:cNvSpPr>
                <a:spLocks noChangeArrowheads="1"/>
              </p:cNvSpPr>
              <p:nvPr/>
            </p:nvSpPr>
            <p:spPr bwMode="auto">
              <a:xfrm>
                <a:off x="4630738" y="1262063"/>
                <a:ext cx="635000" cy="2528888"/>
              </a:xfrm>
              <a:custGeom>
                <a:avLst/>
                <a:gdLst>
                  <a:gd name="T0" fmla="*/ 473432 w 169"/>
                  <a:gd name="T1" fmla="*/ 0 h 673"/>
                  <a:gd name="T2" fmla="*/ 157811 w 169"/>
                  <a:gd name="T3" fmla="*/ 0 h 673"/>
                  <a:gd name="T4" fmla="*/ 0 w 169"/>
                  <a:gd name="T5" fmla="*/ 154063 h 673"/>
                  <a:gd name="T6" fmla="*/ 0 w 169"/>
                  <a:gd name="T7" fmla="*/ 2374825 h 673"/>
                  <a:gd name="T8" fmla="*/ 157811 w 169"/>
                  <a:gd name="T9" fmla="*/ 2528888 h 673"/>
                  <a:gd name="T10" fmla="*/ 473432 w 169"/>
                  <a:gd name="T11" fmla="*/ 2528888 h 673"/>
                  <a:gd name="T12" fmla="*/ 635000 w 169"/>
                  <a:gd name="T13" fmla="*/ 2374825 h 673"/>
                  <a:gd name="T14" fmla="*/ 635000 w 169"/>
                  <a:gd name="T15" fmla="*/ 154063 h 673"/>
                  <a:gd name="T16" fmla="*/ 473432 w 169"/>
                  <a:gd name="T17" fmla="*/ 0 h 6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9"/>
                  <a:gd name="T28" fmla="*/ 0 h 673"/>
                  <a:gd name="T29" fmla="*/ 169 w 169"/>
                  <a:gd name="T30" fmla="*/ 673 h 6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9" h="673">
                    <a:moveTo>
                      <a:pt x="126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19" y="0"/>
                      <a:pt x="0" y="19"/>
                      <a:pt x="0" y="41"/>
                    </a:cubicBezTo>
                    <a:cubicBezTo>
                      <a:pt x="0" y="632"/>
                      <a:pt x="0" y="632"/>
                      <a:pt x="0" y="632"/>
                    </a:cubicBezTo>
                    <a:cubicBezTo>
                      <a:pt x="0" y="655"/>
                      <a:pt x="19" y="673"/>
                      <a:pt x="42" y="673"/>
                    </a:cubicBezTo>
                    <a:cubicBezTo>
                      <a:pt x="126" y="673"/>
                      <a:pt x="126" y="673"/>
                      <a:pt x="126" y="673"/>
                    </a:cubicBezTo>
                    <a:cubicBezTo>
                      <a:pt x="150" y="673"/>
                      <a:pt x="169" y="655"/>
                      <a:pt x="169" y="632"/>
                    </a:cubicBezTo>
                    <a:cubicBezTo>
                      <a:pt x="169" y="41"/>
                      <a:pt x="169" y="41"/>
                      <a:pt x="169" y="41"/>
                    </a:cubicBezTo>
                    <a:cubicBezTo>
                      <a:pt x="169" y="19"/>
                      <a:pt x="150" y="0"/>
                      <a:pt x="1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0" name="Freeform 10"/>
              <p:cNvSpPr>
                <a:spLocks noChangeArrowheads="1"/>
              </p:cNvSpPr>
              <p:nvPr/>
            </p:nvSpPr>
            <p:spPr bwMode="auto">
              <a:xfrm>
                <a:off x="3582988" y="2108200"/>
                <a:ext cx="627063" cy="1682750"/>
              </a:xfrm>
              <a:custGeom>
                <a:avLst/>
                <a:gdLst>
                  <a:gd name="T0" fmla="*/ 469359 w 167"/>
                  <a:gd name="T1" fmla="*/ 0 h 448"/>
                  <a:gd name="T2" fmla="*/ 153950 w 167"/>
                  <a:gd name="T3" fmla="*/ 0 h 448"/>
                  <a:gd name="T4" fmla="*/ 0 w 167"/>
                  <a:gd name="T5" fmla="*/ 150246 h 448"/>
                  <a:gd name="T6" fmla="*/ 0 w 167"/>
                  <a:gd name="T7" fmla="*/ 1528748 h 448"/>
                  <a:gd name="T8" fmla="*/ 153950 w 167"/>
                  <a:gd name="T9" fmla="*/ 1682750 h 448"/>
                  <a:gd name="T10" fmla="*/ 469359 w 167"/>
                  <a:gd name="T11" fmla="*/ 1682750 h 448"/>
                  <a:gd name="T12" fmla="*/ 627063 w 167"/>
                  <a:gd name="T13" fmla="*/ 1528748 h 448"/>
                  <a:gd name="T14" fmla="*/ 627063 w 167"/>
                  <a:gd name="T15" fmla="*/ 150246 h 448"/>
                  <a:gd name="T16" fmla="*/ 469359 w 167"/>
                  <a:gd name="T17" fmla="*/ 0 h 44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7"/>
                  <a:gd name="T28" fmla="*/ 0 h 448"/>
                  <a:gd name="T29" fmla="*/ 167 w 167"/>
                  <a:gd name="T30" fmla="*/ 448 h 44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7" h="448">
                    <a:moveTo>
                      <a:pt x="125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30"/>
                      <a:pt x="18" y="448"/>
                      <a:pt x="41" y="448"/>
                    </a:cubicBezTo>
                    <a:cubicBezTo>
                      <a:pt x="125" y="448"/>
                      <a:pt x="125" y="448"/>
                      <a:pt x="125" y="448"/>
                    </a:cubicBezTo>
                    <a:cubicBezTo>
                      <a:pt x="148" y="448"/>
                      <a:pt x="167" y="430"/>
                      <a:pt x="167" y="407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67" y="18"/>
                      <a:pt x="148" y="0"/>
                      <a:pt x="1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1" name="Freeform 11"/>
              <p:cNvSpPr>
                <a:spLocks noChangeArrowheads="1"/>
              </p:cNvSpPr>
              <p:nvPr/>
            </p:nvSpPr>
            <p:spPr bwMode="auto">
              <a:xfrm>
                <a:off x="1473200" y="1682750"/>
                <a:ext cx="633413" cy="2108200"/>
              </a:xfrm>
              <a:custGeom>
                <a:avLst/>
                <a:gdLst>
                  <a:gd name="T0" fmla="*/ 475997 w 169"/>
                  <a:gd name="T1" fmla="*/ 0 h 561"/>
                  <a:gd name="T2" fmla="*/ 161164 w 169"/>
                  <a:gd name="T3" fmla="*/ 0 h 561"/>
                  <a:gd name="T4" fmla="*/ 0 w 169"/>
                  <a:gd name="T5" fmla="*/ 150317 h 561"/>
                  <a:gd name="T6" fmla="*/ 0 w 169"/>
                  <a:gd name="T7" fmla="*/ 1957883 h 561"/>
                  <a:gd name="T8" fmla="*/ 161164 w 169"/>
                  <a:gd name="T9" fmla="*/ 2108200 h 561"/>
                  <a:gd name="T10" fmla="*/ 475997 w 169"/>
                  <a:gd name="T11" fmla="*/ 2108200 h 561"/>
                  <a:gd name="T12" fmla="*/ 633413 w 169"/>
                  <a:gd name="T13" fmla="*/ 1957883 h 561"/>
                  <a:gd name="T14" fmla="*/ 633413 w 169"/>
                  <a:gd name="T15" fmla="*/ 150317 h 561"/>
                  <a:gd name="T16" fmla="*/ 475997 w 169"/>
                  <a:gd name="T17" fmla="*/ 0 h 56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9"/>
                  <a:gd name="T28" fmla="*/ 0 h 561"/>
                  <a:gd name="T29" fmla="*/ 169 w 169"/>
                  <a:gd name="T30" fmla="*/ 561 h 56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9" h="561">
                    <a:moveTo>
                      <a:pt x="127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8"/>
                      <a:pt x="0" y="40"/>
                    </a:cubicBezTo>
                    <a:cubicBezTo>
                      <a:pt x="0" y="521"/>
                      <a:pt x="0" y="521"/>
                      <a:pt x="0" y="521"/>
                    </a:cubicBezTo>
                    <a:cubicBezTo>
                      <a:pt x="0" y="543"/>
                      <a:pt x="19" y="561"/>
                      <a:pt x="43" y="561"/>
                    </a:cubicBezTo>
                    <a:cubicBezTo>
                      <a:pt x="127" y="561"/>
                      <a:pt x="127" y="561"/>
                      <a:pt x="127" y="561"/>
                    </a:cubicBezTo>
                    <a:cubicBezTo>
                      <a:pt x="150" y="561"/>
                      <a:pt x="169" y="543"/>
                      <a:pt x="169" y="521"/>
                    </a:cubicBezTo>
                    <a:cubicBezTo>
                      <a:pt x="169" y="40"/>
                      <a:pt x="169" y="40"/>
                      <a:pt x="169" y="40"/>
                    </a:cubicBezTo>
                    <a:cubicBezTo>
                      <a:pt x="169" y="18"/>
                      <a:pt x="150" y="0"/>
                      <a:pt x="1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项目实验环境准备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21411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800" b="1" dirty="0"/>
              <a:t>项目环境要求</a:t>
            </a:r>
          </a:p>
        </p:txBody>
      </p:sp>
      <p:sp>
        <p:nvSpPr>
          <p:cNvPr id="9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0" name="表格 7"/>
          <p:cNvGraphicFramePr/>
          <p:nvPr>
            <p:custDataLst>
              <p:tags r:id="rId2"/>
            </p:custDataLst>
          </p:nvPr>
        </p:nvGraphicFramePr>
        <p:xfrm>
          <a:off x="821412" y="1925874"/>
          <a:ext cx="10104093" cy="2765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8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805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 18.04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3.6.9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Java1.8.0_162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Hadoop 2.7.1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 5.7.16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Hive1.2.1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Sqoop1.4.6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Spark 2.4.0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建议：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CPU3.0GHz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8G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、存储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8G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以上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4710" y="2393082"/>
            <a:ext cx="1008000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python3 --version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4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1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AutoNum type="arabicParenBoth"/>
            </a:pPr>
            <a:r>
              <a:rPr lang="zh-CN" altLang="zh-CN" sz="1800" dirty="0"/>
              <a:t>检查</a:t>
            </a:r>
            <a:r>
              <a:rPr lang="en-US" altLang="zh-CN" sz="1800" dirty="0"/>
              <a:t>Ubuntu18.04</a:t>
            </a:r>
            <a:r>
              <a:rPr lang="zh-CN" altLang="zh-CN" sz="1800" dirty="0"/>
              <a:t>自带的</a:t>
            </a:r>
            <a:r>
              <a:rPr lang="en-US" altLang="zh-CN" sz="1800" dirty="0"/>
              <a:t>python </a:t>
            </a:r>
            <a:r>
              <a:rPr lang="zh-CN" altLang="zh-CN" sz="1800" dirty="0"/>
              <a:t>版本，应该是</a:t>
            </a:r>
            <a:r>
              <a:rPr lang="en-US" altLang="zh-CN" sz="1800" dirty="0"/>
              <a:t>python 3.6.9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</a:p>
        </p:txBody>
      </p:sp>
      <p:pic>
        <p:nvPicPr>
          <p:cNvPr id="19" name="图片 26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259564"/>
            <a:ext cx="10080000" cy="71334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6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增加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123389"/>
            <a:ext cx="10080000" cy="8616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在终端新建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用户，执行下行命令后，输入当前用户密码，出现提示符则表示创建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用户成功。</a:t>
            </a:r>
            <a:endParaRPr lang="en-US" altLang="zh-CN" sz="1800" dirty="0"/>
          </a:p>
        </p:txBody>
      </p:sp>
      <p:sp>
        <p:nvSpPr>
          <p:cNvPr id="9" name="文本框 16"/>
          <p:cNvSpPr txBox="1"/>
          <p:nvPr/>
        </p:nvSpPr>
        <p:spPr>
          <a:xfrm>
            <a:off x="854710" y="3205721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useradd</a:t>
            </a:r>
            <a:r>
              <a:rPr lang="en-US" altLang="zh-CN" sz="1600" dirty="0">
                <a:latin typeface="+mn-ea"/>
              </a:rPr>
              <a:t> -m 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-s  /bin/bash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28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3764993"/>
            <a:ext cx="10446197" cy="69664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增加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3389"/>
            <a:ext cx="10080000" cy="514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为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用户增加管理员权限，执行命令：</a:t>
            </a:r>
            <a:endParaRPr lang="en-US" altLang="zh-CN" sz="1800" dirty="0"/>
          </a:p>
        </p:txBody>
      </p:sp>
      <p:sp>
        <p:nvSpPr>
          <p:cNvPr id="8" name="文本框 16"/>
          <p:cNvSpPr txBox="1"/>
          <p:nvPr/>
        </p:nvSpPr>
        <p:spPr>
          <a:xfrm>
            <a:off x="854710" y="2946494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adduser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sudo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29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593592"/>
            <a:ext cx="10080000" cy="129092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增加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3389"/>
            <a:ext cx="10080000" cy="514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设置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用户密码，执行命令：</a:t>
            </a:r>
            <a:endParaRPr lang="en-US" altLang="zh-CN" sz="1800" dirty="0"/>
          </a:p>
        </p:txBody>
      </p:sp>
      <p:sp>
        <p:nvSpPr>
          <p:cNvPr id="8" name="文本框 16"/>
          <p:cNvSpPr txBox="1"/>
          <p:nvPr/>
        </p:nvSpPr>
        <p:spPr>
          <a:xfrm>
            <a:off x="854710" y="277372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passwd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hadoop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30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248048"/>
            <a:ext cx="6287069" cy="109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854710" y="4480683"/>
            <a:ext cx="10080000" cy="514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进入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用户，执行命令</a:t>
            </a:r>
            <a:r>
              <a:rPr lang="zh-CN" altLang="en-US" sz="1800" dirty="0"/>
              <a:t>（</a:t>
            </a:r>
            <a:r>
              <a:rPr lang="zh-CN" altLang="en-US" sz="1800" dirty="0">
                <a:highlight>
                  <a:srgbClr val="FFFF00"/>
                </a:highlight>
              </a:rPr>
              <a:t>接下来的所有环境配置都要在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</a:rPr>
              <a:t>hadoop</a:t>
            </a:r>
            <a:r>
              <a:rPr lang="zh-CN" altLang="en-US" sz="1800" dirty="0">
                <a:highlight>
                  <a:srgbClr val="FFFF00"/>
                </a:highlight>
              </a:rPr>
              <a:t>用户下</a:t>
            </a:r>
            <a:r>
              <a:rPr lang="zh-CN" altLang="en-US" sz="1800" dirty="0"/>
              <a:t>）</a:t>
            </a:r>
            <a:r>
              <a:rPr lang="zh-CN" altLang="zh-CN" sz="1800" dirty="0"/>
              <a:t>：</a:t>
            </a:r>
            <a:endParaRPr lang="en-US" altLang="zh-CN" sz="1800" dirty="0"/>
          </a:p>
        </p:txBody>
      </p:sp>
      <p:sp>
        <p:nvSpPr>
          <p:cNvPr id="11" name="文本框 16"/>
          <p:cNvSpPr txBox="1"/>
          <p:nvPr/>
        </p:nvSpPr>
        <p:spPr>
          <a:xfrm>
            <a:off x="854710" y="5131016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2" name="图片 31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5605342"/>
            <a:ext cx="6810094" cy="108294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(3) </a:t>
            </a:r>
            <a:r>
              <a:rPr lang="zh-CN" altLang="zh-CN" sz="1800" dirty="0"/>
              <a:t>安装</a:t>
            </a:r>
            <a:r>
              <a:rPr lang="en-US" altLang="zh-CN" sz="1800" dirty="0"/>
              <a:t>vim     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3389"/>
            <a:ext cx="10080000" cy="514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更新</a:t>
            </a:r>
            <a:r>
              <a:rPr lang="en-US" altLang="zh-CN" sz="1800" dirty="0"/>
              <a:t>apt</a:t>
            </a:r>
            <a:r>
              <a:rPr lang="zh-CN" altLang="zh-CN" sz="1800" dirty="0"/>
              <a:t>，以便后续进行</a:t>
            </a:r>
            <a:r>
              <a:rPr lang="en-US" altLang="zh-CN" sz="1800" dirty="0"/>
              <a:t>apt</a:t>
            </a:r>
            <a:r>
              <a:rPr lang="zh-CN" altLang="zh-CN" sz="1800" dirty="0"/>
              <a:t>软件安装，执行命令：</a:t>
            </a:r>
            <a:endParaRPr lang="en-US" altLang="zh-CN" sz="1800" dirty="0"/>
          </a:p>
        </p:txBody>
      </p:sp>
      <p:sp>
        <p:nvSpPr>
          <p:cNvPr id="8" name="文本框 16"/>
          <p:cNvSpPr txBox="1"/>
          <p:nvPr/>
        </p:nvSpPr>
        <p:spPr>
          <a:xfrm>
            <a:off x="854710" y="277372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apt-get update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32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3248048"/>
            <a:ext cx="10087731" cy="195457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(3) </a:t>
            </a:r>
            <a:r>
              <a:rPr lang="zh-CN" altLang="zh-CN" sz="1800" dirty="0"/>
              <a:t>安装</a:t>
            </a:r>
            <a:r>
              <a:rPr lang="en-US" altLang="zh-CN" sz="1800" dirty="0"/>
              <a:t>vim     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9574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sz="1800" dirty="0"/>
              <a:t>安装</a:t>
            </a:r>
            <a:r>
              <a:rPr lang="en-US" altLang="zh-CN" sz="1800" dirty="0"/>
              <a:t>vim</a:t>
            </a:r>
            <a:r>
              <a:rPr lang="zh-CN" altLang="zh-CN" sz="1800" dirty="0"/>
              <a:t>，执行命令</a:t>
            </a:r>
            <a:r>
              <a:rPr lang="zh-CN" altLang="en-US" sz="1800" dirty="0"/>
              <a:t>：</a:t>
            </a:r>
            <a:endParaRPr lang="en-US" altLang="zh-CN" sz="1800" dirty="0"/>
          </a:p>
        </p:txBody>
      </p:sp>
      <p:sp>
        <p:nvSpPr>
          <p:cNvPr id="8" name="文本框 16"/>
          <p:cNvSpPr txBox="1"/>
          <p:nvPr/>
        </p:nvSpPr>
        <p:spPr>
          <a:xfrm>
            <a:off x="854710" y="267048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apt-get install vim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3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150345"/>
            <a:ext cx="5593387" cy="325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34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570792" y="3150344"/>
            <a:ext cx="5508786" cy="320587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(4) </a:t>
            </a:r>
            <a:r>
              <a:rPr lang="zh-CN" altLang="zh-CN" sz="1800" dirty="0"/>
              <a:t>安装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并设置非密码登录</a:t>
            </a:r>
            <a:endParaRPr lang="en-US" altLang="zh-CN" sz="1800" dirty="0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9574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sz="1800" dirty="0"/>
              <a:t>安装</a:t>
            </a:r>
            <a:r>
              <a:rPr lang="en-US" altLang="zh-CN" sz="1800" dirty="0" err="1"/>
              <a:t>openssh</a:t>
            </a:r>
            <a:r>
              <a:rPr lang="en-US" altLang="zh-CN" sz="1800" dirty="0"/>
              <a:t>-server</a:t>
            </a:r>
            <a:r>
              <a:rPr lang="zh-CN" altLang="zh-CN" sz="1800" dirty="0"/>
              <a:t>，执行命令：</a:t>
            </a:r>
            <a:endParaRPr lang="en-US" altLang="zh-CN" sz="1800" dirty="0"/>
          </a:p>
        </p:txBody>
      </p:sp>
      <p:sp>
        <p:nvSpPr>
          <p:cNvPr id="8" name="文本框 16"/>
          <p:cNvSpPr txBox="1"/>
          <p:nvPr/>
        </p:nvSpPr>
        <p:spPr>
          <a:xfrm>
            <a:off x="854710" y="267048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apt-get install </a:t>
            </a:r>
            <a:r>
              <a:rPr lang="en-US" altLang="zh-CN" sz="1600" dirty="0" err="1">
                <a:latin typeface="+mn-ea"/>
              </a:rPr>
              <a:t>openssh</a:t>
            </a:r>
            <a:r>
              <a:rPr lang="en-US" altLang="zh-CN" sz="1600" dirty="0">
                <a:latin typeface="+mn-ea"/>
              </a:rPr>
              <a:t>-server 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38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1" y="3150344"/>
            <a:ext cx="5687980" cy="304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39"/>
          <p:cNvPicPr/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770990" y="3150344"/>
            <a:ext cx="5122646" cy="30403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(4) </a:t>
            </a:r>
            <a:r>
              <a:rPr lang="zh-CN" altLang="zh-CN" sz="1800" dirty="0"/>
              <a:t>安装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并设置非密码登录</a:t>
            </a:r>
            <a:endParaRPr lang="en-US" altLang="zh-CN" sz="1800" dirty="0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30904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生成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秘钥，执行命令：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267314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ssh-keygen</a:t>
            </a:r>
            <a:r>
              <a:rPr lang="en-US" altLang="zh-CN" sz="1600" dirty="0">
                <a:latin typeface="+mn-ea"/>
              </a:rPr>
              <a:t> -t </a:t>
            </a:r>
            <a:r>
              <a:rPr lang="en-US" altLang="zh-CN" sz="1600" dirty="0" err="1">
                <a:latin typeface="+mn-ea"/>
              </a:rPr>
              <a:t>rsa</a:t>
            </a:r>
            <a:r>
              <a:rPr lang="en-US" altLang="zh-CN" sz="1600" dirty="0">
                <a:latin typeface="+mn-ea"/>
              </a:rPr>
              <a:t> 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40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154334"/>
            <a:ext cx="527304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41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4068497"/>
            <a:ext cx="4815104" cy="26528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(4) </a:t>
            </a:r>
            <a:r>
              <a:rPr lang="zh-CN" altLang="zh-CN" sz="1800" dirty="0"/>
              <a:t>安装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并设置非密码登录</a:t>
            </a:r>
            <a:endParaRPr lang="en-US" altLang="zh-CN" sz="1800" dirty="0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30904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保存秘钥，执行命令：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267314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cat ~/.</a:t>
            </a:r>
            <a:r>
              <a:rPr lang="en-US" altLang="zh-CN" sz="1600" dirty="0" err="1">
                <a:latin typeface="+mn-ea"/>
              </a:rPr>
              <a:t>ssh</a:t>
            </a:r>
            <a:r>
              <a:rPr lang="en-US" altLang="zh-CN" sz="1600" dirty="0">
                <a:latin typeface="+mn-ea"/>
              </a:rPr>
              <a:t>/id_rsa.pub &gt;&gt; ~/.</a:t>
            </a:r>
            <a:r>
              <a:rPr lang="en-US" altLang="zh-CN" sz="1600" dirty="0" err="1">
                <a:latin typeface="+mn-ea"/>
              </a:rPr>
              <a:t>ssh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authorized_keys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42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154334"/>
            <a:ext cx="9953192" cy="72398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854710" y="4010297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启动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，执行命令：</a:t>
            </a:r>
          </a:p>
        </p:txBody>
      </p:sp>
      <p:sp>
        <p:nvSpPr>
          <p:cNvPr id="11" name="文本框 16"/>
          <p:cNvSpPr txBox="1"/>
          <p:nvPr/>
        </p:nvSpPr>
        <p:spPr>
          <a:xfrm>
            <a:off x="854710" y="4552535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/</a:t>
            </a:r>
            <a:r>
              <a:rPr lang="en-US" altLang="zh-CN" sz="1600" dirty="0" err="1">
                <a:latin typeface="+mn-ea"/>
              </a:rPr>
              <a:t>etc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init.d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ssh</a:t>
            </a:r>
            <a:r>
              <a:rPr lang="en-US" altLang="zh-CN" sz="1600" dirty="0">
                <a:latin typeface="+mn-ea"/>
              </a:rPr>
              <a:t> start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2" name="图片 44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09" y="5033726"/>
            <a:ext cx="9877343" cy="90987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 Java</a:t>
            </a:r>
            <a:r>
              <a:rPr lang="zh-CN" altLang="en-US" sz="1800" b="1" dirty="0"/>
              <a:t>安装准备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(4) </a:t>
            </a:r>
            <a:r>
              <a:rPr lang="zh-CN" altLang="zh-CN" sz="1800" dirty="0"/>
              <a:t>安装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并设置非密码登录</a:t>
            </a:r>
            <a:endParaRPr lang="en-US" altLang="zh-CN" sz="1800" dirty="0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30904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使用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登录本机，验证非密码登录是否成功。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2673142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ssh</a:t>
            </a:r>
            <a:r>
              <a:rPr lang="en-US" altLang="zh-CN" sz="1600" dirty="0">
                <a:latin typeface="+mn-ea"/>
              </a:rPr>
              <a:t> localhost</a:t>
            </a:r>
            <a:endParaRPr lang="en-US" altLang="zh-CN" sz="1600" dirty="0"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9" name="图片 45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154334"/>
            <a:ext cx="5920378" cy="345141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安装</a:t>
            </a:r>
            <a:r>
              <a:rPr lang="en-US" altLang="zh-CN" sz="1800" b="1" dirty="0"/>
              <a:t>Java1.8.0_162</a:t>
            </a:r>
            <a:endParaRPr lang="zh-CN" altLang="en-US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16"/>
          <p:cNvSpPr txBox="1"/>
          <p:nvPr/>
        </p:nvSpPr>
        <p:spPr>
          <a:xfrm>
            <a:off x="854710" y="2095500"/>
            <a:ext cx="10080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/lib 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mkdir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jvm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0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创建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/lib/</a:t>
            </a:r>
            <a:r>
              <a:rPr lang="en-US" altLang="zh-CN" sz="1800" dirty="0" err="1"/>
              <a:t>jvm</a:t>
            </a:r>
            <a:r>
              <a:rPr lang="zh-CN" altLang="zh-CN" sz="1800" dirty="0"/>
              <a:t>目录用来存放</a:t>
            </a:r>
            <a:r>
              <a:rPr lang="en-US" altLang="zh-CN" sz="1800" dirty="0"/>
              <a:t>JDK</a:t>
            </a:r>
            <a:r>
              <a:rPr lang="zh-CN" altLang="zh-CN" sz="1800" dirty="0"/>
              <a:t>文件，执行下列命令：</a:t>
            </a:r>
          </a:p>
        </p:txBody>
      </p:sp>
      <p:pic>
        <p:nvPicPr>
          <p:cNvPr id="11" name="图片 46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3033731"/>
            <a:ext cx="3386215" cy="3224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69"/>
          <p:cNvPicPr/>
          <p:nvPr/>
        </p:nvPicPr>
        <p:blipFill>
          <a:blip r:embed="rId4">
            <a:grayscl/>
          </a:blip>
          <a:srcRect r="7670"/>
          <a:stretch>
            <a:fillRect/>
          </a:stretch>
        </p:blipFill>
        <p:spPr>
          <a:xfrm>
            <a:off x="4457796" y="3033731"/>
            <a:ext cx="3620349" cy="3224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20"/>
          <p:cNvPicPr/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8295016" y="3033731"/>
            <a:ext cx="3730767" cy="322438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安装</a:t>
            </a:r>
            <a:r>
              <a:rPr lang="en-US" altLang="zh-CN" sz="1800" b="1" dirty="0"/>
              <a:t>Java1.8.0_162</a:t>
            </a:r>
            <a:endParaRPr lang="zh-CN" altLang="en-US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16"/>
          <p:cNvSpPr txBox="1"/>
          <p:nvPr/>
        </p:nvSpPr>
        <p:spPr>
          <a:xfrm>
            <a:off x="854710" y="2095500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altLang="zh-CN" sz="1600" dirty="0">
                <a:latin typeface="+mn-ea"/>
              </a:rPr>
              <a:t>sudo tar -zxvf /</a:t>
            </a:r>
            <a:r>
              <a:rPr lang="es-ES" altLang="zh-CN" sz="1600" dirty="0">
                <a:solidFill>
                  <a:srgbClr val="FF0000"/>
                </a:solidFill>
                <a:latin typeface="+mn-ea"/>
              </a:rPr>
              <a:t>*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自己的文件目录</a:t>
            </a:r>
            <a:r>
              <a:rPr lang="es-ES" altLang="zh-CN" sz="1600" dirty="0">
                <a:solidFill>
                  <a:srgbClr val="FF0000"/>
                </a:solidFill>
                <a:latin typeface="+mn-ea"/>
              </a:rPr>
              <a:t>**</a:t>
            </a:r>
            <a:r>
              <a:rPr lang="es-ES" altLang="zh-CN" sz="1600" dirty="0">
                <a:latin typeface="+mn-ea"/>
              </a:rPr>
              <a:t>/jdk-8u162-linux-x64.tar.gz -C /usr/lib/jvm/</a:t>
            </a:r>
            <a:endParaRPr lang="zh-CN" altLang="zh-CN" sz="16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将下载的</a:t>
            </a:r>
            <a:r>
              <a:rPr lang="en-US" altLang="zh-CN" sz="1800" dirty="0"/>
              <a:t>JDK</a:t>
            </a:r>
            <a:r>
              <a:rPr lang="zh-CN" altLang="zh-CN" sz="1800" dirty="0"/>
              <a:t>文件</a:t>
            </a:r>
            <a:r>
              <a:rPr lang="en-US" altLang="zh-CN" sz="1800" dirty="0"/>
              <a:t>jdk-8u162-linux-x64.tar</a:t>
            </a:r>
            <a:r>
              <a:rPr lang="zh-CN" altLang="zh-CN" sz="1800" dirty="0"/>
              <a:t>从当前放置目录解压到</a:t>
            </a:r>
            <a:r>
              <a:rPr lang="en-US" altLang="zh-CN" sz="1800" dirty="0"/>
              <a:t> 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/lib/</a:t>
            </a:r>
            <a:r>
              <a:rPr lang="en-US" altLang="zh-CN" sz="1800" dirty="0" err="1"/>
              <a:t>jvm</a:t>
            </a:r>
            <a:r>
              <a:rPr lang="en-US" altLang="zh-CN" sz="1800" dirty="0"/>
              <a:t> </a:t>
            </a:r>
            <a:r>
              <a:rPr lang="zh-CN" altLang="zh-CN" sz="1800" dirty="0"/>
              <a:t>目录下，执行命令：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3081170"/>
            <a:ext cx="1008000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1600" dirty="0">
                <a:latin typeface="+mn-ea"/>
              </a:rPr>
              <a:t>export JAVA_HOME=/usr/lib/jvm/</a:t>
            </a:r>
            <a:r>
              <a:rPr lang="es-ES" altLang="zh-CN" sz="1600" dirty="0">
                <a:solidFill>
                  <a:srgbClr val="FF0000"/>
                </a:solidFill>
                <a:latin typeface="+mn-ea"/>
              </a:rPr>
              <a:t>jdk1.8.0_162(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和自己下的</a:t>
            </a:r>
            <a:r>
              <a:rPr lang="en-US" altLang="zh-CN" sz="1600" dirty="0" err="1">
                <a:solidFill>
                  <a:srgbClr val="FF0000"/>
                </a:solidFill>
                <a:latin typeface="+mn-ea"/>
              </a:rPr>
              <a:t>jdk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版本号对应</a:t>
            </a:r>
            <a:r>
              <a:rPr lang="es-ES" altLang="zh-CN" sz="160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s-ES" altLang="zh-CN" sz="1600" dirty="0" err="1">
                <a:latin typeface="+mn-ea"/>
              </a:rPr>
              <a:t>export</a:t>
            </a:r>
            <a:r>
              <a:rPr lang="es-ES" altLang="zh-CN" sz="1600" dirty="0">
                <a:latin typeface="+mn-ea"/>
              </a:rPr>
              <a:t> JRE_HOME=${JAVA_HOME}/</a:t>
            </a:r>
            <a:r>
              <a:rPr lang="es-ES" altLang="zh-CN" sz="1600" dirty="0" err="1">
                <a:latin typeface="+mn-ea"/>
              </a:rPr>
              <a:t>jre</a:t>
            </a:r>
            <a:endParaRPr lang="es-E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s-ES" altLang="zh-CN" sz="1600" dirty="0" err="1">
                <a:latin typeface="+mn-ea"/>
              </a:rPr>
              <a:t>export</a:t>
            </a:r>
            <a:r>
              <a:rPr lang="es-ES" altLang="zh-CN" sz="1600" dirty="0">
                <a:latin typeface="+mn-ea"/>
              </a:rPr>
              <a:t> CLASSPATH=.:${JAVA_HOME}/</a:t>
            </a:r>
            <a:r>
              <a:rPr lang="es-ES" altLang="zh-CN" sz="1600" dirty="0" err="1">
                <a:latin typeface="+mn-ea"/>
              </a:rPr>
              <a:t>lib</a:t>
            </a:r>
            <a:r>
              <a:rPr lang="es-ES" altLang="zh-CN" sz="1600" dirty="0">
                <a:latin typeface="+mn-ea"/>
              </a:rPr>
              <a:t>:${JRE_HOME}/</a:t>
            </a:r>
            <a:r>
              <a:rPr lang="es-ES" altLang="zh-CN" sz="1600" dirty="0" err="1">
                <a:latin typeface="+mn-ea"/>
              </a:rPr>
              <a:t>lib</a:t>
            </a:r>
            <a:endParaRPr lang="es-E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s-ES" altLang="zh-CN" sz="1600" dirty="0" err="1">
                <a:latin typeface="+mn-ea"/>
              </a:rPr>
              <a:t>export</a:t>
            </a:r>
            <a:r>
              <a:rPr lang="es-ES" altLang="zh-CN" sz="1600" dirty="0">
                <a:latin typeface="+mn-ea"/>
              </a:rPr>
              <a:t> PATH=${JAVA_HOME}/</a:t>
            </a:r>
            <a:r>
              <a:rPr lang="es-ES" altLang="zh-CN" sz="1600" dirty="0" err="1">
                <a:latin typeface="+mn-ea"/>
              </a:rPr>
              <a:t>bin</a:t>
            </a:r>
            <a:r>
              <a:rPr lang="es-ES" altLang="zh-CN" sz="1600" dirty="0">
                <a:latin typeface="+mn-ea"/>
              </a:rPr>
              <a:t>:$PATH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4710" y="254128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配置环境变量文件</a:t>
            </a:r>
            <a:r>
              <a:rPr lang="en-US" altLang="zh-CN" sz="1800" b="1" dirty="0"/>
              <a:t>~/.</a:t>
            </a:r>
            <a:r>
              <a:rPr lang="en-US" altLang="zh-CN" sz="1800" b="1" dirty="0" err="1"/>
              <a:t>bashrc</a:t>
            </a:r>
            <a:r>
              <a:rPr lang="zh-CN" altLang="zh-CN" sz="1800" dirty="0"/>
              <a:t>，在文件中添加下列内容，之后更新该文件。</a:t>
            </a:r>
          </a:p>
        </p:txBody>
      </p:sp>
      <p:pic>
        <p:nvPicPr>
          <p:cNvPr id="10" name="图片 22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7265504" y="3607904"/>
            <a:ext cx="4290620" cy="306262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3.2.1 </a:t>
            </a:r>
            <a:r>
              <a:rPr lang="zh-CN" altLang="en-US" dirty="0"/>
              <a:t>安装</a:t>
            </a:r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安装</a:t>
            </a:r>
            <a:r>
              <a:rPr lang="en-US" altLang="zh-CN" sz="1800" b="1" dirty="0"/>
              <a:t>Java1.8.0_162</a:t>
            </a:r>
            <a:endParaRPr lang="zh-CN" altLang="en-US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16"/>
          <p:cNvSpPr txBox="1"/>
          <p:nvPr/>
        </p:nvSpPr>
        <p:spPr>
          <a:xfrm>
            <a:off x="854710" y="2095500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java -version</a:t>
            </a:r>
            <a:endParaRPr lang="zh-CN" altLang="zh-CN" sz="16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查看</a:t>
            </a:r>
            <a:r>
              <a:rPr lang="en-US" altLang="zh-CN" sz="1800" dirty="0"/>
              <a:t>Java</a:t>
            </a:r>
            <a:r>
              <a:rPr lang="zh-CN" altLang="zh-CN" sz="1800" dirty="0"/>
              <a:t>的版本号，检查</a:t>
            </a:r>
            <a:r>
              <a:rPr lang="en-US" altLang="zh-CN" sz="1800" dirty="0"/>
              <a:t>Java</a:t>
            </a:r>
            <a:r>
              <a:rPr lang="zh-CN" altLang="zh-CN" sz="1800" dirty="0"/>
              <a:t>是否安装成功，执行命令：</a:t>
            </a:r>
          </a:p>
        </p:txBody>
      </p:sp>
      <p:pic>
        <p:nvPicPr>
          <p:cNvPr id="8" name="图片 21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2541288"/>
            <a:ext cx="10145375" cy="15104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</a:t>
            </a:r>
            <a:r>
              <a:rPr lang="zh-CN" altLang="en-US" sz="1800" b="1" dirty="0"/>
              <a:t>安装</a:t>
            </a:r>
            <a:r>
              <a:rPr lang="en-US" altLang="zh-CN" sz="1800" b="1" dirty="0"/>
              <a:t>Hadoop2.7.1</a:t>
            </a:r>
            <a:endParaRPr lang="zh-CN" altLang="en-US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16"/>
          <p:cNvSpPr txBox="1"/>
          <p:nvPr/>
        </p:nvSpPr>
        <p:spPr>
          <a:xfrm>
            <a:off x="854710" y="2417231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tar -</a:t>
            </a:r>
            <a:r>
              <a:rPr lang="en-US" altLang="zh-CN" sz="1600" dirty="0" err="1">
                <a:latin typeface="+mn-ea"/>
              </a:rPr>
              <a:t>zxvf</a:t>
            </a:r>
            <a:r>
              <a:rPr lang="en-US" altLang="zh-CN" sz="1600" dirty="0">
                <a:latin typeface="+mn-ea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/***/hadoop-2.7.1.tar.gz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（自己的路径）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dirty="0">
                <a:latin typeface="+mn-ea"/>
              </a:rPr>
              <a:t>-C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endParaRPr lang="zh-CN" altLang="zh-CN" sz="16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7"/>
            <a:ext cx="10080000" cy="692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将下载的</a:t>
            </a:r>
            <a:r>
              <a:rPr lang="en-US" altLang="zh-CN" sz="1800" dirty="0" err="1"/>
              <a:t>hadoop</a:t>
            </a:r>
            <a:r>
              <a:rPr lang="zh-CN" altLang="zh-CN" sz="1800" dirty="0"/>
              <a:t>安装文件</a:t>
            </a:r>
            <a:r>
              <a:rPr lang="en-US" altLang="zh-CN" sz="1800" dirty="0"/>
              <a:t>hadoop-2.7.1.tar</a:t>
            </a:r>
            <a:r>
              <a:rPr lang="zh-CN" altLang="zh-CN" sz="1800" dirty="0"/>
              <a:t>，从当前放置目录解压到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/local </a:t>
            </a:r>
            <a:r>
              <a:rPr lang="zh-CN" altLang="zh-CN" sz="1800" dirty="0"/>
              <a:t>目录中，执行命令：</a:t>
            </a:r>
          </a:p>
        </p:txBody>
      </p:sp>
      <p:pic>
        <p:nvPicPr>
          <p:cNvPr id="9" name="图片 25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2925062"/>
            <a:ext cx="10168089" cy="31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24"/>
          <p:cNvPicPr/>
          <p:nvPr/>
        </p:nvPicPr>
        <p:blipFill>
          <a:blip r:embed="rId4">
            <a:grayscl/>
          </a:blip>
          <a:srcRect t="54092"/>
          <a:stretch>
            <a:fillRect/>
          </a:stretch>
        </p:blipFill>
        <p:spPr>
          <a:xfrm>
            <a:off x="854710" y="3413967"/>
            <a:ext cx="6918267" cy="317601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</a:t>
            </a:r>
            <a:r>
              <a:rPr lang="zh-CN" altLang="en-US" sz="1800" b="1" dirty="0"/>
              <a:t>安装</a:t>
            </a:r>
            <a:r>
              <a:rPr lang="en-US" altLang="zh-CN" sz="1800" b="1" dirty="0"/>
              <a:t>Hadoop2.7.1</a:t>
            </a:r>
            <a:endParaRPr lang="zh-CN" altLang="en-US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16"/>
          <p:cNvSpPr txBox="1"/>
          <p:nvPr/>
        </p:nvSpPr>
        <p:spPr>
          <a:xfrm>
            <a:off x="854710" y="2090336"/>
            <a:ext cx="10080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 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mv ./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hadoop-2.7.1</a:t>
            </a:r>
            <a:r>
              <a:rPr lang="en-US" altLang="zh-CN" sz="1600" dirty="0">
                <a:latin typeface="+mn-ea"/>
              </a:rPr>
              <a:t>/ ./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chown</a:t>
            </a:r>
            <a:r>
              <a:rPr lang="en-US" altLang="zh-CN" sz="1600" dirty="0">
                <a:latin typeface="+mn-ea"/>
              </a:rPr>
              <a:t> -R 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./</a:t>
            </a:r>
            <a:r>
              <a:rPr lang="en-US" altLang="zh-CN" sz="1600" dirty="0" err="1">
                <a:latin typeface="+mn-ea"/>
              </a:rPr>
              <a:t>hadoop</a:t>
            </a:r>
            <a:endParaRPr lang="en-US" altLang="zh-CN" sz="16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6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更改文件夹名称并修改文件权限，执行下列命令：</a:t>
            </a:r>
          </a:p>
        </p:txBody>
      </p:sp>
      <p:pic>
        <p:nvPicPr>
          <p:cNvPr id="8" name="图片 2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3425786"/>
            <a:ext cx="10112967" cy="133539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/>
              <a:t>1.</a:t>
            </a:r>
            <a:r>
              <a:rPr lang="zh-CN" altLang="en-US" sz="1800" b="1" dirty="0"/>
              <a:t>安装</a:t>
            </a:r>
            <a:r>
              <a:rPr lang="en-US" altLang="zh-CN" sz="1800" b="1" dirty="0"/>
              <a:t>Hadoop2.7.1</a:t>
            </a:r>
            <a:endParaRPr lang="zh-CN" altLang="en-US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16"/>
          <p:cNvSpPr txBox="1"/>
          <p:nvPr/>
        </p:nvSpPr>
        <p:spPr>
          <a:xfrm>
            <a:off x="854710" y="2090336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./bin/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version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6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检查</a:t>
            </a:r>
            <a:r>
              <a:rPr lang="en-US" altLang="zh-CN" sz="1800" dirty="0"/>
              <a:t>Hadoop</a:t>
            </a:r>
            <a:r>
              <a:rPr lang="zh-CN" altLang="zh-CN" sz="1800" dirty="0"/>
              <a:t>是否安装成功，若显示如下“</a:t>
            </a:r>
            <a:r>
              <a:rPr lang="en-US" altLang="zh-CN" sz="1800" dirty="0"/>
              <a:t>2.7.1</a:t>
            </a:r>
            <a:r>
              <a:rPr lang="zh-CN" altLang="zh-CN" sz="1800" dirty="0"/>
              <a:t>”版本，则成功： </a:t>
            </a:r>
          </a:p>
        </p:txBody>
      </p:sp>
      <p:pic>
        <p:nvPicPr>
          <p:cNvPr id="8" name="图片 26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012978"/>
            <a:ext cx="10139746" cy="155902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(1) </a:t>
            </a:r>
            <a:r>
              <a:rPr lang="zh-CN" altLang="zh-CN" sz="1800" dirty="0"/>
              <a:t>修改配置文件</a:t>
            </a:r>
            <a:r>
              <a:rPr lang="en-US" altLang="zh-CN" sz="1800" dirty="0"/>
              <a:t>core-site.xml</a:t>
            </a:r>
            <a:r>
              <a:rPr lang="zh-CN" altLang="zh-CN" sz="1800" dirty="0"/>
              <a:t>：</a:t>
            </a:r>
            <a:r>
              <a:rPr lang="en-US" altLang="zh-CN" sz="1800" dirty="0"/>
              <a:t>     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3389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core-site.xml</a:t>
            </a:r>
            <a:r>
              <a:rPr lang="zh-CN" altLang="zh-CN" sz="1800" dirty="0"/>
              <a:t>文件中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FF0000"/>
                </a:solidFill>
              </a:rPr>
              <a:t>/</a:t>
            </a:r>
            <a:r>
              <a:rPr lang="en-US" altLang="zh-CN" sz="1800" dirty="0" err="1">
                <a:solidFill>
                  <a:srgbClr val="FF0000"/>
                </a:solidFill>
              </a:rPr>
              <a:t>usr</a:t>
            </a:r>
            <a:r>
              <a:rPr lang="en-US" altLang="zh-CN" sz="1800" dirty="0">
                <a:solidFill>
                  <a:srgbClr val="FF0000"/>
                </a:solidFill>
              </a:rPr>
              <a:t>/local/</a:t>
            </a:r>
            <a:r>
              <a:rPr lang="en-US" altLang="zh-CN" sz="1800" dirty="0" err="1">
                <a:solidFill>
                  <a:srgbClr val="FF0000"/>
                </a:solidFill>
              </a:rPr>
              <a:t>hadoop</a:t>
            </a:r>
            <a:r>
              <a:rPr lang="en-US" altLang="zh-CN" sz="1800" dirty="0">
                <a:solidFill>
                  <a:srgbClr val="FF0000"/>
                </a:solidFill>
              </a:rPr>
              <a:t>/</a:t>
            </a:r>
            <a:r>
              <a:rPr lang="en-US" altLang="zh-CN" sz="1800" dirty="0" err="1">
                <a:solidFill>
                  <a:srgbClr val="FF0000"/>
                </a:solidFill>
              </a:rPr>
              <a:t>etc</a:t>
            </a:r>
            <a:r>
              <a:rPr lang="en-US" altLang="zh-CN" sz="1800" dirty="0">
                <a:solidFill>
                  <a:srgbClr val="FF0000"/>
                </a:solidFill>
              </a:rPr>
              <a:t>/</a:t>
            </a:r>
            <a:r>
              <a:rPr lang="en-US" altLang="zh-CN" sz="1800" dirty="0" err="1">
                <a:solidFill>
                  <a:srgbClr val="FF0000"/>
                </a:solidFill>
              </a:rPr>
              <a:t>hadoop</a:t>
            </a:r>
            <a:r>
              <a:rPr lang="en-US" altLang="zh-CN" sz="1800" dirty="0">
                <a:solidFill>
                  <a:srgbClr val="FF0000"/>
                </a:solidFill>
              </a:rPr>
              <a:t>/core-site.xml</a:t>
            </a:r>
            <a:r>
              <a:rPr lang="zh-CN" altLang="en-US" sz="1800" dirty="0"/>
              <a:t>）</a:t>
            </a:r>
            <a:r>
              <a:rPr lang="zh-CN" altLang="zh-CN" sz="1800" dirty="0"/>
              <a:t>，修改如下内容：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2488835"/>
            <a:ext cx="10080000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&lt;configuration&gt;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&lt;property&gt;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      &lt;name&gt;</a:t>
            </a:r>
            <a:r>
              <a:rPr lang="en-US" altLang="zh-CN" sz="1600" dirty="0" err="1"/>
              <a:t>hadoop.tmp.dir</a:t>
            </a:r>
            <a:r>
              <a:rPr lang="en-US" altLang="zh-CN" sz="1600" dirty="0"/>
              <a:t>&lt;/name&gt;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      &lt;value&gt;file:/usr/local/hadoop/tmp&lt;/value&gt;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      &lt;description&gt;Abase for other temporary directories.&lt;/description&gt;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&lt;/property&gt;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&lt;property&gt;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      &lt;name&gt;</a:t>
            </a:r>
            <a:r>
              <a:rPr lang="en-US" altLang="zh-CN" sz="1600" dirty="0" err="1"/>
              <a:t>fs.defaultFS</a:t>
            </a:r>
            <a:r>
              <a:rPr lang="en-US" altLang="zh-CN" sz="1600" dirty="0"/>
              <a:t>&lt;/name&gt;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      &lt;value&gt;hdfs://localhost:9000&lt;/value&gt;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&lt;/property&gt;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&lt;/configuration&gt;</a:t>
            </a:r>
            <a:endParaRPr lang="zh-CN" altLang="zh-CN" sz="16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4" name="图片 34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68469" y="2522989"/>
            <a:ext cx="6457089" cy="41419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6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(1) </a:t>
            </a:r>
            <a:r>
              <a:rPr lang="zh-CN" altLang="zh-CN" sz="1800" dirty="0"/>
              <a:t>修改配置文件</a:t>
            </a:r>
            <a:r>
              <a:rPr lang="en-US" altLang="zh-CN" sz="1800" dirty="0"/>
              <a:t>core-site.xml</a:t>
            </a:r>
            <a:r>
              <a:rPr lang="zh-CN" altLang="zh-CN" sz="1800" dirty="0"/>
              <a:t>：</a:t>
            </a:r>
            <a:r>
              <a:rPr lang="en-US" altLang="zh-CN" sz="1800" dirty="0"/>
              <a:t>     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123389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core-site.xml</a:t>
            </a:r>
            <a:r>
              <a:rPr lang="zh-CN" altLang="zh-CN" sz="1800" dirty="0"/>
              <a:t>文件中，修改如下内容：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修改配置文件</a:t>
            </a:r>
            <a:r>
              <a:rPr lang="en-US" altLang="zh-CN" sz="1800" dirty="0"/>
              <a:t>hdfs-site.xml</a:t>
            </a:r>
            <a:r>
              <a:rPr lang="zh-CN" altLang="zh-CN" sz="1800" dirty="0"/>
              <a:t>：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3389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hdfs-site.xml</a:t>
            </a:r>
            <a:r>
              <a:rPr lang="zh-CN" altLang="zh-CN" sz="1800" dirty="0"/>
              <a:t>文件中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FF0000"/>
                </a:solidFill>
              </a:rPr>
              <a:t> /</a:t>
            </a:r>
            <a:r>
              <a:rPr lang="en-US" altLang="zh-CN" sz="1800" dirty="0" err="1">
                <a:solidFill>
                  <a:srgbClr val="FF0000"/>
                </a:solidFill>
              </a:rPr>
              <a:t>usr</a:t>
            </a:r>
            <a:r>
              <a:rPr lang="en-US" altLang="zh-CN" sz="1800" dirty="0">
                <a:solidFill>
                  <a:srgbClr val="FF0000"/>
                </a:solidFill>
              </a:rPr>
              <a:t>/local/</a:t>
            </a:r>
            <a:r>
              <a:rPr lang="en-US" altLang="zh-CN" sz="1800" dirty="0" err="1">
                <a:solidFill>
                  <a:srgbClr val="FF0000"/>
                </a:solidFill>
              </a:rPr>
              <a:t>hadoop</a:t>
            </a:r>
            <a:r>
              <a:rPr lang="en-US" altLang="zh-CN" sz="1800" dirty="0">
                <a:solidFill>
                  <a:srgbClr val="FF0000"/>
                </a:solidFill>
              </a:rPr>
              <a:t>/</a:t>
            </a:r>
            <a:r>
              <a:rPr lang="en-US" altLang="zh-CN" sz="1800" dirty="0" err="1">
                <a:solidFill>
                  <a:srgbClr val="FF0000"/>
                </a:solidFill>
              </a:rPr>
              <a:t>etc</a:t>
            </a:r>
            <a:r>
              <a:rPr lang="en-US" altLang="zh-CN" sz="1800" dirty="0">
                <a:solidFill>
                  <a:srgbClr val="FF0000"/>
                </a:solidFill>
              </a:rPr>
              <a:t>/</a:t>
            </a:r>
            <a:r>
              <a:rPr lang="en-US" altLang="zh-CN" sz="1800" dirty="0" err="1">
                <a:solidFill>
                  <a:srgbClr val="FF0000"/>
                </a:solidFill>
              </a:rPr>
              <a:t>hadoop</a:t>
            </a:r>
            <a:r>
              <a:rPr lang="en-US" altLang="zh-CN" sz="1800" dirty="0">
                <a:solidFill>
                  <a:srgbClr val="FF0000"/>
                </a:solidFill>
              </a:rPr>
              <a:t>/hdfs-site.xml </a:t>
            </a:r>
            <a:r>
              <a:rPr lang="zh-CN" altLang="en-US" sz="1800" dirty="0"/>
              <a:t>）</a:t>
            </a:r>
            <a:r>
              <a:rPr lang="zh-CN" altLang="zh-CN" sz="1800" dirty="0"/>
              <a:t>，修改如下内容：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2488835"/>
            <a:ext cx="10080000" cy="402238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/>
              <a:t>&lt;configuration&gt;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&lt;property&gt;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        &lt;name&gt;</a:t>
            </a:r>
            <a:r>
              <a:rPr lang="en-US" altLang="zh-CN" sz="1600" dirty="0" err="1"/>
              <a:t>dfs.replication</a:t>
            </a:r>
            <a:r>
              <a:rPr lang="en-US" altLang="zh-CN" sz="1600" dirty="0"/>
              <a:t>&lt;/name&gt;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        &lt;value&gt;1&lt;/value&gt;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&lt;/property&gt;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&lt;property&gt;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        &lt;name&gt;</a:t>
            </a:r>
            <a:r>
              <a:rPr lang="en-US" altLang="zh-CN" sz="1600" dirty="0" err="1"/>
              <a:t>dfs.namenode.name.dir</a:t>
            </a:r>
            <a:r>
              <a:rPr lang="en-US" altLang="zh-CN" sz="1600" dirty="0"/>
              <a:t>&lt;/name&gt;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        &lt;value&gt;file:/usr/local/hadoop/tmp/dfs/name&lt;/value&gt;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&lt;/property&gt;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&lt;property&gt;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        &lt;name&gt;</a:t>
            </a:r>
            <a:r>
              <a:rPr lang="en-US" altLang="zh-CN" sz="1600" dirty="0" err="1"/>
              <a:t>dfs.datanode.data.dir</a:t>
            </a:r>
            <a:r>
              <a:rPr lang="en-US" altLang="zh-CN" sz="1600" dirty="0"/>
              <a:t>&lt;/name&gt;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        &lt;value&gt;file:/usr/local/hadoop/tmp/dfs/data&lt;/value&gt;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        &lt;/property&gt;</a:t>
            </a:r>
          </a:p>
          <a:p>
            <a:pPr>
              <a:lnSpc>
                <a:spcPct val="114000"/>
              </a:lnSpc>
            </a:pPr>
            <a:r>
              <a:rPr lang="en-US" altLang="zh-CN" sz="1600" dirty="0"/>
              <a:t>&lt;/configuration&gt;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修改配置文件</a:t>
            </a:r>
            <a:r>
              <a:rPr lang="en-US" altLang="zh-CN" sz="1800" dirty="0"/>
              <a:t>hdfs-site.xml</a:t>
            </a:r>
            <a:r>
              <a:rPr lang="zh-CN" altLang="zh-CN" sz="1800" dirty="0"/>
              <a:t>：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854710" y="2123389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hdfs-site.xml</a:t>
            </a:r>
            <a:r>
              <a:rPr lang="zh-CN" altLang="zh-CN" sz="1800" dirty="0"/>
              <a:t>文件中，修改如下内容：</a:t>
            </a:r>
          </a:p>
        </p:txBody>
      </p:sp>
      <p:pic>
        <p:nvPicPr>
          <p:cNvPr id="8" name="图片 27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2659642"/>
            <a:ext cx="5624918" cy="40274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(3) </a:t>
            </a:r>
            <a:r>
              <a:rPr lang="zh-CN" altLang="zh-CN" sz="1800" dirty="0"/>
              <a:t>执行</a:t>
            </a:r>
            <a:r>
              <a:rPr lang="en-US" altLang="zh-CN" sz="1800" dirty="0" err="1"/>
              <a:t>NameNode</a:t>
            </a:r>
            <a:r>
              <a:rPr lang="zh-CN" altLang="zh-CN" sz="1800" dirty="0"/>
              <a:t>的格式化：</a:t>
            </a:r>
          </a:p>
        </p:txBody>
      </p:sp>
      <p:sp>
        <p:nvSpPr>
          <p:cNvPr id="8" name="文本框 16"/>
          <p:cNvSpPr txBox="1"/>
          <p:nvPr/>
        </p:nvSpPr>
        <p:spPr>
          <a:xfrm>
            <a:off x="854710" y="2123389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1600" dirty="0">
                <a:latin typeface="+mn-ea"/>
              </a:rPr>
              <a:t>cd /</a:t>
            </a:r>
            <a:r>
              <a:rPr lang="es-ES" altLang="zh-CN" sz="1600" dirty="0" err="1">
                <a:latin typeface="+mn-ea"/>
              </a:rPr>
              <a:t>usr</a:t>
            </a:r>
            <a:r>
              <a:rPr lang="es-ES" altLang="zh-CN" sz="1600" dirty="0">
                <a:latin typeface="+mn-ea"/>
              </a:rPr>
              <a:t>/local/</a:t>
            </a:r>
            <a:r>
              <a:rPr lang="es-ES" altLang="zh-CN" sz="1600" dirty="0" err="1">
                <a:latin typeface="+mn-ea"/>
              </a:rPr>
              <a:t>hadoop</a:t>
            </a:r>
            <a:r>
              <a:rPr lang="es-ES" altLang="zh-CN" sz="1600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altLang="zh-CN" sz="1600" dirty="0">
                <a:latin typeface="+mn-ea"/>
              </a:rPr>
              <a:t>./</a:t>
            </a:r>
            <a:r>
              <a:rPr lang="es-ES" altLang="zh-CN" sz="1600" dirty="0" err="1">
                <a:latin typeface="+mn-ea"/>
              </a:rPr>
              <a:t>bin</a:t>
            </a:r>
            <a:r>
              <a:rPr lang="es-ES" altLang="zh-CN" sz="1600" dirty="0">
                <a:latin typeface="+mn-ea"/>
              </a:rPr>
              <a:t>/</a:t>
            </a:r>
            <a:r>
              <a:rPr lang="es-ES" altLang="zh-CN" sz="1600" dirty="0" err="1">
                <a:latin typeface="+mn-ea"/>
              </a:rPr>
              <a:t>hdfs</a:t>
            </a:r>
            <a:r>
              <a:rPr lang="es-ES" altLang="zh-CN" sz="1600" dirty="0">
                <a:latin typeface="+mn-ea"/>
              </a:rPr>
              <a:t> </a:t>
            </a:r>
            <a:r>
              <a:rPr lang="es-ES" altLang="zh-CN" sz="1600" dirty="0" err="1">
                <a:latin typeface="+mn-ea"/>
              </a:rPr>
              <a:t>namenode</a:t>
            </a:r>
            <a:r>
              <a:rPr lang="es-ES" altLang="zh-CN" sz="1600" dirty="0">
                <a:latin typeface="+mn-ea"/>
              </a:rPr>
              <a:t> -</a:t>
            </a:r>
            <a:r>
              <a:rPr lang="es-ES" altLang="zh-CN" sz="1600" dirty="0" err="1">
                <a:latin typeface="+mn-ea"/>
              </a:rPr>
              <a:t>format</a:t>
            </a:r>
            <a:endParaRPr lang="es-ES" altLang="zh-CN" sz="1600" dirty="0">
              <a:latin typeface="+mn-ea"/>
            </a:endParaRPr>
          </a:p>
        </p:txBody>
      </p:sp>
      <p:pic>
        <p:nvPicPr>
          <p:cNvPr id="9" name="图片 29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046035"/>
            <a:ext cx="10389510" cy="516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31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3698130"/>
            <a:ext cx="6953148" cy="302321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(4) </a:t>
            </a:r>
            <a:r>
              <a:rPr lang="zh-CN" altLang="zh-CN" sz="1800" dirty="0"/>
              <a:t>检查</a:t>
            </a:r>
            <a:r>
              <a:rPr lang="en-US" altLang="zh-CN" sz="1800" dirty="0" err="1"/>
              <a:t>ssh</a:t>
            </a:r>
            <a:r>
              <a:rPr lang="zh-CN" altLang="zh-CN" sz="1800" dirty="0"/>
              <a:t>是否启动，若没启动，则启动</a:t>
            </a:r>
            <a:r>
              <a:rPr lang="en-US" altLang="zh-CN" sz="1800" dirty="0" err="1"/>
              <a:t>ssh</a:t>
            </a:r>
            <a:endParaRPr lang="zh-CN" altLang="zh-CN" sz="1800" dirty="0"/>
          </a:p>
        </p:txBody>
      </p:sp>
      <p:sp>
        <p:nvSpPr>
          <p:cNvPr id="7" name="文本框 16"/>
          <p:cNvSpPr txBox="1"/>
          <p:nvPr/>
        </p:nvSpPr>
        <p:spPr>
          <a:xfrm>
            <a:off x="854710" y="2123389"/>
            <a:ext cx="10080000" cy="4181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1600" dirty="0">
                <a:latin typeface="+mn-ea"/>
              </a:rPr>
              <a:t>sudo /</a:t>
            </a:r>
            <a:r>
              <a:rPr lang="es-ES" altLang="zh-CN" sz="1600" dirty="0" err="1">
                <a:latin typeface="+mn-ea"/>
              </a:rPr>
              <a:t>etc</a:t>
            </a:r>
            <a:r>
              <a:rPr lang="es-ES" altLang="zh-CN" sz="1600" dirty="0">
                <a:latin typeface="+mn-ea"/>
              </a:rPr>
              <a:t>/</a:t>
            </a:r>
            <a:r>
              <a:rPr lang="es-ES" altLang="zh-CN" sz="1600" dirty="0" err="1">
                <a:latin typeface="+mn-ea"/>
              </a:rPr>
              <a:t>init.d</a:t>
            </a:r>
            <a:r>
              <a:rPr lang="es-ES" altLang="zh-CN" sz="1600" dirty="0">
                <a:latin typeface="+mn-ea"/>
              </a:rPr>
              <a:t>/</a:t>
            </a:r>
            <a:r>
              <a:rPr lang="es-ES" altLang="zh-CN" sz="1600" dirty="0" err="1">
                <a:latin typeface="+mn-ea"/>
              </a:rPr>
              <a:t>ssh</a:t>
            </a:r>
            <a:r>
              <a:rPr lang="es-ES" altLang="zh-CN" sz="1600" dirty="0">
                <a:latin typeface="+mn-ea"/>
              </a:rPr>
              <a:t> </a:t>
            </a:r>
            <a:r>
              <a:rPr lang="es-ES" altLang="zh-CN" sz="1600" dirty="0" err="1">
                <a:latin typeface="+mn-ea"/>
              </a:rPr>
              <a:t>start</a:t>
            </a:r>
            <a:endParaRPr lang="es-ES" altLang="zh-CN" sz="1600" dirty="0">
              <a:latin typeface="+mn-ea"/>
            </a:endParaRPr>
          </a:p>
        </p:txBody>
      </p:sp>
      <p:pic>
        <p:nvPicPr>
          <p:cNvPr id="8" name="图片 3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2676703"/>
            <a:ext cx="10150041" cy="6025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3.2.2 </a:t>
            </a:r>
            <a:r>
              <a:rPr lang="zh-CN" altLang="en-US" dirty="0"/>
              <a:t>安装</a:t>
            </a:r>
            <a:r>
              <a:rPr lang="en-US" altLang="zh-CN" dirty="0"/>
              <a:t>Hadoop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文本框 16"/>
          <p:cNvSpPr txBox="1"/>
          <p:nvPr/>
        </p:nvSpPr>
        <p:spPr>
          <a:xfrm>
            <a:off x="854710" y="1925874"/>
            <a:ext cx="10080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hadoop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./sbin/start-dfs.sh</a:t>
            </a:r>
            <a:endParaRPr lang="zh-CN" altLang="zh-CN" sz="1600" dirty="0">
              <a:latin typeface="+mn-ea"/>
            </a:endParaRPr>
          </a:p>
        </p:txBody>
      </p:sp>
      <p:pic>
        <p:nvPicPr>
          <p:cNvPr id="6" name="图片 32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2843287"/>
            <a:ext cx="10136393" cy="32106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Hadoop</a:t>
            </a:r>
            <a:r>
              <a:rPr lang="zh-CN" altLang="zh-CN" sz="1800" b="1" dirty="0"/>
              <a:t>伪分布式配置</a:t>
            </a:r>
          </a:p>
        </p:txBody>
      </p:sp>
      <p:sp>
        <p:nvSpPr>
          <p:cNvPr id="8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(5) </a:t>
            </a:r>
            <a:r>
              <a:rPr lang="zh-CN" altLang="zh-CN" sz="1800" dirty="0"/>
              <a:t>启动</a:t>
            </a:r>
            <a:r>
              <a:rPr lang="en-US" altLang="zh-CN" sz="1800" dirty="0" err="1"/>
              <a:t>hadoop</a:t>
            </a:r>
            <a:endParaRPr lang="zh-CN" altLang="zh-CN" sz="1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4" name="文本框 16"/>
          <p:cNvSpPr txBox="1"/>
          <p:nvPr/>
        </p:nvSpPr>
        <p:spPr>
          <a:xfrm>
            <a:off x="854710" y="1532112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apt-get update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apt-get install mysql-server-5.7</a:t>
            </a:r>
            <a:endParaRPr lang="zh-CN" altLang="zh-CN" sz="1600" dirty="0">
              <a:latin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1.</a:t>
            </a:r>
            <a:r>
              <a:rPr lang="zh-CN" altLang="zh-CN" sz="1800" b="1" dirty="0"/>
              <a:t>安装</a:t>
            </a:r>
            <a:r>
              <a:rPr lang="en-US" altLang="zh-CN" sz="1800" b="1" dirty="0"/>
              <a:t>MySQL 5.7.16</a:t>
            </a:r>
            <a:r>
              <a:rPr lang="zh-CN" altLang="en-US" sz="1800" b="1" dirty="0"/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b="1" dirty="0"/>
          </a:p>
        </p:txBody>
      </p:sp>
      <p:sp>
        <p:nvSpPr>
          <p:cNvPr id="6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35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2431252"/>
            <a:ext cx="7973980" cy="419496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4" name="图片 36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1420495"/>
            <a:ext cx="7485249" cy="325901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1.</a:t>
            </a:r>
            <a:r>
              <a:rPr lang="zh-CN" altLang="zh-CN" sz="1800" b="1" dirty="0"/>
              <a:t>安装</a:t>
            </a:r>
            <a:r>
              <a:rPr lang="en-US" altLang="zh-CN" sz="1800" b="1" dirty="0"/>
              <a:t>MySQL 5.7.16</a:t>
            </a:r>
            <a:r>
              <a:rPr lang="zh-CN" altLang="en-US" sz="1800" b="1" dirty="0"/>
              <a:t> 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b="1" dirty="0"/>
          </a:p>
        </p:txBody>
      </p:sp>
      <p:sp>
        <p:nvSpPr>
          <p:cNvPr id="6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37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4847436"/>
            <a:ext cx="7065926" cy="175831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1.</a:t>
            </a:r>
            <a:r>
              <a:rPr lang="zh-CN" altLang="zh-CN" sz="1800" b="1" dirty="0"/>
              <a:t>安装</a:t>
            </a:r>
            <a:r>
              <a:rPr lang="en-US" altLang="zh-CN" sz="1800" b="1" dirty="0"/>
              <a:t>MySQL 5.7.16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sz="1800" dirty="0"/>
              <a:t>安装依赖</a:t>
            </a:r>
            <a:r>
              <a:rPr lang="zh-CN" altLang="en-US" sz="1800" dirty="0"/>
              <a:t>（</a:t>
            </a:r>
            <a:r>
              <a:rPr lang="zh-CN" altLang="en-US" sz="1800" dirty="0">
                <a:solidFill>
                  <a:srgbClr val="FF0000"/>
                </a:solidFill>
              </a:rPr>
              <a:t>没安装依赖</a:t>
            </a:r>
            <a:r>
              <a:rPr lang="zh-CN" altLang="en-US" sz="1800" dirty="0"/>
              <a:t>）</a:t>
            </a:r>
            <a:r>
              <a:rPr lang="zh-CN" altLang="zh-CN" sz="1800" dirty="0"/>
              <a:t>：</a:t>
            </a:r>
          </a:p>
        </p:txBody>
      </p:sp>
      <p:sp>
        <p:nvSpPr>
          <p:cNvPr id="7" name="文本框 16"/>
          <p:cNvSpPr txBox="1"/>
          <p:nvPr/>
        </p:nvSpPr>
        <p:spPr>
          <a:xfrm>
            <a:off x="854710" y="2103635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altLang="zh-CN" sz="1600" dirty="0">
                <a:latin typeface="+mn-ea"/>
              </a:rPr>
              <a:t>sudo </a:t>
            </a:r>
            <a:r>
              <a:rPr lang="es-ES" altLang="zh-CN" sz="1600" dirty="0" err="1">
                <a:latin typeface="+mn-ea"/>
              </a:rPr>
              <a:t>apt</a:t>
            </a:r>
            <a:r>
              <a:rPr lang="es-ES" altLang="zh-CN" sz="1600" dirty="0">
                <a:latin typeface="+mn-ea"/>
              </a:rPr>
              <a:t> </a:t>
            </a:r>
            <a:r>
              <a:rPr lang="es-ES" altLang="zh-CN" sz="1600" dirty="0" err="1">
                <a:latin typeface="+mn-ea"/>
              </a:rPr>
              <a:t>install</a:t>
            </a:r>
            <a:r>
              <a:rPr lang="es-ES" altLang="zh-CN" sz="1600" dirty="0">
                <a:latin typeface="+mn-ea"/>
              </a:rPr>
              <a:t> </a:t>
            </a:r>
            <a:r>
              <a:rPr lang="es-ES" altLang="zh-CN" sz="1600" dirty="0" err="1">
                <a:latin typeface="+mn-ea"/>
              </a:rPr>
              <a:t>libmysqlclient-dev</a:t>
            </a:r>
            <a:endParaRPr lang="es-ES" altLang="zh-CN" sz="1600" dirty="0">
              <a:latin typeface="+mn-ea"/>
            </a:endParaRPr>
          </a:p>
        </p:txBody>
      </p:sp>
      <p:pic>
        <p:nvPicPr>
          <p:cNvPr id="8" name="图片 1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2590606"/>
            <a:ext cx="5753719" cy="2605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2"/>
          <p:cNvPicPr/>
          <p:nvPr/>
        </p:nvPicPr>
        <p:blipFill>
          <a:blip r:embed="rId4">
            <a:grayscl/>
          </a:blip>
          <a:srcRect t="37861"/>
          <a:stretch>
            <a:fillRect/>
          </a:stretch>
        </p:blipFill>
        <p:spPr>
          <a:xfrm>
            <a:off x="854710" y="5344579"/>
            <a:ext cx="5391986" cy="137676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(1) </a:t>
            </a:r>
            <a:r>
              <a:rPr lang="zh-CN" altLang="zh-CN" sz="1800" dirty="0"/>
              <a:t>查看随机初始密码</a:t>
            </a:r>
          </a:p>
        </p:txBody>
      </p:sp>
      <p:sp>
        <p:nvSpPr>
          <p:cNvPr id="7" name="文本框 16"/>
          <p:cNvSpPr txBox="1"/>
          <p:nvPr/>
        </p:nvSpPr>
        <p:spPr>
          <a:xfrm>
            <a:off x="854710" y="3015904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zh-CN" sz="1600" dirty="0">
                <a:latin typeface="+mn-ea"/>
              </a:rPr>
              <a:t>cd /</a:t>
            </a:r>
            <a:r>
              <a:rPr lang="es-ES" altLang="zh-CN" sz="1600" dirty="0" err="1">
                <a:latin typeface="+mn-ea"/>
              </a:rPr>
              <a:t>etc</a:t>
            </a:r>
            <a:r>
              <a:rPr lang="es-ES" altLang="zh-CN" sz="1600" dirty="0">
                <a:latin typeface="+mn-ea"/>
              </a:rPr>
              <a:t>/</a:t>
            </a:r>
            <a:r>
              <a:rPr lang="es-ES" altLang="zh-CN" sz="1600" dirty="0" err="1">
                <a:latin typeface="+mn-ea"/>
              </a:rPr>
              <a:t>mysql</a:t>
            </a:r>
            <a:r>
              <a:rPr lang="es-ES" altLang="zh-CN" sz="1600" dirty="0">
                <a:latin typeface="+mn-ea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s-ES" altLang="zh-CN" sz="1600" dirty="0">
                <a:latin typeface="+mn-ea"/>
              </a:rPr>
              <a:t>sudo </a:t>
            </a:r>
            <a:r>
              <a:rPr lang="es-ES" altLang="zh-CN" sz="1600" dirty="0" err="1">
                <a:latin typeface="+mn-ea"/>
              </a:rPr>
              <a:t>cat</a:t>
            </a:r>
            <a:r>
              <a:rPr lang="es-ES" altLang="zh-CN" sz="1600" dirty="0">
                <a:latin typeface="+mn-ea"/>
              </a:rPr>
              <a:t> </a:t>
            </a:r>
            <a:r>
              <a:rPr lang="es-ES" altLang="zh-CN" sz="1600" dirty="0" err="1">
                <a:latin typeface="+mn-ea"/>
              </a:rPr>
              <a:t>debian.cnf</a:t>
            </a:r>
            <a:endParaRPr lang="es-ES" altLang="zh-CN" sz="1600" dirty="0">
              <a:latin typeface="+mn-ea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4710" y="2071278"/>
            <a:ext cx="10080000" cy="8616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/>
              <a:t>安装完成后，会生成文件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</a:t>
            </a:r>
            <a:r>
              <a:rPr lang="en-US" altLang="zh-CN" sz="1800" dirty="0" err="1"/>
              <a:t>mysql</a:t>
            </a:r>
            <a:r>
              <a:rPr lang="en-US" altLang="zh-CN" sz="1800" dirty="0"/>
              <a:t>/</a:t>
            </a:r>
            <a:r>
              <a:rPr lang="en-US" altLang="zh-CN" sz="1800" dirty="0" err="1"/>
              <a:t>debian.cnf</a:t>
            </a:r>
            <a:r>
              <a:rPr lang="en-US" altLang="zh-CN" sz="1800" dirty="0"/>
              <a:t> </a:t>
            </a:r>
            <a:r>
              <a:rPr lang="zh-CN" altLang="en-US" sz="1800" dirty="0"/>
              <a:t>，查看这个文件可以获取</a:t>
            </a:r>
            <a:r>
              <a:rPr lang="en-US" altLang="zh-CN" sz="1800" dirty="0" err="1"/>
              <a:t>mysql</a:t>
            </a:r>
            <a:r>
              <a:rPr lang="zh-CN" altLang="en-US" sz="1800" dirty="0"/>
              <a:t>随机生成的初始用户名和密码。</a:t>
            </a:r>
          </a:p>
        </p:txBody>
      </p:sp>
      <p:pic>
        <p:nvPicPr>
          <p:cNvPr id="10" name="图片 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3886439"/>
            <a:ext cx="6688713" cy="283490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(1) </a:t>
            </a:r>
            <a:r>
              <a:rPr lang="zh-CN" altLang="zh-CN" sz="1800" dirty="0"/>
              <a:t>查看随机初始密码</a:t>
            </a:r>
          </a:p>
        </p:txBody>
      </p:sp>
      <p:sp>
        <p:nvSpPr>
          <p:cNvPr id="7" name="文本框 16"/>
          <p:cNvSpPr txBox="1"/>
          <p:nvPr/>
        </p:nvSpPr>
        <p:spPr>
          <a:xfrm>
            <a:off x="854710" y="2531145"/>
            <a:ext cx="10080000" cy="28931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# Automatically generated for </a:t>
            </a:r>
            <a:r>
              <a:rPr lang="en-US" altLang="zh-CN" sz="1600" dirty="0" err="1">
                <a:latin typeface="+mn-ea"/>
              </a:rPr>
              <a:t>Debian</a:t>
            </a:r>
            <a:r>
              <a:rPr lang="en-US" altLang="zh-CN" sz="1600" dirty="0">
                <a:latin typeface="+mn-ea"/>
              </a:rPr>
              <a:t> scripts. DO NOT TOUCH!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[client]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host     = localhost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user     = </a:t>
            </a:r>
            <a:r>
              <a:rPr lang="en-US" altLang="zh-CN" sz="1600" dirty="0" err="1">
                <a:latin typeface="+mn-ea"/>
              </a:rPr>
              <a:t>debian</a:t>
            </a:r>
            <a:r>
              <a:rPr lang="en-US" altLang="zh-CN" sz="1600" dirty="0">
                <a:latin typeface="+mn-ea"/>
              </a:rPr>
              <a:t>-sys-</a:t>
            </a:r>
            <a:r>
              <a:rPr lang="en-US" altLang="zh-CN" sz="1600" dirty="0" err="1">
                <a:latin typeface="+mn-ea"/>
              </a:rPr>
              <a:t>maint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password = 74KdWFObOXKq50nK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socket   = /</a:t>
            </a:r>
            <a:r>
              <a:rPr lang="en-US" altLang="zh-CN" sz="1600" dirty="0" err="1">
                <a:latin typeface="+mn-ea"/>
              </a:rPr>
              <a:t>var</a:t>
            </a:r>
            <a:r>
              <a:rPr lang="en-US" altLang="zh-CN" sz="1600" dirty="0">
                <a:latin typeface="+mn-ea"/>
              </a:rPr>
              <a:t>/run/</a:t>
            </a:r>
            <a:r>
              <a:rPr lang="en-US" altLang="zh-CN" sz="1600" dirty="0" err="1">
                <a:latin typeface="+mn-ea"/>
              </a:rPr>
              <a:t>mysqld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mysqld.sock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[</a:t>
            </a:r>
            <a:r>
              <a:rPr lang="en-US" altLang="zh-CN" sz="1600" dirty="0" err="1">
                <a:latin typeface="+mn-ea"/>
              </a:rPr>
              <a:t>mysql_upgrade</a:t>
            </a:r>
            <a:r>
              <a:rPr lang="en-US" altLang="zh-CN" sz="1600" dirty="0">
                <a:latin typeface="+mn-ea"/>
              </a:rPr>
              <a:t>]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host     = localhost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user     = </a:t>
            </a:r>
            <a:r>
              <a:rPr lang="en-US" altLang="zh-CN" sz="1600" dirty="0" err="1">
                <a:latin typeface="+mn-ea"/>
              </a:rPr>
              <a:t>debian</a:t>
            </a:r>
            <a:r>
              <a:rPr lang="en-US" altLang="zh-CN" sz="1600" dirty="0">
                <a:latin typeface="+mn-ea"/>
              </a:rPr>
              <a:t>-sys-</a:t>
            </a:r>
            <a:r>
              <a:rPr lang="en-US" altLang="zh-CN" sz="1600" dirty="0" err="1">
                <a:latin typeface="+mn-ea"/>
              </a:rPr>
              <a:t>maint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password = 74KdWFObOXKq50nK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socket   = /</a:t>
            </a:r>
            <a:r>
              <a:rPr lang="en-US" altLang="zh-CN" sz="1600" dirty="0" err="1">
                <a:latin typeface="+mn-ea"/>
              </a:rPr>
              <a:t>var</a:t>
            </a:r>
            <a:r>
              <a:rPr lang="en-US" altLang="zh-CN" sz="1600" dirty="0">
                <a:latin typeface="+mn-ea"/>
              </a:rPr>
              <a:t>/run/</a:t>
            </a:r>
            <a:r>
              <a:rPr lang="en-US" altLang="zh-CN" sz="1600" dirty="0" err="1">
                <a:latin typeface="+mn-ea"/>
              </a:rPr>
              <a:t>mysqld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mysqld.sock</a:t>
            </a:r>
            <a:endParaRPr lang="zh-CN" altLang="zh-CN" sz="1600" dirty="0">
              <a:latin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071278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sz="1800" dirty="0"/>
              <a:t>显示内容如下：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4710" y="5529018"/>
            <a:ext cx="10080000" cy="509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1800" dirty="0"/>
              <a:t>本次安装生成的初始用户是：</a:t>
            </a:r>
            <a:r>
              <a:rPr lang="en-US" altLang="zh-CN" sz="1800" dirty="0" err="1"/>
              <a:t>debian</a:t>
            </a:r>
            <a:r>
              <a:rPr lang="en-US" altLang="zh-CN" sz="1800" dirty="0"/>
              <a:t>-sys-</a:t>
            </a:r>
            <a:r>
              <a:rPr lang="en-US" altLang="zh-CN" sz="1800" dirty="0" err="1"/>
              <a:t>maint</a:t>
            </a:r>
            <a:r>
              <a:rPr lang="zh-CN" altLang="zh-CN" sz="1800" dirty="0"/>
              <a:t>，初始随机密码是：</a:t>
            </a:r>
            <a:r>
              <a:rPr lang="en-US" altLang="zh-CN" sz="1800" dirty="0"/>
              <a:t>74KdWFObOXKq50nK</a:t>
            </a:r>
            <a:r>
              <a:rPr lang="zh-CN" altLang="zh-CN" sz="1800" dirty="0"/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启动</a:t>
            </a:r>
            <a:r>
              <a:rPr lang="en-US" altLang="zh-CN" sz="1800" dirty="0"/>
              <a:t>MySQL</a:t>
            </a:r>
            <a:r>
              <a:rPr lang="zh-CN" altLang="zh-CN" sz="1800" dirty="0"/>
              <a:t>服务</a:t>
            </a:r>
          </a:p>
        </p:txBody>
      </p:sp>
      <p:sp>
        <p:nvSpPr>
          <p:cNvPr id="7" name="文本框 16"/>
          <p:cNvSpPr txBox="1"/>
          <p:nvPr/>
        </p:nvSpPr>
        <p:spPr>
          <a:xfrm>
            <a:off x="854710" y="2447390"/>
            <a:ext cx="1008000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var</a:t>
            </a:r>
            <a:r>
              <a:rPr lang="en-US" altLang="zh-CN" sz="1600" dirty="0">
                <a:latin typeface="+mn-ea"/>
              </a:rPr>
              <a:t>/run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mkdir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mysqld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chown</a:t>
            </a:r>
            <a:r>
              <a:rPr lang="en-US" altLang="zh-CN" sz="1600" dirty="0">
                <a:latin typeface="+mn-ea"/>
              </a:rPr>
              <a:t> -R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/</a:t>
            </a:r>
            <a:r>
              <a:rPr lang="en-US" altLang="zh-CN" sz="1600" dirty="0" err="1">
                <a:latin typeface="+mn-ea"/>
              </a:rPr>
              <a:t>var</a:t>
            </a:r>
            <a:r>
              <a:rPr lang="en-US" altLang="zh-CN" sz="1600" dirty="0">
                <a:latin typeface="+mn-ea"/>
              </a:rPr>
              <a:t>/run/</a:t>
            </a:r>
            <a:r>
              <a:rPr lang="en-US" altLang="zh-CN" sz="1600" dirty="0" err="1">
                <a:latin typeface="+mn-ea"/>
              </a:rPr>
              <a:t>mysqld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chgrp</a:t>
            </a:r>
            <a:r>
              <a:rPr lang="en-US" altLang="zh-CN" sz="1600" dirty="0">
                <a:latin typeface="+mn-ea"/>
              </a:rPr>
              <a:t> -R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/</a:t>
            </a:r>
            <a:r>
              <a:rPr lang="en-US" altLang="zh-CN" sz="1600" dirty="0" err="1">
                <a:latin typeface="+mn-ea"/>
              </a:rPr>
              <a:t>var</a:t>
            </a:r>
            <a:r>
              <a:rPr lang="en-US" altLang="zh-CN" sz="1600" dirty="0">
                <a:latin typeface="+mn-ea"/>
              </a:rPr>
              <a:t>/run/</a:t>
            </a:r>
            <a:r>
              <a:rPr lang="en-US" altLang="zh-CN" sz="1600" dirty="0" err="1">
                <a:latin typeface="+mn-ea"/>
              </a:rPr>
              <a:t>mysqld</a:t>
            </a:r>
            <a:endParaRPr lang="en-US" altLang="zh-CN" sz="1600" dirty="0">
              <a:latin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071278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b="1" dirty="0"/>
              <a:t>建立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var</a:t>
            </a:r>
            <a:r>
              <a:rPr lang="en-US" altLang="zh-CN" sz="1800" b="1" dirty="0"/>
              <a:t>/run/</a:t>
            </a:r>
            <a:r>
              <a:rPr lang="en-US" altLang="zh-CN" sz="1800" b="1" dirty="0" err="1"/>
              <a:t>mysqld</a:t>
            </a:r>
            <a:r>
              <a:rPr lang="en-US" altLang="zh-CN" sz="1800" b="1" dirty="0"/>
              <a:t> </a:t>
            </a:r>
            <a:r>
              <a:rPr lang="zh-CN" altLang="zh-CN" sz="1800" b="1" dirty="0"/>
              <a:t>并赋权</a:t>
            </a:r>
            <a:r>
              <a:rPr lang="en-US" altLang="zh-CN" sz="1800" b="1" dirty="0" err="1"/>
              <a:t>mysql</a:t>
            </a:r>
            <a:r>
              <a:rPr lang="zh-CN" altLang="zh-CN" sz="1800" b="1" dirty="0"/>
              <a:t>用户</a:t>
            </a:r>
            <a:r>
              <a:rPr lang="zh-CN" altLang="zh-CN" sz="1800" dirty="0"/>
              <a:t>，执行命令：</a:t>
            </a:r>
          </a:p>
        </p:txBody>
      </p:sp>
      <p:sp>
        <p:nvSpPr>
          <p:cNvPr id="9" name="文本框 16"/>
          <p:cNvSpPr txBox="1"/>
          <p:nvPr/>
        </p:nvSpPr>
        <p:spPr>
          <a:xfrm>
            <a:off x="854710" y="4392419"/>
            <a:ext cx="10080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service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stop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usermod</a:t>
            </a:r>
            <a:r>
              <a:rPr lang="en-US" altLang="zh-CN" sz="1600" dirty="0">
                <a:latin typeface="+mn-ea"/>
              </a:rPr>
              <a:t> -d /</a:t>
            </a:r>
            <a:r>
              <a:rPr lang="en-US" altLang="zh-CN" sz="1600" dirty="0" err="1">
                <a:latin typeface="+mn-ea"/>
              </a:rPr>
              <a:t>var</a:t>
            </a:r>
            <a:r>
              <a:rPr lang="en-US" altLang="zh-CN" sz="1600" dirty="0">
                <a:latin typeface="+mn-ea"/>
              </a:rPr>
              <a:t>/lib/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/ </a:t>
            </a:r>
            <a:r>
              <a:rPr lang="en-US" altLang="zh-CN" sz="1600" dirty="0" err="1">
                <a:latin typeface="+mn-ea"/>
              </a:rPr>
              <a:t>mysql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service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start</a:t>
            </a:r>
          </a:p>
        </p:txBody>
      </p:sp>
      <p:sp>
        <p:nvSpPr>
          <p:cNvPr id="10" name="内容占位符 2"/>
          <p:cNvSpPr>
            <a:spLocks noGrp="1"/>
          </p:cNvSpPr>
          <p:nvPr/>
        </p:nvSpPr>
        <p:spPr>
          <a:xfrm>
            <a:off x="854710" y="4016307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启动</a:t>
            </a:r>
            <a:r>
              <a:rPr lang="en-US" altLang="zh-CN" sz="1800" dirty="0" err="1"/>
              <a:t>mysql</a:t>
            </a:r>
            <a:r>
              <a:rPr lang="zh-CN" altLang="zh-CN" sz="1800" dirty="0"/>
              <a:t>服务，执行命令：</a:t>
            </a:r>
          </a:p>
        </p:txBody>
      </p:sp>
      <p:pic>
        <p:nvPicPr>
          <p:cNvPr id="11" name="图片 10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5592006"/>
            <a:ext cx="9802780" cy="7833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(2) </a:t>
            </a:r>
            <a:r>
              <a:rPr lang="zh-CN" altLang="zh-CN" sz="1800" dirty="0"/>
              <a:t>启动</a:t>
            </a:r>
            <a:r>
              <a:rPr lang="en-US" altLang="zh-CN" sz="1800" dirty="0"/>
              <a:t>MySQL</a:t>
            </a:r>
            <a:r>
              <a:rPr lang="zh-CN" altLang="zh-CN" sz="1800" dirty="0"/>
              <a:t>服务</a:t>
            </a:r>
            <a:r>
              <a:rPr lang="zh-CN" altLang="en-US" sz="1800" b="1" dirty="0"/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dirty="0"/>
          </a:p>
        </p:txBody>
      </p:sp>
      <p:sp>
        <p:nvSpPr>
          <p:cNvPr id="7" name="文本框 16"/>
          <p:cNvSpPr txBox="1"/>
          <p:nvPr/>
        </p:nvSpPr>
        <p:spPr>
          <a:xfrm>
            <a:off x="854710" y="2447390"/>
            <a:ext cx="10080000" cy="4181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-h localhost -u </a:t>
            </a:r>
            <a:r>
              <a:rPr lang="en-US" altLang="zh-CN" sz="1600" dirty="0" err="1">
                <a:latin typeface="+mn-ea"/>
              </a:rPr>
              <a:t>debian</a:t>
            </a:r>
            <a:r>
              <a:rPr lang="en-US" altLang="zh-CN" sz="1600" dirty="0">
                <a:latin typeface="+mn-ea"/>
              </a:rPr>
              <a:t>-sys-</a:t>
            </a:r>
            <a:r>
              <a:rPr lang="en-US" altLang="zh-CN" sz="1600" dirty="0" err="1">
                <a:latin typeface="+mn-ea"/>
              </a:rPr>
              <a:t>maint</a:t>
            </a:r>
            <a:r>
              <a:rPr lang="en-US" altLang="zh-CN" sz="1600" dirty="0">
                <a:latin typeface="+mn-ea"/>
              </a:rPr>
              <a:t> -p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071278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/>
              <a:t>使用初始用户和密码登录</a:t>
            </a:r>
            <a:r>
              <a:rPr lang="en-US" altLang="zh-CN" sz="1800" dirty="0"/>
              <a:t>MySQL</a:t>
            </a:r>
            <a:r>
              <a:rPr lang="zh-CN" altLang="en-US" sz="1800" dirty="0"/>
              <a:t>，执行命令：</a:t>
            </a:r>
            <a:endParaRPr lang="zh-CN" altLang="zh-CN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0" y="2985003"/>
            <a:ext cx="10123301" cy="514942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854710" y="3619367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需要输入刚生成的随机密码，输入密码后，进去</a:t>
            </a:r>
            <a:r>
              <a:rPr lang="en-US" altLang="zh-CN" sz="1800" dirty="0"/>
              <a:t>MySQL</a:t>
            </a:r>
            <a:r>
              <a:rPr lang="zh-CN" altLang="zh-CN" sz="1800" dirty="0"/>
              <a:t>交互界面：</a:t>
            </a:r>
          </a:p>
        </p:txBody>
      </p:sp>
      <p:pic>
        <p:nvPicPr>
          <p:cNvPr id="11" name="图片 12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4710" y="3996222"/>
            <a:ext cx="7504518" cy="27251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(3) </a:t>
            </a:r>
            <a:r>
              <a:rPr lang="zh-CN" altLang="zh-CN" sz="1800" dirty="0"/>
              <a:t>实现</a:t>
            </a:r>
            <a:r>
              <a:rPr lang="en-US" altLang="zh-CN" sz="1800" dirty="0"/>
              <a:t>root</a:t>
            </a:r>
            <a:r>
              <a:rPr lang="zh-CN" altLang="zh-CN" sz="1800" dirty="0"/>
              <a:t>登录并设置密码</a:t>
            </a:r>
            <a:r>
              <a:rPr lang="zh-CN" altLang="en-US" sz="1800" b="1" dirty="0"/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dirty="0"/>
          </a:p>
        </p:txBody>
      </p:sp>
      <p:sp>
        <p:nvSpPr>
          <p:cNvPr id="7" name="文本框 16"/>
          <p:cNvSpPr txBox="1"/>
          <p:nvPr/>
        </p:nvSpPr>
        <p:spPr>
          <a:xfrm>
            <a:off x="854710" y="2447390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update </a:t>
            </a:r>
            <a:r>
              <a:rPr lang="en-US" altLang="zh-CN" sz="1600" dirty="0" err="1">
                <a:latin typeface="+mn-ea"/>
              </a:rPr>
              <a:t>mysql.user</a:t>
            </a:r>
            <a:r>
              <a:rPr lang="en-US" altLang="zh-CN" sz="1600" dirty="0">
                <a:latin typeface="+mn-ea"/>
              </a:rPr>
              <a:t> set </a:t>
            </a:r>
            <a:r>
              <a:rPr lang="en-US" altLang="zh-CN" sz="1600" dirty="0" err="1">
                <a:latin typeface="+mn-ea"/>
              </a:rPr>
              <a:t>authentication_string</a:t>
            </a:r>
            <a:r>
              <a:rPr lang="en-US" altLang="zh-CN" sz="1600" dirty="0">
                <a:latin typeface="+mn-ea"/>
              </a:rPr>
              <a:t>=password('***') where user='root' and host='localhost';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071278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MySQL</a:t>
            </a:r>
            <a:r>
              <a:rPr lang="zh-CN" altLang="zh-CN" sz="1800" dirty="0"/>
              <a:t>交互界面中，执行命令（</a:t>
            </a:r>
            <a:r>
              <a:rPr lang="en-US" altLang="zh-CN" sz="1800" dirty="0"/>
              <a:t>***</a:t>
            </a:r>
            <a:r>
              <a:rPr lang="zh-CN" altLang="zh-CN" sz="1800" dirty="0"/>
              <a:t>为设置的新秘密，读者请自行设置）：</a:t>
            </a:r>
          </a:p>
        </p:txBody>
      </p:sp>
      <p:pic>
        <p:nvPicPr>
          <p:cNvPr id="9" name="图片 1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3411142"/>
            <a:ext cx="10079331" cy="133427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(3) </a:t>
            </a:r>
            <a:r>
              <a:rPr lang="zh-CN" altLang="zh-CN" sz="1800" dirty="0"/>
              <a:t>实现</a:t>
            </a:r>
            <a:r>
              <a:rPr lang="en-US" altLang="zh-CN" sz="1800" dirty="0"/>
              <a:t>root</a:t>
            </a:r>
            <a:r>
              <a:rPr lang="zh-CN" altLang="zh-CN" sz="1800" dirty="0"/>
              <a:t>登录并设置密码</a:t>
            </a:r>
            <a:r>
              <a:rPr lang="zh-CN" altLang="en-US" sz="1800" b="1" dirty="0"/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dirty="0"/>
          </a:p>
        </p:txBody>
      </p:sp>
      <p:sp>
        <p:nvSpPr>
          <p:cNvPr id="7" name="文本框 16"/>
          <p:cNvSpPr txBox="1"/>
          <p:nvPr/>
        </p:nvSpPr>
        <p:spPr>
          <a:xfrm>
            <a:off x="854710" y="2635817"/>
            <a:ext cx="10080000" cy="11568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update </a:t>
            </a:r>
            <a:r>
              <a:rPr lang="en-US" altLang="zh-CN" sz="1600" dirty="0" err="1">
                <a:latin typeface="+mn-ea"/>
              </a:rPr>
              <a:t>mysql.user</a:t>
            </a:r>
            <a:r>
              <a:rPr lang="en-US" altLang="zh-CN" sz="1600" dirty="0">
                <a:latin typeface="+mn-ea"/>
              </a:rPr>
              <a:t> set plugin='</a:t>
            </a:r>
            <a:r>
              <a:rPr lang="en-US" altLang="zh-CN" sz="1600" dirty="0" err="1">
                <a:latin typeface="+mn-ea"/>
              </a:rPr>
              <a:t>mysql_native_password</a:t>
            </a:r>
            <a:r>
              <a:rPr lang="en-US" altLang="zh-CN" sz="1600" dirty="0">
                <a:latin typeface="+mn-ea"/>
              </a:rPr>
              <a:t>';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flush privileges;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quit;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071278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MySQL</a:t>
            </a:r>
            <a:r>
              <a:rPr lang="zh-CN" altLang="zh-CN" sz="1800" dirty="0"/>
              <a:t>交互界面中，依次执行：</a:t>
            </a:r>
          </a:p>
        </p:txBody>
      </p:sp>
      <p:pic>
        <p:nvPicPr>
          <p:cNvPr id="9" name="图片 15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3980356"/>
            <a:ext cx="8338016" cy="23758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2. </a:t>
            </a:r>
            <a:r>
              <a:rPr lang="zh-CN" altLang="en-US" sz="1800" b="1" dirty="0"/>
              <a:t>实现</a:t>
            </a:r>
            <a:r>
              <a:rPr lang="en-US" altLang="zh-CN" sz="1800" b="1" dirty="0"/>
              <a:t>root</a:t>
            </a:r>
            <a:r>
              <a:rPr lang="zh-CN" altLang="en-US" sz="1800" b="1" dirty="0"/>
              <a:t>登录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(3) </a:t>
            </a:r>
            <a:r>
              <a:rPr lang="zh-CN" altLang="zh-CN" sz="1800" dirty="0"/>
              <a:t>实现</a:t>
            </a:r>
            <a:r>
              <a:rPr lang="en-US" altLang="zh-CN" sz="1800" dirty="0"/>
              <a:t>root</a:t>
            </a:r>
            <a:r>
              <a:rPr lang="zh-CN" altLang="zh-CN" sz="1800" dirty="0"/>
              <a:t>登录并设置密码</a:t>
            </a:r>
            <a:r>
              <a:rPr lang="zh-CN" altLang="en-US" sz="1800" b="1" dirty="0"/>
              <a:t>（</a:t>
            </a:r>
            <a:r>
              <a:rPr lang="zh-CN" altLang="en-US" sz="1800" b="1" dirty="0">
                <a:solidFill>
                  <a:srgbClr val="FF0000"/>
                </a:solidFill>
              </a:rPr>
              <a:t>第一个项目已经安装过了，跳过</a:t>
            </a:r>
            <a:r>
              <a:rPr lang="zh-CN" altLang="en-US" sz="1800" b="1" dirty="0"/>
              <a:t>）</a:t>
            </a:r>
            <a:endParaRPr lang="zh-CN" altLang="zh-CN" sz="1800" dirty="0"/>
          </a:p>
        </p:txBody>
      </p:sp>
      <p:sp>
        <p:nvSpPr>
          <p:cNvPr id="7" name="文本框 16"/>
          <p:cNvSpPr txBox="1"/>
          <p:nvPr/>
        </p:nvSpPr>
        <p:spPr>
          <a:xfrm>
            <a:off x="854710" y="2635816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service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restart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-h localhost -u root -p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071278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重新启动</a:t>
            </a:r>
            <a:r>
              <a:rPr lang="en-US" altLang="zh-CN" sz="1800" dirty="0"/>
              <a:t>MySQL </a:t>
            </a:r>
            <a:r>
              <a:rPr lang="zh-CN" altLang="zh-CN" sz="1800" dirty="0"/>
              <a:t>，之后就可以使用</a:t>
            </a:r>
            <a:r>
              <a:rPr lang="en-US" altLang="zh-CN" sz="1800" dirty="0"/>
              <a:t> root </a:t>
            </a:r>
            <a:r>
              <a:rPr lang="zh-CN" altLang="zh-CN" sz="1800" dirty="0"/>
              <a:t>登陆</a:t>
            </a:r>
            <a:r>
              <a:rPr lang="en-US" altLang="zh-CN" sz="1800" dirty="0"/>
              <a:t>MySQL</a:t>
            </a:r>
            <a:r>
              <a:rPr lang="zh-CN" altLang="zh-CN" sz="1800" dirty="0"/>
              <a:t>了。</a:t>
            </a:r>
          </a:p>
        </p:txBody>
      </p:sp>
      <p:pic>
        <p:nvPicPr>
          <p:cNvPr id="9" name="图片 8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3611023"/>
            <a:ext cx="8374255" cy="294743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3. </a:t>
            </a:r>
            <a:r>
              <a:rPr lang="zh-CN" altLang="en-US" sz="1800" b="1" dirty="0"/>
              <a:t>配置中文字符编码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MySQL</a:t>
            </a:r>
            <a:r>
              <a:rPr lang="zh-CN" altLang="zh-CN" sz="1800" dirty="0"/>
              <a:t>交互界面中，检查默认字符编码，执行命令：</a:t>
            </a:r>
          </a:p>
        </p:txBody>
      </p:sp>
      <p:sp>
        <p:nvSpPr>
          <p:cNvPr id="7" name="文本框 16"/>
          <p:cNvSpPr txBox="1"/>
          <p:nvPr/>
        </p:nvSpPr>
        <p:spPr>
          <a:xfrm>
            <a:off x="854710" y="2123389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&gt;show variables like '</a:t>
            </a:r>
            <a:r>
              <a:rPr lang="en-US" altLang="zh-CN" sz="1600" dirty="0" err="1">
                <a:latin typeface="+mn-ea"/>
              </a:rPr>
              <a:t>character_set</a:t>
            </a:r>
            <a:r>
              <a:rPr lang="en-US" altLang="zh-CN" sz="1600" dirty="0">
                <a:latin typeface="+mn-ea"/>
              </a:rPr>
              <a:t>_%';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676703"/>
            <a:ext cx="10080000" cy="376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结果如下：</a:t>
            </a:r>
          </a:p>
        </p:txBody>
      </p:sp>
      <p:sp>
        <p:nvSpPr>
          <p:cNvPr id="10" name="文本框 16"/>
          <p:cNvSpPr txBox="1"/>
          <p:nvPr/>
        </p:nvSpPr>
        <p:spPr>
          <a:xfrm>
            <a:off x="854710" y="3053558"/>
            <a:ext cx="10080000" cy="33855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+-------------------------------+--------------------------------+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Variable_name</a:t>
            </a:r>
            <a:r>
              <a:rPr lang="en-US" altLang="zh-CN" sz="1600" dirty="0"/>
              <a:t>         | Value                   |</a:t>
            </a:r>
            <a:endParaRPr lang="zh-CN" altLang="zh-CN" sz="1600" dirty="0"/>
          </a:p>
          <a:p>
            <a:r>
              <a:rPr lang="en-US" altLang="zh-CN" sz="1600" dirty="0"/>
              <a:t>+-------------------------------+--------------------------------+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character_set_client</a:t>
            </a:r>
            <a:r>
              <a:rPr lang="en-US" altLang="zh-CN" sz="1600" dirty="0"/>
              <a:t>     | utf8   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character_set_connection</a:t>
            </a:r>
            <a:r>
              <a:rPr lang="en-US" altLang="zh-CN" sz="1600" dirty="0"/>
              <a:t> | utf8   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character_set_database</a:t>
            </a:r>
            <a:r>
              <a:rPr lang="en-US" altLang="zh-CN" sz="1600" dirty="0"/>
              <a:t>   | latin1 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character_set_filesystem</a:t>
            </a:r>
            <a:r>
              <a:rPr lang="en-US" altLang="zh-CN" sz="1600" dirty="0"/>
              <a:t>  | binary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character_set_results</a:t>
            </a:r>
            <a:r>
              <a:rPr lang="en-US" altLang="zh-CN" sz="1600" dirty="0"/>
              <a:t>    | utf8   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character_set_server</a:t>
            </a:r>
            <a:r>
              <a:rPr lang="en-US" altLang="zh-CN" sz="1600" dirty="0"/>
              <a:t>     | latin1 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character_set_system</a:t>
            </a:r>
            <a:r>
              <a:rPr lang="en-US" altLang="zh-CN" sz="1600" dirty="0"/>
              <a:t>     | utf8                   |</a:t>
            </a:r>
            <a:endParaRPr lang="zh-CN" altLang="zh-CN" sz="1600" dirty="0"/>
          </a:p>
          <a:p>
            <a:r>
              <a:rPr lang="en-US" altLang="zh-CN" sz="1600" dirty="0"/>
              <a:t>| </a:t>
            </a:r>
            <a:r>
              <a:rPr lang="en-US" altLang="zh-CN" sz="1600" dirty="0" err="1"/>
              <a:t>character_sets_dir</a:t>
            </a:r>
            <a:r>
              <a:rPr lang="en-US" altLang="zh-CN" sz="1600" dirty="0"/>
              <a:t>       | /</a:t>
            </a:r>
            <a:r>
              <a:rPr lang="en-US" altLang="zh-CN" sz="1600" dirty="0" err="1"/>
              <a:t>usr</a:t>
            </a:r>
            <a:r>
              <a:rPr lang="en-US" altLang="zh-CN" sz="1600" dirty="0"/>
              <a:t>/share/</a:t>
            </a:r>
            <a:r>
              <a:rPr lang="en-US" altLang="zh-CN" sz="1600" dirty="0" err="1"/>
              <a:t>mysql</a:t>
            </a:r>
            <a:r>
              <a:rPr lang="en-US" altLang="zh-CN" sz="1600" dirty="0"/>
              <a:t>/charsets/  |</a:t>
            </a:r>
            <a:endParaRPr lang="zh-CN" altLang="zh-CN" sz="1600" dirty="0"/>
          </a:p>
          <a:p>
            <a:r>
              <a:rPr lang="en-US" altLang="zh-CN" sz="1600" dirty="0"/>
              <a:t>+------------------------------+---------------------------------+</a:t>
            </a:r>
            <a:endParaRPr lang="zh-CN" altLang="zh-CN" sz="1600" dirty="0"/>
          </a:p>
          <a:p>
            <a:r>
              <a:rPr lang="en-US" altLang="zh-CN" sz="1600" dirty="0"/>
              <a:t>8 rows in set (0.00 sec)</a:t>
            </a:r>
            <a:endParaRPr lang="zh-CN" altLang="zh-CN" sz="1600" dirty="0"/>
          </a:p>
        </p:txBody>
      </p:sp>
      <p:pic>
        <p:nvPicPr>
          <p:cNvPr id="11" name="图片 7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603063" y="2918435"/>
            <a:ext cx="6401915" cy="31117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3. </a:t>
            </a:r>
            <a:r>
              <a:rPr lang="zh-CN" altLang="en-US" sz="1800" b="1" dirty="0"/>
              <a:t>配置中文字符编码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这里需要将</a:t>
            </a:r>
            <a:r>
              <a:rPr lang="en-US" altLang="zh-CN" sz="1800" dirty="0"/>
              <a:t>latin1</a:t>
            </a:r>
            <a:r>
              <a:rPr lang="zh-CN" altLang="zh-CN" sz="1800" dirty="0"/>
              <a:t>改为</a:t>
            </a:r>
            <a:r>
              <a:rPr lang="en-US" altLang="zh-CN" sz="1800" dirty="0"/>
              <a:t>utf8</a:t>
            </a:r>
            <a:r>
              <a:rPr lang="zh-CN" altLang="zh-CN" sz="1800" dirty="0"/>
              <a:t>，先退出</a:t>
            </a:r>
            <a:r>
              <a:rPr lang="en-US" altLang="zh-CN" sz="1800" dirty="0"/>
              <a:t>MySQL</a:t>
            </a:r>
            <a:r>
              <a:rPr lang="zh-CN" altLang="zh-CN" sz="1800" dirty="0"/>
              <a:t>。</a:t>
            </a:r>
          </a:p>
        </p:txBody>
      </p:sp>
      <p:sp>
        <p:nvSpPr>
          <p:cNvPr id="7" name="文本框 16"/>
          <p:cNvSpPr txBox="1"/>
          <p:nvPr/>
        </p:nvSpPr>
        <p:spPr>
          <a:xfrm>
            <a:off x="854710" y="2123389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quit;</a:t>
            </a:r>
          </a:p>
        </p:txBody>
      </p:sp>
      <p:pic>
        <p:nvPicPr>
          <p:cNvPr id="8" name="图片 6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09" y="2597065"/>
            <a:ext cx="3870869" cy="57180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854710" y="3303990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修改字符配置文件：</a:t>
            </a:r>
          </a:p>
        </p:txBody>
      </p:sp>
      <p:sp>
        <p:nvSpPr>
          <p:cNvPr id="10" name="文本框 16"/>
          <p:cNvSpPr txBox="1"/>
          <p:nvPr/>
        </p:nvSpPr>
        <p:spPr>
          <a:xfrm>
            <a:off x="854710" y="3871761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vim /</a:t>
            </a:r>
            <a:r>
              <a:rPr lang="en-US" altLang="zh-CN" sz="1600" dirty="0" err="1">
                <a:latin typeface="+mn-ea"/>
              </a:rPr>
              <a:t>etc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mysql.conf.d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mysqld.cnf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1" name="内容占位符 2"/>
          <p:cNvSpPr>
            <a:spLocks noGrp="1"/>
          </p:cNvSpPr>
          <p:nvPr/>
        </p:nvSpPr>
        <p:spPr>
          <a:xfrm>
            <a:off x="854710" y="4362361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[</a:t>
            </a:r>
            <a:r>
              <a:rPr lang="en-US" altLang="zh-CN" sz="1800" dirty="0" err="1"/>
              <a:t>mysqld</a:t>
            </a:r>
            <a:r>
              <a:rPr lang="en-US" altLang="zh-CN" sz="1800" dirty="0"/>
              <a:t>]</a:t>
            </a:r>
            <a:r>
              <a:rPr lang="zh-CN" altLang="zh-CN" sz="1800" dirty="0"/>
              <a:t>下添加一行</a:t>
            </a:r>
            <a:r>
              <a:rPr lang="en-US" altLang="zh-CN" sz="1800" dirty="0" err="1"/>
              <a:t>character_set_server</a:t>
            </a:r>
            <a:r>
              <a:rPr lang="en-US" altLang="zh-CN" sz="1800" dirty="0"/>
              <a:t>=utf8</a:t>
            </a:r>
            <a:r>
              <a:rPr lang="zh-CN" altLang="zh-CN" sz="1800" dirty="0"/>
              <a:t>。如下图：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3. </a:t>
            </a:r>
            <a:r>
              <a:rPr lang="zh-CN" altLang="en-US" sz="1800" b="1" dirty="0"/>
              <a:t>配置中文字符编码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16"/>
          <p:cNvSpPr txBox="1"/>
          <p:nvPr/>
        </p:nvSpPr>
        <p:spPr>
          <a:xfrm>
            <a:off x="854710" y="2072363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vim /</a:t>
            </a:r>
            <a:r>
              <a:rPr lang="en-US" altLang="zh-CN" sz="1600" dirty="0" err="1">
                <a:latin typeface="+mn-ea"/>
              </a:rPr>
              <a:t>etc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mysql.conf.d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mysqld.cnf</a:t>
            </a:r>
            <a:endParaRPr lang="en-US" altLang="zh-CN" sz="1600" dirty="0">
              <a:latin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54710" y="2562963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在</a:t>
            </a:r>
            <a:r>
              <a:rPr lang="en-US" altLang="zh-CN" sz="1800" dirty="0"/>
              <a:t>[</a:t>
            </a:r>
            <a:r>
              <a:rPr lang="en-US" altLang="zh-CN" sz="1800" dirty="0" err="1"/>
              <a:t>mysqld</a:t>
            </a:r>
            <a:r>
              <a:rPr lang="en-US" altLang="zh-CN" sz="1800" dirty="0"/>
              <a:t>]</a:t>
            </a:r>
            <a:r>
              <a:rPr lang="zh-CN" altLang="zh-CN" sz="1800" dirty="0"/>
              <a:t>下添加一行</a:t>
            </a:r>
            <a:r>
              <a:rPr lang="en-US" altLang="zh-CN" sz="1800" dirty="0" err="1"/>
              <a:t>character_set_server</a:t>
            </a:r>
            <a:r>
              <a:rPr lang="en-US" altLang="zh-CN" sz="1800" dirty="0"/>
              <a:t>=utf8</a:t>
            </a:r>
            <a:r>
              <a:rPr lang="zh-CN" altLang="zh-CN" sz="1800" dirty="0"/>
              <a:t>。如下图：</a:t>
            </a:r>
          </a:p>
        </p:txBody>
      </p:sp>
      <p:pic>
        <p:nvPicPr>
          <p:cNvPr id="9" name="图片 4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2882951"/>
            <a:ext cx="5908697" cy="3767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修改字符配置文件：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3.2.3</a:t>
            </a:r>
            <a:r>
              <a:rPr lang="zh-CN" altLang="zh-CN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54710" y="1064260"/>
            <a:ext cx="6153785" cy="356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 dirty="0"/>
              <a:t>3. </a:t>
            </a:r>
            <a:r>
              <a:rPr lang="zh-CN" altLang="en-US" sz="1800" b="1" dirty="0"/>
              <a:t>配置中文字符编码</a:t>
            </a:r>
            <a:endParaRPr lang="zh-CN" altLang="zh-CN" sz="1800" b="1" dirty="0"/>
          </a:p>
        </p:txBody>
      </p:sp>
      <p:sp>
        <p:nvSpPr>
          <p:cNvPr id="5" name="五边形 25"/>
          <p:cNvSpPr/>
          <p:nvPr/>
        </p:nvSpPr>
        <p:spPr>
          <a:xfrm>
            <a:off x="527050" y="108966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4710" y="1555618"/>
            <a:ext cx="10080000" cy="432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800" dirty="0"/>
              <a:t>重启</a:t>
            </a:r>
            <a:r>
              <a:rPr lang="en-US" altLang="zh-CN" sz="1800" dirty="0"/>
              <a:t>MySQL</a:t>
            </a:r>
            <a:r>
              <a:rPr lang="zh-CN" altLang="zh-CN" sz="1800" dirty="0"/>
              <a:t>服务，并用</a:t>
            </a:r>
            <a:r>
              <a:rPr lang="en-US" altLang="zh-CN" sz="1800" dirty="0"/>
              <a:t>root</a:t>
            </a:r>
            <a:r>
              <a:rPr lang="zh-CN" altLang="zh-CN" sz="1800" dirty="0"/>
              <a:t>登录，再检查字符编码，可以发现</a:t>
            </a:r>
            <a:r>
              <a:rPr lang="en-US" altLang="zh-CN" sz="1800" dirty="0"/>
              <a:t>latin1</a:t>
            </a:r>
            <a:r>
              <a:rPr lang="zh-CN" altLang="zh-CN" sz="1800" dirty="0"/>
              <a:t>已经改为</a:t>
            </a:r>
            <a:r>
              <a:rPr lang="en-US" altLang="zh-CN" sz="1800" dirty="0"/>
              <a:t>utf8</a:t>
            </a:r>
            <a:r>
              <a:rPr lang="zh-CN" altLang="zh-CN" sz="1800" dirty="0"/>
              <a:t>。</a:t>
            </a:r>
          </a:p>
        </p:txBody>
      </p:sp>
      <p:pic>
        <p:nvPicPr>
          <p:cNvPr id="7" name="图片 5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4710" y="1988266"/>
            <a:ext cx="9620194" cy="45859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1853564"/>
            <a:ext cx="10080000" cy="4181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tar -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zxvf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/***/apache-hive-1.2.1-bin.tar.gz -C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/local/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zh-CN" altLang="en-US" b="1" dirty="0"/>
              <a:t>安装</a:t>
            </a:r>
            <a:r>
              <a:rPr lang="en-US" altLang="zh-CN" b="1" dirty="0"/>
              <a:t>Hive1.2.1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将下载的</a:t>
            </a:r>
            <a:r>
              <a:rPr lang="en-US" altLang="zh-CN" dirty="0"/>
              <a:t>Hive</a:t>
            </a:r>
            <a:r>
              <a:rPr lang="zh-CN" altLang="en-US" dirty="0"/>
              <a:t>安装文件</a:t>
            </a:r>
            <a:r>
              <a:rPr lang="en-US" altLang="zh-CN" dirty="0"/>
              <a:t>apache-hive-1.2.1-bin.tar</a:t>
            </a:r>
            <a:r>
              <a:rPr lang="zh-CN" altLang="en-US" dirty="0"/>
              <a:t>从当前放置目录解压到</a:t>
            </a:r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 </a:t>
            </a:r>
            <a:r>
              <a:rPr lang="zh-CN" altLang="en-US" dirty="0"/>
              <a:t>目录中，执行命令：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7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790" y="2454000"/>
            <a:ext cx="10105269" cy="309546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1853565"/>
            <a:ext cx="10080000" cy="11568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mv apache-hive-1.2.1-bin hive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chown</a:t>
            </a:r>
            <a:r>
              <a:rPr lang="en-US" altLang="zh-CN" sz="1600" dirty="0">
                <a:latin typeface="+mn-ea"/>
              </a:rPr>
              <a:t> -R 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: </a:t>
            </a:r>
            <a:r>
              <a:rPr lang="en-US" altLang="zh-CN" sz="1600" dirty="0" err="1">
                <a:latin typeface="+mn-ea"/>
              </a:rPr>
              <a:t>hadoop</a:t>
            </a:r>
            <a:r>
              <a:rPr lang="en-US" altLang="zh-CN" sz="1600" dirty="0">
                <a:latin typeface="+mn-ea"/>
              </a:rPr>
              <a:t> hive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zh-CN" altLang="en-US" b="1" dirty="0"/>
              <a:t>安装</a:t>
            </a:r>
            <a:r>
              <a:rPr lang="en-US" altLang="zh-CN" b="1" dirty="0"/>
              <a:t>Hive1.2.1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dirty="0"/>
              <a:t>重命名文件夹并修改权限，执行命令：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8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790" y="3192665"/>
            <a:ext cx="10339108" cy="115861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1853565"/>
            <a:ext cx="10080000" cy="11568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export HIVE_HOME=/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/local/hive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export PATH=$HIVE_HOME/bin:$PATH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export HADOOP_HOME=/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hadoop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zh-CN" altLang="en-US" b="1" dirty="0"/>
              <a:t>其他相关配置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dirty="0"/>
              <a:t>配置环境变量文件</a:t>
            </a:r>
            <a:r>
              <a:rPr lang="en-US" altLang="zh-CN" dirty="0"/>
              <a:t>~/.</a:t>
            </a:r>
            <a:r>
              <a:rPr lang="en-US" altLang="zh-CN" dirty="0" err="1"/>
              <a:t>bashrc</a:t>
            </a:r>
            <a:r>
              <a:rPr lang="zh-CN" altLang="zh-CN" dirty="0"/>
              <a:t>，在文件中添加下列内容，之后更新该文件。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9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9790" y="3082161"/>
            <a:ext cx="5856152" cy="36391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5" y="1818005"/>
            <a:ext cx="10080000" cy="6324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/local/hive/</a:t>
            </a:r>
            <a:r>
              <a:rPr lang="en-US" altLang="zh-CN" sz="1600" dirty="0" err="1">
                <a:latin typeface="+mn-ea"/>
              </a:rPr>
              <a:t>conf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+mn-ea"/>
              </a:rPr>
              <a:t>mv hive-</a:t>
            </a:r>
            <a:r>
              <a:rPr lang="en-US" altLang="zh-CN" sz="1600" dirty="0" err="1">
                <a:latin typeface="+mn-ea"/>
              </a:rPr>
              <a:t>default.xml.template</a:t>
            </a:r>
            <a:r>
              <a:rPr lang="en-US" altLang="zh-CN" sz="1600" dirty="0">
                <a:latin typeface="+mn-ea"/>
              </a:rPr>
              <a:t> hive-default.xml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zh-CN" altLang="en-US" b="1" dirty="0"/>
              <a:t>其他相关配置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34810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dirty="0"/>
              <a:t>配置</a:t>
            </a:r>
            <a:r>
              <a:rPr lang="en-US" altLang="zh-CN" dirty="0"/>
              <a:t>hive-default.xml</a:t>
            </a:r>
            <a:r>
              <a:rPr lang="zh-CN" altLang="zh-CN" dirty="0"/>
              <a:t>文件，执行命令：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756285" y="2474852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/>
              <a:t>使用</a:t>
            </a:r>
            <a:r>
              <a:rPr lang="en-US" altLang="zh-CN" dirty="0"/>
              <a:t>vim</a:t>
            </a:r>
            <a:r>
              <a:rPr lang="zh-CN" altLang="zh-CN" dirty="0"/>
              <a:t>编辑器新建</a:t>
            </a:r>
            <a:r>
              <a:rPr lang="en-US" altLang="zh-CN" dirty="0"/>
              <a:t>hive-site.xml</a:t>
            </a:r>
            <a:r>
              <a:rPr lang="zh-CN" altLang="zh-CN" dirty="0"/>
              <a:t>文件，其内容如下：</a:t>
            </a:r>
          </a:p>
        </p:txBody>
      </p:sp>
      <p:pic>
        <p:nvPicPr>
          <p:cNvPr id="14" name="图片 20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5" y="2873233"/>
            <a:ext cx="6054418" cy="376468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64515" y="1511300"/>
            <a:ext cx="9605010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&lt;?xml version="1.0" encoding="UTF-8" standalone="no"?&gt;</a:t>
            </a:r>
          </a:p>
          <a:p>
            <a:r>
              <a:rPr lang="en-US" altLang="zh-CN" sz="1200" dirty="0">
                <a:latin typeface="+mn-ea"/>
              </a:rPr>
              <a:t>&lt;?xml-stylesheet type="text/</a:t>
            </a:r>
            <a:r>
              <a:rPr lang="en-US" altLang="zh-CN" sz="1200" dirty="0" err="1">
                <a:latin typeface="+mn-ea"/>
              </a:rPr>
              <a:t>xsl</a:t>
            </a:r>
            <a:r>
              <a:rPr lang="en-US" altLang="zh-CN" sz="1200" dirty="0">
                <a:latin typeface="+mn-ea"/>
              </a:rPr>
              <a:t>" </a:t>
            </a:r>
            <a:r>
              <a:rPr lang="en-US" altLang="zh-CN" sz="1200" dirty="0" err="1">
                <a:latin typeface="+mn-ea"/>
              </a:rPr>
              <a:t>href</a:t>
            </a:r>
            <a:r>
              <a:rPr lang="en-US" altLang="zh-CN" sz="1200" dirty="0">
                <a:latin typeface="+mn-ea"/>
              </a:rPr>
              <a:t>="configuration.xsl"?&gt;</a:t>
            </a:r>
          </a:p>
          <a:p>
            <a:r>
              <a:rPr lang="en-US" altLang="zh-CN" sz="1200" dirty="0">
                <a:latin typeface="+mn-ea"/>
              </a:rPr>
              <a:t>&lt;configuration&gt;</a:t>
            </a:r>
          </a:p>
          <a:p>
            <a:r>
              <a:rPr lang="en-US" altLang="zh-CN" sz="1200" dirty="0">
                <a:latin typeface="+mn-ea"/>
              </a:rPr>
              <a:t>        &lt;property&gt;</a:t>
            </a:r>
          </a:p>
          <a:p>
            <a:r>
              <a:rPr lang="en-US" altLang="zh-CN" sz="1200" dirty="0">
                <a:latin typeface="+mn-ea"/>
              </a:rPr>
              <a:t>             &lt;name&gt;</a:t>
            </a:r>
            <a:r>
              <a:rPr lang="en-US" altLang="zh-CN" sz="1200" dirty="0" err="1">
                <a:latin typeface="+mn-ea"/>
              </a:rPr>
              <a:t>javax.jdo.option.ConnectionURL</a:t>
            </a:r>
            <a:r>
              <a:rPr lang="en-US" altLang="zh-CN" sz="1200" dirty="0">
                <a:latin typeface="+mn-ea"/>
              </a:rPr>
              <a:t>&lt;/name&gt;</a:t>
            </a:r>
          </a:p>
          <a:p>
            <a:r>
              <a:rPr lang="en-US" altLang="zh-CN" sz="1200" dirty="0">
                <a:latin typeface="+mn-ea"/>
              </a:rPr>
              <a:t>             &lt;value&gt;</a:t>
            </a:r>
            <a:r>
              <a:rPr lang="en-US" altLang="zh-CN" sz="1200" dirty="0" err="1">
                <a:latin typeface="+mn-ea"/>
              </a:rPr>
              <a:t>jdbc:mysql</a:t>
            </a:r>
            <a:r>
              <a:rPr lang="en-US" altLang="zh-CN" sz="1200" dirty="0">
                <a:latin typeface="+mn-ea"/>
              </a:rPr>
              <a:t>://localhost:3306/</a:t>
            </a:r>
            <a:r>
              <a:rPr lang="en-US" altLang="zh-CN" sz="1200" dirty="0" err="1">
                <a:latin typeface="+mn-ea"/>
              </a:rPr>
              <a:t>hive?createDatabaseIfNotExist</a:t>
            </a:r>
            <a:r>
              <a:rPr lang="en-US" altLang="zh-CN" sz="1200" dirty="0">
                <a:latin typeface="+mn-ea"/>
              </a:rPr>
              <a:t>=true&lt;/value&gt;</a:t>
            </a:r>
          </a:p>
          <a:p>
            <a:r>
              <a:rPr lang="en-US" altLang="zh-CN" sz="1200" dirty="0">
                <a:latin typeface="+mn-ea"/>
              </a:rPr>
              <a:t>             &lt;description&gt;JDBC connect string for a JDBC </a:t>
            </a:r>
            <a:r>
              <a:rPr lang="en-US" altLang="zh-CN" sz="1200" dirty="0" err="1">
                <a:latin typeface="+mn-ea"/>
              </a:rPr>
              <a:t>metastore</a:t>
            </a:r>
            <a:r>
              <a:rPr lang="en-US" altLang="zh-CN" sz="1200" dirty="0">
                <a:latin typeface="+mn-ea"/>
              </a:rPr>
              <a:t>&lt;/description&gt;</a:t>
            </a:r>
          </a:p>
          <a:p>
            <a:r>
              <a:rPr lang="en-US" altLang="zh-CN" sz="1200" dirty="0">
                <a:latin typeface="+mn-ea"/>
              </a:rPr>
              <a:t>        &lt;/property&gt;</a:t>
            </a:r>
          </a:p>
          <a:p>
            <a:r>
              <a:rPr lang="en-US" altLang="zh-CN" sz="1200" dirty="0">
                <a:latin typeface="+mn-ea"/>
              </a:rPr>
              <a:t>        &lt;property&gt;</a:t>
            </a:r>
          </a:p>
          <a:p>
            <a:r>
              <a:rPr lang="en-US" altLang="zh-CN" sz="1200" dirty="0">
                <a:latin typeface="+mn-ea"/>
              </a:rPr>
              <a:t>             &lt;name&gt;</a:t>
            </a:r>
            <a:r>
              <a:rPr lang="en-US" altLang="zh-CN" sz="1200" dirty="0" err="1">
                <a:latin typeface="+mn-ea"/>
              </a:rPr>
              <a:t>javax.jdo.option.ConnectionDriverName</a:t>
            </a:r>
            <a:r>
              <a:rPr lang="en-US" altLang="zh-CN" sz="1200" dirty="0">
                <a:latin typeface="+mn-ea"/>
              </a:rPr>
              <a:t>&lt;/name&gt;</a:t>
            </a:r>
          </a:p>
          <a:p>
            <a:r>
              <a:rPr lang="en-US" altLang="zh-CN" sz="1200" dirty="0">
                <a:latin typeface="+mn-ea"/>
              </a:rPr>
              <a:t>              &lt;value&gt;</a:t>
            </a:r>
            <a:r>
              <a:rPr lang="en-US" altLang="zh-CN" sz="1200" dirty="0" err="1">
                <a:latin typeface="+mn-ea"/>
              </a:rPr>
              <a:t>com.mysql.jdbc.Driver</a:t>
            </a:r>
            <a:r>
              <a:rPr lang="en-US" altLang="zh-CN" sz="1200" dirty="0">
                <a:latin typeface="+mn-ea"/>
              </a:rPr>
              <a:t>&lt;/value&gt;</a:t>
            </a:r>
          </a:p>
          <a:p>
            <a:r>
              <a:rPr lang="en-US" altLang="zh-CN" sz="1200" dirty="0">
                <a:latin typeface="+mn-ea"/>
              </a:rPr>
              <a:t>              &lt;description&gt;Driver class name for a JDBC </a:t>
            </a:r>
            <a:r>
              <a:rPr lang="en-US" altLang="zh-CN" sz="1200" dirty="0" err="1">
                <a:latin typeface="+mn-ea"/>
              </a:rPr>
              <a:t>metastore</a:t>
            </a:r>
            <a:r>
              <a:rPr lang="en-US" altLang="zh-CN" sz="1200" dirty="0">
                <a:latin typeface="+mn-ea"/>
              </a:rPr>
              <a:t>&lt;/description&gt;</a:t>
            </a:r>
          </a:p>
          <a:p>
            <a:r>
              <a:rPr lang="en-US" altLang="zh-CN" sz="1200" dirty="0">
                <a:latin typeface="+mn-ea"/>
              </a:rPr>
              <a:t>        &lt;/property&gt;</a:t>
            </a:r>
          </a:p>
          <a:p>
            <a:r>
              <a:rPr lang="en-US" altLang="zh-CN" sz="1200" dirty="0">
                <a:latin typeface="+mn-ea"/>
              </a:rPr>
              <a:t>        &lt;property&gt;</a:t>
            </a:r>
          </a:p>
          <a:p>
            <a:r>
              <a:rPr lang="en-US" altLang="zh-CN" sz="1200" dirty="0">
                <a:latin typeface="+mn-ea"/>
              </a:rPr>
              <a:t>              &lt;name&gt;</a:t>
            </a:r>
            <a:r>
              <a:rPr lang="en-US" altLang="zh-CN" sz="1200" dirty="0" err="1">
                <a:latin typeface="+mn-ea"/>
              </a:rPr>
              <a:t>javax.jdo.option.ConnectionUserName</a:t>
            </a:r>
            <a:r>
              <a:rPr lang="en-US" altLang="zh-CN" sz="1200" dirty="0">
                <a:latin typeface="+mn-ea"/>
              </a:rPr>
              <a:t>&lt;/name&gt;</a:t>
            </a:r>
          </a:p>
          <a:p>
            <a:r>
              <a:rPr lang="en-US" altLang="zh-CN" sz="1200" dirty="0">
                <a:latin typeface="+mn-ea"/>
              </a:rPr>
              <a:t>              &lt;value&gt;hive&lt;/value&gt;</a:t>
            </a:r>
          </a:p>
          <a:p>
            <a:r>
              <a:rPr lang="en-US" altLang="zh-CN" sz="1200" dirty="0">
                <a:latin typeface="+mn-ea"/>
              </a:rPr>
              <a:t>              &lt;description&gt;username to use against </a:t>
            </a:r>
            <a:r>
              <a:rPr lang="en-US" altLang="zh-CN" sz="1200" dirty="0" err="1">
                <a:latin typeface="+mn-ea"/>
              </a:rPr>
              <a:t>metastore</a:t>
            </a:r>
            <a:r>
              <a:rPr lang="en-US" altLang="zh-CN" sz="1200" dirty="0">
                <a:latin typeface="+mn-ea"/>
              </a:rPr>
              <a:t> database&lt;/description&gt;</a:t>
            </a:r>
          </a:p>
          <a:p>
            <a:r>
              <a:rPr lang="en-US" altLang="zh-CN" sz="1200" dirty="0">
                <a:latin typeface="+mn-ea"/>
              </a:rPr>
              <a:t>        &lt;/property&gt;</a:t>
            </a:r>
          </a:p>
          <a:p>
            <a:r>
              <a:rPr lang="en-US" altLang="zh-CN" sz="1200" dirty="0">
                <a:latin typeface="+mn-ea"/>
              </a:rPr>
              <a:t>        &lt;property&gt;</a:t>
            </a:r>
          </a:p>
          <a:p>
            <a:r>
              <a:rPr lang="en-US" altLang="zh-CN" sz="1200" dirty="0">
                <a:latin typeface="+mn-ea"/>
              </a:rPr>
              <a:t>              &lt;name&gt;</a:t>
            </a:r>
            <a:r>
              <a:rPr lang="en-US" altLang="zh-CN" sz="1200" dirty="0" err="1">
                <a:latin typeface="+mn-ea"/>
              </a:rPr>
              <a:t>javax.jdo.option.ConnectionPassword</a:t>
            </a:r>
            <a:r>
              <a:rPr lang="en-US" altLang="zh-CN" sz="1200" dirty="0">
                <a:latin typeface="+mn-ea"/>
              </a:rPr>
              <a:t>&lt;/name&gt;</a:t>
            </a:r>
          </a:p>
          <a:p>
            <a:r>
              <a:rPr lang="en-US" altLang="zh-CN" sz="1200" dirty="0">
                <a:latin typeface="+mn-ea"/>
              </a:rPr>
              <a:t>              &lt;value&gt;hive&lt;/value&gt;</a:t>
            </a:r>
          </a:p>
          <a:p>
            <a:r>
              <a:rPr lang="en-US" altLang="zh-CN" sz="1200" dirty="0">
                <a:latin typeface="+mn-ea"/>
              </a:rPr>
              <a:t>              &lt;description&gt;password to use against </a:t>
            </a:r>
            <a:r>
              <a:rPr lang="en-US" altLang="zh-CN" sz="1200" dirty="0" err="1">
                <a:latin typeface="+mn-ea"/>
              </a:rPr>
              <a:t>metastore</a:t>
            </a:r>
            <a:r>
              <a:rPr lang="en-US" altLang="zh-CN" sz="1200" dirty="0">
                <a:latin typeface="+mn-ea"/>
              </a:rPr>
              <a:t> database&lt;/description&gt;</a:t>
            </a:r>
          </a:p>
          <a:p>
            <a:r>
              <a:rPr lang="en-US" altLang="zh-CN" sz="1200" dirty="0">
                <a:latin typeface="+mn-ea"/>
              </a:rPr>
              <a:t>        &lt;/property&gt;</a:t>
            </a:r>
          </a:p>
          <a:p>
            <a:r>
              <a:rPr lang="en-US" altLang="zh-CN" sz="1200" dirty="0">
                <a:latin typeface="+mn-ea"/>
              </a:rPr>
              <a:t>&lt;/configuration&gt;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zh-CN" altLang="en-US" b="1" dirty="0"/>
              <a:t>其他相关配置</a:t>
            </a:r>
            <a:endParaRPr lang="zh-CN" altLang="en-US" sz="1800" b="1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652145" y="1115060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/>
              <a:t>使用</a:t>
            </a:r>
            <a:r>
              <a:rPr lang="en-US" altLang="zh-CN" dirty="0"/>
              <a:t>vim</a:t>
            </a:r>
            <a:r>
              <a:rPr lang="zh-CN" altLang="zh-CN" dirty="0"/>
              <a:t>编辑器新建</a:t>
            </a:r>
            <a:r>
              <a:rPr lang="en-US" altLang="zh-CN" dirty="0"/>
              <a:t>hive-site.xml</a:t>
            </a:r>
            <a:r>
              <a:rPr lang="zh-CN" altLang="zh-CN" dirty="0"/>
              <a:t>文件，其</a:t>
            </a:r>
            <a:r>
              <a:rPr lang="zh-CN" altLang="en-US" dirty="0"/>
              <a:t>代码</a:t>
            </a:r>
            <a:r>
              <a:rPr lang="zh-CN" altLang="zh-CN" dirty="0"/>
              <a:t>如下：</a:t>
            </a:r>
          </a:p>
        </p:txBody>
      </p:sp>
      <p:sp>
        <p:nvSpPr>
          <p:cNvPr id="3" name="矩形 2"/>
          <p:cNvSpPr/>
          <p:nvPr/>
        </p:nvSpPr>
        <p:spPr>
          <a:xfrm>
            <a:off x="762194" y="6062523"/>
            <a:ext cx="5609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这里连接密码</a:t>
            </a:r>
            <a:r>
              <a:rPr lang="en-US" altLang="zh-CN" dirty="0" err="1"/>
              <a:t>ConnectionPassword</a:t>
            </a:r>
            <a:r>
              <a:rPr lang="zh-CN" altLang="en-US" dirty="0"/>
              <a:t>读者可以自行设置。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4" y="2643847"/>
            <a:ext cx="10080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tar -</a:t>
            </a:r>
            <a:r>
              <a:rPr lang="en-US" altLang="zh-CN" sz="1600" dirty="0" err="1">
                <a:latin typeface="+mn-ea"/>
              </a:rPr>
              <a:t>zxvf</a:t>
            </a:r>
            <a:r>
              <a:rPr lang="en-US" altLang="zh-CN" sz="1600" dirty="0">
                <a:latin typeface="+mn-ea"/>
              </a:rPr>
              <a:t> ./mysql-connector-java-5.1.40.tar.gz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cp ./mysql-connector-java-5.1.40/mysql-connector-java-5.1.40-bin.jar 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/local/hive/lib 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/>
              <a:t>1</a:t>
            </a:r>
            <a:r>
              <a:rPr lang="zh-CN" altLang="en-US"/>
              <a:t>）解压</a:t>
            </a:r>
            <a:r>
              <a:rPr lang="en-US" altLang="zh-CN"/>
              <a:t>mysql jdbc </a:t>
            </a:r>
            <a:r>
              <a:rPr lang="zh-CN" altLang="en-US"/>
              <a:t>包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756284" y="1656825"/>
            <a:ext cx="10080000" cy="901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将下载的</a:t>
            </a:r>
            <a:r>
              <a:rPr lang="en-US" altLang="zh-CN" dirty="0" err="1"/>
              <a:t>mysql</a:t>
            </a:r>
            <a:r>
              <a:rPr lang="en-US" altLang="zh-CN" dirty="0"/>
              <a:t> </a:t>
            </a:r>
            <a:r>
              <a:rPr lang="en-US" altLang="zh-CN" dirty="0" err="1"/>
              <a:t>jdbc</a:t>
            </a:r>
            <a:r>
              <a:rPr lang="en-US" altLang="zh-CN" dirty="0"/>
              <a:t> </a:t>
            </a:r>
            <a:r>
              <a:rPr lang="zh-CN" altLang="en-US" dirty="0"/>
              <a:t>包</a:t>
            </a:r>
            <a:r>
              <a:rPr lang="en-US" altLang="zh-CN" dirty="0"/>
              <a:t>mysql-connector-java-5.1.40.tar</a:t>
            </a:r>
            <a:r>
              <a:rPr lang="zh-CN" altLang="en-US" dirty="0"/>
              <a:t>（</a:t>
            </a:r>
            <a:r>
              <a:rPr lang="en-US" altLang="zh-CN" dirty="0">
                <a:highlight>
                  <a:srgbClr val="FFFF00"/>
                </a:highlight>
              </a:rPr>
              <a:t>MySQL8.0: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mysql-connector-java-5.1.49.tar </a:t>
            </a:r>
            <a:r>
              <a:rPr lang="zh-CN" altLang="en-US" dirty="0"/>
              <a:t>）在当前目录解压，复制</a:t>
            </a:r>
            <a:r>
              <a:rPr lang="en-US" altLang="zh-CN" dirty="0"/>
              <a:t>jar</a:t>
            </a:r>
            <a:r>
              <a:rPr lang="zh-CN" altLang="en-US" dirty="0"/>
              <a:t>包到</a:t>
            </a:r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/local/hive/lib </a:t>
            </a:r>
            <a:r>
              <a:rPr lang="zh-CN" altLang="en-US" dirty="0"/>
              <a:t>目录中，执行以下命令：</a:t>
            </a:r>
            <a:endParaRPr lang="zh-CN" altLang="zh-CN" dirty="0"/>
          </a:p>
        </p:txBody>
      </p:sp>
      <p:grpSp>
        <p:nvGrpSpPr>
          <p:cNvPr id="3" name="Group 2"/>
          <p:cNvGrpSpPr/>
          <p:nvPr/>
        </p:nvGrpSpPr>
        <p:grpSpPr>
          <a:xfrm>
            <a:off x="756284" y="3560519"/>
            <a:ext cx="9667181" cy="2795702"/>
            <a:chOff x="756284" y="3560519"/>
            <a:chExt cx="9667181" cy="2795702"/>
          </a:xfrm>
        </p:grpSpPr>
        <p:pic>
          <p:nvPicPr>
            <p:cNvPr id="14" name="图片 1"/>
            <p:cNvPicPr/>
            <p:nvPr/>
          </p:nvPicPr>
          <p:blipFill>
            <a:blip r:embed="rId3">
              <a:grayscl/>
            </a:blip>
            <a:srcRect b="55191"/>
            <a:stretch>
              <a:fillRect/>
            </a:stretch>
          </p:blipFill>
          <p:spPr>
            <a:xfrm>
              <a:off x="756285" y="3560519"/>
              <a:ext cx="9650604" cy="19359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图片 2"/>
            <p:cNvPicPr/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756284" y="5496450"/>
              <a:ext cx="9667181" cy="85977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5" y="1743391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service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restart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-h localhost -u root -p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）启动并登录</a:t>
            </a:r>
            <a:r>
              <a:rPr lang="en-US" altLang="zh-CN" dirty="0"/>
              <a:t>MySQL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5" y="2713159"/>
            <a:ext cx="10021381" cy="386106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5" y="2651583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create database hive;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zh-CN" dirty="0"/>
              <a:t>）新建</a:t>
            </a:r>
            <a:r>
              <a:rPr lang="en-US" altLang="zh-CN" dirty="0"/>
              <a:t>hive</a:t>
            </a:r>
            <a:r>
              <a:rPr lang="zh-CN" altLang="zh-CN" dirty="0"/>
              <a:t>数据库</a:t>
            </a:r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285" y="1494717"/>
            <a:ext cx="10080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新建</a:t>
            </a:r>
            <a:r>
              <a:rPr lang="en-US" altLang="zh-CN" dirty="0"/>
              <a:t>hive</a:t>
            </a:r>
            <a:r>
              <a:rPr lang="zh-CN" altLang="en-US" dirty="0"/>
              <a:t>数据库与</a:t>
            </a:r>
            <a:r>
              <a:rPr lang="en-US" altLang="zh-CN" dirty="0"/>
              <a:t>hive-site.xml</a:t>
            </a:r>
            <a:r>
              <a:rPr lang="zh-CN" altLang="en-US" dirty="0"/>
              <a:t>中</a:t>
            </a:r>
            <a:r>
              <a:rPr lang="en-US" altLang="zh-CN" dirty="0"/>
              <a:t>localhost:3306/hive</a:t>
            </a:r>
            <a:r>
              <a:rPr lang="zh-CN" altLang="en-US" dirty="0"/>
              <a:t>的</a:t>
            </a:r>
            <a:r>
              <a:rPr lang="en-US" altLang="zh-CN" dirty="0"/>
              <a:t>hive</a:t>
            </a:r>
            <a:r>
              <a:rPr lang="zh-CN" altLang="en-US" dirty="0"/>
              <a:t>对应，用来保存</a:t>
            </a:r>
            <a:r>
              <a:rPr lang="en-US" altLang="zh-CN" dirty="0"/>
              <a:t>Hive</a:t>
            </a:r>
            <a:r>
              <a:rPr lang="zh-CN" altLang="en-US" dirty="0"/>
              <a:t>元数据。在</a:t>
            </a:r>
            <a:r>
              <a:rPr lang="en-US" altLang="zh-CN" dirty="0"/>
              <a:t>MySQL</a:t>
            </a:r>
            <a:r>
              <a:rPr lang="zh-CN" altLang="en-US" dirty="0"/>
              <a:t>交互界面中，执行命令：</a:t>
            </a:r>
          </a:p>
        </p:txBody>
      </p:sp>
      <p:pic>
        <p:nvPicPr>
          <p:cNvPr id="14" name="图片 4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5" y="3223673"/>
            <a:ext cx="7243496" cy="137985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4" y="1864049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grant all on *.* to </a:t>
            </a:r>
            <a:r>
              <a:rPr lang="en-US" altLang="zh-CN" sz="1600" dirty="0" err="1">
                <a:latin typeface="+mn-ea"/>
              </a:rPr>
              <a:t>hive@localhost</a:t>
            </a:r>
            <a:r>
              <a:rPr lang="en-US" altLang="zh-CN" sz="1600" dirty="0">
                <a:latin typeface="+mn-ea"/>
              </a:rPr>
              <a:t> identified by 'hive';</a:t>
            </a:r>
            <a:r>
              <a:rPr lang="zh-CN" altLang="en-US" sz="1600" dirty="0">
                <a:highlight>
                  <a:srgbClr val="FFFF00"/>
                </a:highlight>
              </a:rPr>
              <a:t> （</a:t>
            </a:r>
            <a:r>
              <a:rPr lang="en-US" altLang="zh-CN" sz="1600" dirty="0">
                <a:highlight>
                  <a:srgbClr val="FFFF00"/>
                </a:highlight>
              </a:rPr>
              <a:t>MySQL 5.7</a:t>
            </a:r>
            <a:r>
              <a:rPr lang="zh-CN" altLang="en-US" sz="1600" dirty="0">
                <a:highlight>
                  <a:srgbClr val="FFFF00"/>
                </a:highlight>
              </a:rPr>
              <a:t>）</a:t>
            </a:r>
            <a:r>
              <a:rPr lang="en-US" altLang="zh-CN" sz="1600" dirty="0">
                <a:latin typeface="+mn-ea"/>
              </a:rPr>
              <a:t> 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）配置</a:t>
            </a:r>
            <a:r>
              <a:rPr lang="en-US" altLang="zh-CN" dirty="0"/>
              <a:t>MySQL</a:t>
            </a:r>
            <a:r>
              <a:rPr lang="zh-CN" altLang="en-US" dirty="0"/>
              <a:t>允许</a:t>
            </a:r>
            <a:r>
              <a:rPr lang="en-US" altLang="zh-CN" dirty="0"/>
              <a:t>Hive</a:t>
            </a:r>
            <a:r>
              <a:rPr lang="zh-CN" altLang="en-US" dirty="0"/>
              <a:t>接入</a:t>
            </a:r>
            <a:endParaRPr lang="zh-CN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284" y="1494717"/>
            <a:ext cx="7209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交互界面中，执行命令：</a:t>
            </a:r>
          </a:p>
        </p:txBody>
      </p:sp>
      <p:sp>
        <p:nvSpPr>
          <p:cNvPr id="3" name="矩形 2"/>
          <p:cNvSpPr/>
          <p:nvPr/>
        </p:nvSpPr>
        <p:spPr>
          <a:xfrm>
            <a:off x="652145" y="2880869"/>
            <a:ext cx="103713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即将所有数据库的所有表的所有权限赋给</a:t>
            </a:r>
            <a:r>
              <a:rPr lang="en-US" altLang="zh-CN" dirty="0"/>
              <a:t>hive</a:t>
            </a:r>
            <a:r>
              <a:rPr lang="zh-CN" altLang="en-US" dirty="0"/>
              <a:t>用户，后面的</a:t>
            </a:r>
            <a:r>
              <a:rPr lang="en-US" altLang="zh-CN" dirty="0"/>
              <a:t>hive</a:t>
            </a:r>
            <a:r>
              <a:rPr lang="zh-CN" altLang="en-US" dirty="0"/>
              <a:t>是配置</a:t>
            </a:r>
            <a:r>
              <a:rPr lang="en-US" altLang="zh-CN" dirty="0"/>
              <a:t>hive-site.xml</a:t>
            </a:r>
            <a:r>
              <a:rPr lang="zh-CN" altLang="en-US" dirty="0"/>
              <a:t>中配置的连接密码。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交互界面中，刷新系统权限关系表，执行命令：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56284" y="3775094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flush privileges; </a:t>
            </a:r>
            <a:endParaRPr lang="zh-CN" altLang="zh-CN" sz="1600" dirty="0">
              <a:latin typeface="+mn-ea"/>
            </a:endParaRPr>
          </a:p>
        </p:txBody>
      </p:sp>
      <p:pic>
        <p:nvPicPr>
          <p:cNvPr id="16" name="图片 5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756284" y="4121531"/>
            <a:ext cx="7342974" cy="262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C153901-4C49-4AA1-BDFC-C879C7C61358}"/>
              </a:ext>
            </a:extLst>
          </p:cNvPr>
          <p:cNvSpPr txBox="1"/>
          <p:nvPr/>
        </p:nvSpPr>
        <p:spPr>
          <a:xfrm>
            <a:off x="756284" y="2310845"/>
            <a:ext cx="10080000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&gt; </a:t>
            </a:r>
            <a:r>
              <a:rPr lang="en-US" altLang="zh-CN" sz="1600" dirty="0"/>
              <a:t>create user ‘</a:t>
            </a:r>
            <a:r>
              <a:rPr lang="en-US" altLang="zh-CN" sz="1600" dirty="0" err="1"/>
              <a:t>hive’@‘localhost</a:t>
            </a:r>
            <a:r>
              <a:rPr lang="en-US" altLang="zh-CN" sz="1600" dirty="0"/>
              <a:t>’ identified with </a:t>
            </a:r>
            <a:r>
              <a:rPr lang="en-US" altLang="zh-CN" sz="1600" dirty="0" err="1"/>
              <a:t>mysql_native_password</a:t>
            </a:r>
            <a:r>
              <a:rPr lang="en-US" altLang="zh-CN" sz="1600" dirty="0"/>
              <a:t> by ‘hive’; </a:t>
            </a:r>
            <a:r>
              <a:rPr lang="zh-CN" altLang="en-US" sz="1600" dirty="0">
                <a:highlight>
                  <a:srgbClr val="FFFF00"/>
                </a:highlight>
              </a:rPr>
              <a:t>（</a:t>
            </a:r>
            <a:r>
              <a:rPr lang="en-US" altLang="zh-CN" sz="1600" dirty="0">
                <a:highlight>
                  <a:srgbClr val="FFFF00"/>
                </a:highlight>
              </a:rPr>
              <a:t>MySQL 8.0</a:t>
            </a:r>
            <a:r>
              <a:rPr lang="zh-CN" altLang="en-US" sz="1600" dirty="0">
                <a:highlight>
                  <a:srgbClr val="FFFF00"/>
                </a:highlight>
              </a:rPr>
              <a:t>）</a:t>
            </a:r>
            <a:endParaRPr lang="en-US" altLang="zh-CN" sz="1600" dirty="0">
              <a:highlight>
                <a:srgbClr val="FFFF00"/>
              </a:highlight>
            </a:endParaRPr>
          </a:p>
          <a:p>
            <a:r>
              <a:rPr lang="en-US" altLang="zh-CN" sz="1600" dirty="0">
                <a:latin typeface="+mn-ea"/>
              </a:rPr>
              <a:t>             </a:t>
            </a:r>
            <a:r>
              <a:rPr lang="en-US" altLang="zh-CN" sz="1600" dirty="0"/>
              <a:t>grant all privileges on *.* to '</a:t>
            </a:r>
            <a:r>
              <a:rPr lang="en-US" altLang="zh-CN" sz="1600" dirty="0" err="1"/>
              <a:t>hive'@'localhost</a:t>
            </a:r>
            <a:r>
              <a:rPr lang="en-US" altLang="zh-CN" sz="1600" dirty="0"/>
              <a:t>';</a:t>
            </a:r>
            <a:endParaRPr lang="zh-CN" altLang="zh-CN" sz="1600" dirty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4" y="1913249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/usr/local/hadoop/sbin/start-all.sh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/local/hive/bin/hive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5</a:t>
            </a:r>
            <a:r>
              <a:rPr lang="zh-CN" altLang="en-US" dirty="0"/>
              <a:t>）启动</a:t>
            </a:r>
            <a:r>
              <a:rPr lang="en-US" altLang="zh-CN" dirty="0"/>
              <a:t>Hive</a:t>
            </a:r>
            <a:endParaRPr lang="zh-CN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284" y="1494717"/>
            <a:ext cx="7209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先启动</a:t>
            </a:r>
            <a:r>
              <a:rPr lang="en-US" altLang="zh-CN" dirty="0" err="1"/>
              <a:t>hadoop</a:t>
            </a:r>
            <a:r>
              <a:rPr lang="zh-CN" altLang="zh-CN" dirty="0"/>
              <a:t>集群，再启动</a:t>
            </a:r>
            <a:r>
              <a:rPr lang="en-US" altLang="zh-CN" dirty="0"/>
              <a:t>Hive</a:t>
            </a:r>
            <a:r>
              <a:rPr lang="zh-CN" altLang="zh-CN" dirty="0"/>
              <a:t>，执行命令：</a:t>
            </a:r>
          </a:p>
        </p:txBody>
      </p:sp>
      <p:pic>
        <p:nvPicPr>
          <p:cNvPr id="13" name="图片 6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4" y="2749972"/>
            <a:ext cx="8559932" cy="1883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7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756284" y="4682358"/>
            <a:ext cx="8594269" cy="20745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3" y="2616987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hive&gt;exit;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5</a:t>
            </a:r>
            <a:r>
              <a:rPr lang="zh-CN" altLang="en-US" dirty="0"/>
              <a:t>）启动</a:t>
            </a:r>
            <a:r>
              <a:rPr lang="en-US" altLang="zh-CN" dirty="0"/>
              <a:t>Hive</a:t>
            </a:r>
            <a:endParaRPr lang="zh-CN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283" y="1494717"/>
            <a:ext cx="10080000" cy="879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出现“</a:t>
            </a:r>
            <a:r>
              <a:rPr lang="en-US" altLang="zh-CN" dirty="0"/>
              <a:t>hive&gt;”</a:t>
            </a:r>
            <a:r>
              <a:rPr lang="zh-CN" altLang="en-US" dirty="0"/>
              <a:t>提示符，表明</a:t>
            </a:r>
            <a:r>
              <a:rPr lang="en-US" altLang="zh-CN" dirty="0"/>
              <a:t>Hive</a:t>
            </a:r>
            <a:r>
              <a:rPr lang="zh-CN" altLang="en-US" dirty="0"/>
              <a:t>成功启动。这时，可以在里面输入</a:t>
            </a:r>
            <a:r>
              <a:rPr lang="en-US" altLang="zh-CN" dirty="0"/>
              <a:t>SQL</a:t>
            </a:r>
            <a:r>
              <a:rPr lang="zh-CN" altLang="en-US" dirty="0"/>
              <a:t>语句。如果要退出</a:t>
            </a:r>
            <a:r>
              <a:rPr lang="en-US" altLang="zh-CN" dirty="0"/>
              <a:t>Hive</a:t>
            </a:r>
            <a:r>
              <a:rPr lang="zh-CN" altLang="en-US" dirty="0"/>
              <a:t>交互式执行环境，可以输入如下命令：</a:t>
            </a:r>
            <a:endParaRPr lang="zh-CN" altLang="zh-CN" dirty="0"/>
          </a:p>
        </p:txBody>
      </p:sp>
      <p:pic>
        <p:nvPicPr>
          <p:cNvPr id="14" name="图片 8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3" y="3198723"/>
            <a:ext cx="10080000" cy="53642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6284" y="1932198"/>
            <a:ext cx="10200750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cd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/local/hive/</a:t>
            </a:r>
            <a:r>
              <a:rPr lang="en-US" altLang="zh-CN" sz="1600" dirty="0" err="1">
                <a:latin typeface="+mn-ea"/>
              </a:rPr>
              <a:t>conf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vim hive-site.xml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5</a:t>
            </a:r>
            <a:r>
              <a:rPr lang="zh-CN" altLang="en-US" dirty="0"/>
              <a:t>）启动</a:t>
            </a:r>
            <a:r>
              <a:rPr lang="en-US" altLang="zh-CN" dirty="0"/>
              <a:t>Hive</a:t>
            </a:r>
            <a:endParaRPr lang="zh-CN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283" y="1494717"/>
            <a:ext cx="10200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这里警告信息提示</a:t>
            </a:r>
            <a:r>
              <a:rPr lang="zh-CN" altLang="zh-CN" dirty="0">
                <a:highlight>
                  <a:srgbClr val="FFFF00"/>
                </a:highlight>
              </a:rPr>
              <a:t>，</a:t>
            </a:r>
            <a:r>
              <a:rPr lang="zh-CN" altLang="zh-CN" dirty="0"/>
              <a:t>出现的原因是需要显式指定是否进行</a:t>
            </a:r>
            <a:r>
              <a:rPr lang="en-US" altLang="zh-CN" dirty="0"/>
              <a:t>SSL</a:t>
            </a:r>
            <a:r>
              <a:rPr lang="zh-CN" altLang="zh-CN" dirty="0"/>
              <a:t>连接。解决办法如下：</a:t>
            </a:r>
          </a:p>
        </p:txBody>
      </p:sp>
      <p:sp>
        <p:nvSpPr>
          <p:cNvPr id="3" name="矩形 2"/>
          <p:cNvSpPr/>
          <p:nvPr/>
        </p:nvSpPr>
        <p:spPr>
          <a:xfrm>
            <a:off x="756284" y="2554854"/>
            <a:ext cx="10200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将其中</a:t>
            </a:r>
            <a:r>
              <a:rPr lang="en-US" altLang="zh-CN" dirty="0"/>
              <a:t>&lt;value&gt;</a:t>
            </a:r>
            <a:r>
              <a:rPr lang="en-US" altLang="zh-CN" dirty="0" err="1"/>
              <a:t>jdbc:mysql</a:t>
            </a:r>
            <a:r>
              <a:rPr lang="en-US" altLang="zh-CN" dirty="0"/>
              <a:t>://localhost:3306/</a:t>
            </a:r>
            <a:r>
              <a:rPr lang="en-US" altLang="zh-CN" dirty="0" err="1"/>
              <a:t>hive?createDatabaseIfNotExist</a:t>
            </a:r>
            <a:r>
              <a:rPr lang="en-US" altLang="zh-CN" dirty="0"/>
              <a:t>=true&lt;/value&gt;</a:t>
            </a:r>
            <a:r>
              <a:rPr lang="zh-CN" altLang="en-US" dirty="0"/>
              <a:t>改成：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56284" y="3056322"/>
            <a:ext cx="1020075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&lt;value&gt;</a:t>
            </a:r>
            <a:r>
              <a:rPr lang="en-US" altLang="zh-CN" sz="1600" dirty="0" err="1">
                <a:latin typeface="+mn-ea"/>
              </a:rPr>
              <a:t>jdbc:mysql</a:t>
            </a:r>
            <a:r>
              <a:rPr lang="en-US" altLang="zh-CN" sz="1600" dirty="0">
                <a:latin typeface="+mn-ea"/>
              </a:rPr>
              <a:t>://localhost:3306/</a:t>
            </a:r>
            <a:r>
              <a:rPr lang="en-US" altLang="zh-CN" sz="1600" dirty="0" err="1">
                <a:latin typeface="+mn-ea"/>
              </a:rPr>
              <a:t>hive?createDatabaseIfNotExist</a:t>
            </a:r>
            <a:r>
              <a:rPr lang="en-US" altLang="zh-CN" sz="1600" dirty="0">
                <a:latin typeface="+mn-ea"/>
              </a:rPr>
              <a:t>=</a:t>
            </a:r>
            <a:r>
              <a:rPr lang="en-US" altLang="zh-CN" sz="1600" dirty="0" err="1">
                <a:latin typeface="+mn-ea"/>
              </a:rPr>
              <a:t>true&amp;amp;useSSL</a:t>
            </a:r>
            <a:r>
              <a:rPr lang="en-US" altLang="zh-CN" sz="1600" dirty="0">
                <a:latin typeface="+mn-ea"/>
              </a:rPr>
              <a:t>=false &lt;/value&gt;</a:t>
            </a:r>
            <a:endParaRPr lang="zh-CN" altLang="zh-CN" sz="1600" dirty="0">
              <a:latin typeface="+mn-ea"/>
            </a:endParaRPr>
          </a:p>
        </p:txBody>
      </p:sp>
      <p:pic>
        <p:nvPicPr>
          <p:cNvPr id="16" name="图片 9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2" y="3394876"/>
            <a:ext cx="5413111" cy="332647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3.2.4 </a:t>
            </a:r>
            <a:r>
              <a:rPr lang="zh-CN" altLang="en-US" dirty="0"/>
              <a:t>安装</a:t>
            </a:r>
            <a:r>
              <a:rPr lang="en-US" altLang="zh-CN" dirty="0"/>
              <a:t>Hive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</a:t>
            </a:r>
            <a:r>
              <a:rPr lang="zh-CN" altLang="zh-CN" b="1" dirty="0"/>
              <a:t>用</a:t>
            </a:r>
            <a:r>
              <a:rPr lang="en-US" altLang="zh-CN" b="1" dirty="0"/>
              <a:t>MySQL</a:t>
            </a:r>
            <a:r>
              <a:rPr lang="zh-CN" altLang="zh-CN" b="1" dirty="0"/>
              <a:t>保存</a:t>
            </a:r>
            <a:r>
              <a:rPr lang="en-US" altLang="zh-CN" b="1" dirty="0"/>
              <a:t>Hive</a:t>
            </a:r>
            <a:r>
              <a:rPr lang="zh-CN" altLang="zh-CN" b="1" dirty="0"/>
              <a:t>元数据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756285" y="1187131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5</a:t>
            </a:r>
            <a:r>
              <a:rPr lang="zh-CN" altLang="en-US" dirty="0"/>
              <a:t>）启动</a:t>
            </a:r>
            <a:r>
              <a:rPr lang="en-US" altLang="zh-CN" dirty="0"/>
              <a:t>Hive</a:t>
            </a:r>
            <a:endParaRPr lang="zh-CN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284" y="1633217"/>
            <a:ext cx="7209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保存退出，重启</a:t>
            </a:r>
            <a:r>
              <a:rPr lang="en-US" altLang="zh-CN" dirty="0"/>
              <a:t>hive</a:t>
            </a:r>
            <a:r>
              <a:rPr lang="zh-CN" altLang="zh-CN" dirty="0"/>
              <a:t>。</a:t>
            </a:r>
          </a:p>
        </p:txBody>
      </p:sp>
      <p:pic>
        <p:nvPicPr>
          <p:cNvPr id="12" name="图片 10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56284" y="2189477"/>
            <a:ext cx="10080000" cy="116033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3.2.5 </a:t>
            </a:r>
            <a:r>
              <a:rPr lang="zh-CN" altLang="en-US" dirty="0"/>
              <a:t>安装</a:t>
            </a:r>
            <a:r>
              <a:rPr lang="en-US" altLang="zh-CN" dirty="0" err="1"/>
              <a:t>Sqoop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89" y="2396274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tar -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zxvf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/***/sqoop-1.4.6.bin__hadoop-2.0.4-alpha.tar.gz -C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/local/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</a:t>
            </a:r>
            <a:r>
              <a:rPr lang="zh-CN" altLang="en-US" b="1" dirty="0"/>
              <a:t>安装</a:t>
            </a:r>
            <a:r>
              <a:rPr lang="en-US" b="1" dirty="0"/>
              <a:t>Sqoop1.4.6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89" y="1297305"/>
            <a:ext cx="10080000" cy="965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从在官方地址</a:t>
            </a:r>
            <a:r>
              <a:rPr lang="en-US" altLang="zh-CN" dirty="0"/>
              <a:t>http://archive.apache.org/dist/sqoop/1.4.6/ </a:t>
            </a:r>
            <a:r>
              <a:rPr lang="zh-CN" altLang="en-US" dirty="0"/>
              <a:t>下载</a:t>
            </a:r>
            <a:r>
              <a:rPr lang="en-US" altLang="zh-CN" dirty="0" err="1"/>
              <a:t>Sqoop</a:t>
            </a:r>
            <a:r>
              <a:rPr lang="zh-CN" altLang="en-US" dirty="0"/>
              <a:t>安装文件</a:t>
            </a:r>
            <a:r>
              <a:rPr lang="en-US" altLang="zh-CN" dirty="0"/>
              <a:t>sqoop-1.4.6.bin__hadoop-2.0.4-alpha.tar</a:t>
            </a:r>
            <a:r>
              <a:rPr lang="zh-CN" altLang="en-US" dirty="0"/>
              <a:t>，由当前放置目录解压到</a:t>
            </a:r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 </a:t>
            </a:r>
            <a:r>
              <a:rPr lang="zh-CN" altLang="en-US" dirty="0"/>
              <a:t>目录中，执行命令：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1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789" y="2868627"/>
            <a:ext cx="10197499" cy="665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2"/>
          <p:cNvPicPr/>
          <p:nvPr/>
        </p:nvPicPr>
        <p:blipFill>
          <a:blip r:embed="rId4">
            <a:grayscl/>
          </a:blip>
          <a:srcRect t="40469"/>
          <a:stretch>
            <a:fillRect/>
          </a:stretch>
        </p:blipFill>
        <p:spPr>
          <a:xfrm>
            <a:off x="859789" y="3667868"/>
            <a:ext cx="10225574" cy="268835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3.2.5 </a:t>
            </a:r>
            <a:r>
              <a:rPr lang="zh-CN" altLang="en-US" dirty="0"/>
              <a:t>安装</a:t>
            </a:r>
            <a:r>
              <a:rPr lang="en-US" altLang="zh-CN" dirty="0" err="1"/>
              <a:t>Sqoop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1921694"/>
            <a:ext cx="10080000" cy="11568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cd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mv sqoop-1.4.6.bin__hadoop-2.0.4-alpha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sqoop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chown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-R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hadoop:hadoop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sqoop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</a:t>
            </a:r>
            <a:r>
              <a:rPr lang="zh-CN" altLang="en-US" b="1" dirty="0"/>
              <a:t>安装</a:t>
            </a:r>
            <a:r>
              <a:rPr lang="en-US" b="1" dirty="0"/>
              <a:t>Sqoop1.4.6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08000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重命名文件夹和配置权限，执行命令：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790" y="3328923"/>
            <a:ext cx="10080000" cy="91200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3.2.5 </a:t>
            </a:r>
            <a:r>
              <a:rPr lang="zh-CN" altLang="en-US" dirty="0"/>
              <a:t>安装</a:t>
            </a:r>
            <a:r>
              <a:rPr lang="en-US" altLang="zh-CN" dirty="0" err="1"/>
              <a:t>Sqoop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1698930"/>
            <a:ext cx="10080000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cd </a:t>
            </a:r>
            <a:r>
              <a:rPr lang="en-US" altLang="zh-CN" sz="1600" dirty="0" err="1">
                <a:latin typeface="+mn-ea"/>
              </a:rPr>
              <a:t>sqoop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conf</a:t>
            </a:r>
            <a:r>
              <a:rPr lang="en-US" altLang="zh-CN" sz="1600" dirty="0">
                <a:latin typeface="+mn-ea"/>
              </a:rPr>
              <a:t>/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 err="1">
                <a:latin typeface="+mn-ea"/>
              </a:rPr>
              <a:t>cp</a:t>
            </a:r>
            <a:r>
              <a:rPr lang="en-US" altLang="zh-CN" sz="1600" dirty="0">
                <a:latin typeface="+mn-ea"/>
              </a:rPr>
              <a:t> sqoop-env-template.sh  sqoop-env.sh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</a:t>
            </a:r>
            <a:r>
              <a:rPr lang="zh-CN" altLang="en-US" b="1" dirty="0"/>
              <a:t>安装</a:t>
            </a:r>
            <a:r>
              <a:rPr lang="en-US" b="1" dirty="0"/>
              <a:t>Sqoop1.4.6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dirty="0"/>
              <a:t>修改配置文件</a:t>
            </a:r>
            <a:r>
              <a:rPr lang="en-US" altLang="zh-CN" dirty="0"/>
              <a:t>sqoop-env.sh</a:t>
            </a:r>
            <a:r>
              <a:rPr lang="zh-CN" altLang="zh-CN" dirty="0"/>
              <a:t>：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859790" y="231131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vim</a:t>
            </a:r>
            <a:r>
              <a:rPr lang="zh-CN" altLang="zh-CN" dirty="0"/>
              <a:t>编辑器修改该文件，在相应部分添写以下内容：</a:t>
            </a:r>
            <a:endParaRPr lang="zh-CN" altLang="en-US" sz="1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859790" y="2712940"/>
            <a:ext cx="10080000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export HADOOP_COMMON_HOME=/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hadoop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export HADOOP_MAPRED_HOME=/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hadoop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export HBASE_HOME=/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hbase</a:t>
            </a:r>
            <a:endParaRPr lang="zh-CN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export HIVE_HOME=/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/local/hive</a:t>
            </a:r>
            <a:endParaRPr lang="zh-CN" altLang="zh-CN" sz="1600" dirty="0">
              <a:latin typeface="+mn-ea"/>
            </a:endParaRPr>
          </a:p>
        </p:txBody>
      </p:sp>
      <p:pic>
        <p:nvPicPr>
          <p:cNvPr id="16" name="图片 14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59790" y="3817768"/>
            <a:ext cx="7635648" cy="290357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3.2.5 </a:t>
            </a:r>
            <a:r>
              <a:rPr lang="zh-CN" altLang="en-US" dirty="0"/>
              <a:t>安装</a:t>
            </a:r>
            <a:r>
              <a:rPr lang="en-US" altLang="zh-CN" dirty="0" err="1"/>
              <a:t>Sqoop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1753272"/>
            <a:ext cx="10080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export SQOOP_HOME=/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sqoop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export PATH=$PATH:$SBT_HOME/bin:$SQOOP_HOME/bin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export CLASSPATH=$CLASSPATH:$SQOOP_HOME/lib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</a:t>
            </a:r>
            <a:r>
              <a:rPr lang="zh-CN" altLang="en-US" b="1" dirty="0"/>
              <a:t>安装</a:t>
            </a:r>
            <a:r>
              <a:rPr lang="en-US" b="1" dirty="0"/>
              <a:t>Sqoop1.4.6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81278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配置环境变量文件</a:t>
            </a:r>
            <a:r>
              <a:rPr lang="en-US" altLang="zh-CN" dirty="0"/>
              <a:t>~/.</a:t>
            </a:r>
            <a:r>
              <a:rPr lang="en-US" altLang="zh-CN" dirty="0" err="1"/>
              <a:t>bashrc</a:t>
            </a:r>
            <a:r>
              <a:rPr lang="zh-CN" altLang="en-US" dirty="0"/>
              <a:t>，在文件中添加下列内容，之后更新该文件。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5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790" y="3035553"/>
            <a:ext cx="8414487" cy="352290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3.2.5 </a:t>
            </a:r>
            <a:r>
              <a:rPr lang="zh-CN" altLang="en-US" dirty="0"/>
              <a:t>安装</a:t>
            </a:r>
            <a:r>
              <a:rPr lang="en-US" altLang="zh-CN" dirty="0" err="1"/>
              <a:t>Sqoop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59790" y="2405349"/>
            <a:ext cx="1008000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cp</a:t>
            </a:r>
            <a:r>
              <a:rPr lang="en-US" altLang="zh-CN" sz="1600" dirty="0">
                <a:latin typeface="+mn-ea"/>
              </a:rPr>
              <a:t> /***/mysql-connector-java-5.1.40-bin.jar  /</a:t>
            </a:r>
            <a:r>
              <a:rPr lang="en-US" altLang="zh-CN" sz="1600" dirty="0" err="1">
                <a:latin typeface="+mn-ea"/>
              </a:rPr>
              <a:t>usr</a:t>
            </a:r>
            <a:r>
              <a:rPr lang="en-US" altLang="zh-CN" sz="1600" dirty="0">
                <a:latin typeface="+mn-ea"/>
              </a:rPr>
              <a:t>/local/</a:t>
            </a:r>
            <a:r>
              <a:rPr lang="en-US" altLang="zh-CN" sz="1600" dirty="0" err="1">
                <a:latin typeface="+mn-ea"/>
              </a:rPr>
              <a:t>sqoop</a:t>
            </a:r>
            <a:r>
              <a:rPr lang="en-US" altLang="zh-CN" sz="1600" dirty="0">
                <a:latin typeface="+mn-ea"/>
              </a:rPr>
              <a:t>/lib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</a:t>
            </a:r>
            <a:r>
              <a:rPr lang="zh-CN" altLang="en-US" b="1" dirty="0"/>
              <a:t>与</a:t>
            </a:r>
            <a:r>
              <a:rPr lang="en-US" altLang="zh-CN" b="1" dirty="0"/>
              <a:t>MySQL</a:t>
            </a:r>
            <a:r>
              <a:rPr lang="zh-CN" altLang="en-US" b="1" dirty="0"/>
              <a:t>连接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080000" cy="9571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把“</a:t>
            </a:r>
            <a:r>
              <a:rPr lang="en-US" altLang="zh-CN" dirty="0"/>
              <a:t>3.2.4</a:t>
            </a:r>
            <a:r>
              <a:rPr lang="zh-CN" altLang="en-US" dirty="0"/>
              <a:t>安装</a:t>
            </a:r>
            <a:r>
              <a:rPr lang="en-US" altLang="zh-CN" dirty="0"/>
              <a:t>Hive”</a:t>
            </a:r>
            <a:r>
              <a:rPr lang="zh-CN" altLang="en-US" dirty="0"/>
              <a:t>中同样的</a:t>
            </a:r>
            <a:r>
              <a:rPr lang="en-US" altLang="zh-CN" dirty="0"/>
              <a:t>jar</a:t>
            </a:r>
            <a:r>
              <a:rPr lang="zh-CN" altLang="en-US" dirty="0"/>
              <a:t>包</a:t>
            </a:r>
            <a:r>
              <a:rPr lang="en-US" altLang="zh-CN" dirty="0">
                <a:highlight>
                  <a:srgbClr val="FFFF00"/>
                </a:highlight>
              </a:rPr>
              <a:t>mysql-connector-java-5.1.40-bin.jar</a:t>
            </a:r>
            <a:r>
              <a:rPr lang="zh-CN" altLang="en-US" dirty="0">
                <a:highlight>
                  <a:srgbClr val="FFFF00"/>
                </a:highlight>
              </a:rPr>
              <a:t>（如果</a:t>
            </a:r>
            <a:r>
              <a:rPr lang="en-US" altLang="zh-CN" dirty="0">
                <a:highlight>
                  <a:srgbClr val="FFFF00"/>
                </a:highlight>
              </a:rPr>
              <a:t>MySQL</a:t>
            </a:r>
            <a:r>
              <a:rPr lang="zh-CN" altLang="en-US" dirty="0">
                <a:highlight>
                  <a:srgbClr val="FFFF00"/>
                </a:highlight>
              </a:rPr>
              <a:t>版本为</a:t>
            </a:r>
            <a:r>
              <a:rPr lang="en-US" altLang="zh-CN" dirty="0">
                <a:highlight>
                  <a:srgbClr val="FFFF00"/>
                </a:highlight>
              </a:rPr>
              <a:t>8.0</a:t>
            </a:r>
            <a:r>
              <a:rPr lang="zh-CN" altLang="en-US" dirty="0">
                <a:highlight>
                  <a:srgbClr val="FFFF00"/>
                </a:highlight>
              </a:rPr>
              <a:t>以上，下载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mysql-connector-java-5.1.49-bin.jar</a:t>
            </a:r>
            <a:r>
              <a:rPr lang="zh-CN" altLang="en-US" dirty="0">
                <a:highlight>
                  <a:srgbClr val="FFFF00"/>
                </a:highlight>
              </a:rPr>
              <a:t>）</a:t>
            </a:r>
            <a:r>
              <a:rPr lang="zh-CN" altLang="en-US" dirty="0"/>
              <a:t>复制到</a:t>
            </a:r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sqoop</a:t>
            </a:r>
            <a:r>
              <a:rPr lang="en-US" altLang="zh-CN" dirty="0"/>
              <a:t>/lib</a:t>
            </a:r>
            <a:r>
              <a:rPr lang="zh-CN" altLang="en-US" dirty="0"/>
              <a:t>目录中，执行以下命令：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6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59790" y="3120860"/>
            <a:ext cx="10080000" cy="60501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3.2.5 </a:t>
            </a:r>
            <a:r>
              <a:rPr lang="zh-CN" altLang="en-US" dirty="0"/>
              <a:t>安装</a:t>
            </a:r>
            <a:r>
              <a:rPr lang="en-US" altLang="zh-CN" dirty="0" err="1"/>
              <a:t>Sqoop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52145" y="1721769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sudo</a:t>
            </a:r>
            <a:r>
              <a:rPr lang="en-US" altLang="zh-CN" sz="1600" dirty="0">
                <a:latin typeface="+mn-ea"/>
              </a:rPr>
              <a:t> service 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restart</a:t>
            </a:r>
            <a:endParaRPr lang="zh-CN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+mn-ea"/>
              </a:rPr>
              <a:t>sqoop</a:t>
            </a:r>
            <a:r>
              <a:rPr lang="en-US" altLang="zh-CN" sz="1600" dirty="0">
                <a:latin typeface="+mn-ea"/>
              </a:rPr>
              <a:t> list-databases --connect </a:t>
            </a:r>
            <a:r>
              <a:rPr lang="en-US" altLang="zh-CN" sz="1600" dirty="0" err="1">
                <a:latin typeface="+mn-ea"/>
              </a:rPr>
              <a:t>jdbc:mysql</a:t>
            </a:r>
            <a:r>
              <a:rPr lang="en-US" altLang="zh-CN" sz="1600" dirty="0">
                <a:latin typeface="+mn-ea"/>
              </a:rPr>
              <a:t>://127.0.0.1:3306/ --username root -P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</a:t>
            </a:r>
            <a:r>
              <a:rPr lang="zh-CN" altLang="en-US" b="1" dirty="0"/>
              <a:t>与</a:t>
            </a:r>
            <a:r>
              <a:rPr lang="en-US" altLang="zh-CN" b="1" dirty="0"/>
              <a:t>MySQL</a:t>
            </a:r>
            <a:r>
              <a:rPr lang="zh-CN" altLang="en-US" b="1" dirty="0"/>
              <a:t>连接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652145" y="1167319"/>
            <a:ext cx="1008000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先启动</a:t>
            </a:r>
            <a:r>
              <a:rPr lang="en-US" altLang="zh-CN" dirty="0"/>
              <a:t>MySQL</a:t>
            </a:r>
            <a:r>
              <a:rPr lang="zh-CN" altLang="en-US" dirty="0"/>
              <a:t>，再测试与</a:t>
            </a:r>
            <a:r>
              <a:rPr lang="en-US" altLang="zh-CN" dirty="0"/>
              <a:t>MySQL</a:t>
            </a:r>
            <a:r>
              <a:rPr lang="zh-CN" altLang="en-US" dirty="0"/>
              <a:t>的连接，执行命令：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652145" y="2689727"/>
            <a:ext cx="1008000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MySQL</a:t>
            </a:r>
            <a:r>
              <a:rPr lang="zh-CN" altLang="zh-CN" dirty="0"/>
              <a:t>的数据库列表显示在屏幕上表示连接成功。</a:t>
            </a:r>
            <a:endParaRPr lang="zh-CN" altLang="en-US" sz="1800" dirty="0"/>
          </a:p>
        </p:txBody>
      </p:sp>
      <p:pic>
        <p:nvPicPr>
          <p:cNvPr id="14" name="图片 17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52145" y="3244177"/>
            <a:ext cx="5922076" cy="340310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3.2.6 </a:t>
            </a:r>
            <a:r>
              <a:rPr lang="zh-CN" altLang="en-US" dirty="0"/>
              <a:t>安装</a:t>
            </a:r>
            <a:r>
              <a:rPr lang="en-US" altLang="zh-CN" dirty="0"/>
              <a:t>Spark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84875" y="2032277"/>
            <a:ext cx="10080000" cy="4181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tar -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zxvf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/***/spark-2.4.0-bin-without-hadoop.tgz -C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/local/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b="1" dirty="0"/>
              <a:t> </a:t>
            </a:r>
            <a:r>
              <a:rPr lang="zh-CN" altLang="en-US" b="1" dirty="0"/>
              <a:t>安装</a:t>
            </a:r>
            <a:r>
              <a:rPr lang="en-US" altLang="zh-CN" b="1" dirty="0"/>
              <a:t>spark2.4.0</a:t>
            </a:r>
            <a:endParaRPr lang="zh-CN" altLang="en-US" sz="1800" b="1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985520" y="1115060"/>
            <a:ext cx="10079355" cy="837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把下载的</a:t>
            </a:r>
            <a:r>
              <a:rPr lang="en-US" altLang="zh-CN" dirty="0"/>
              <a:t>Spark</a:t>
            </a:r>
            <a:r>
              <a:rPr lang="zh-CN" altLang="en-US" dirty="0"/>
              <a:t>安装文件</a:t>
            </a:r>
            <a:r>
              <a:rPr lang="en-US" altLang="zh-CN" dirty="0"/>
              <a:t>spark-2.4.0-bin-</a:t>
            </a:r>
            <a:r>
              <a:rPr lang="en-US" altLang="zh-CN" dirty="0">
                <a:solidFill>
                  <a:srgbClr val="FF0000"/>
                </a:solidFill>
              </a:rPr>
              <a:t>without-hadoop</a:t>
            </a:r>
            <a:r>
              <a:rPr lang="zh-CN" altLang="en-US" dirty="0"/>
              <a:t>，由当前位置解压到</a:t>
            </a:r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 </a:t>
            </a:r>
            <a:r>
              <a:rPr lang="zh-CN" altLang="en-US" dirty="0"/>
              <a:t>目录中，执行命令：</a:t>
            </a:r>
            <a:endParaRPr lang="zh-CN" altLang="en-US" sz="1800" dirty="0"/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9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84875" y="2529999"/>
            <a:ext cx="9451897" cy="1666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8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984875" y="4276170"/>
            <a:ext cx="9451897" cy="21749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3.2.6 </a:t>
            </a:r>
            <a:r>
              <a:rPr lang="zh-CN" altLang="en-US" dirty="0"/>
              <a:t>安装</a:t>
            </a:r>
            <a:r>
              <a:rPr lang="en-US" altLang="zh-CN" dirty="0"/>
              <a:t>Spark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84875" y="2035744"/>
            <a:ext cx="10080000" cy="11568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cd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mv ./spark-2.4.0-bin-without-hadoop/ ./spark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sudo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chown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-R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hadoop:hadoop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./spark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b="1" dirty="0"/>
              <a:t> </a:t>
            </a:r>
            <a:r>
              <a:rPr lang="zh-CN" altLang="en-US" b="1" dirty="0"/>
              <a:t>安装</a:t>
            </a:r>
            <a:r>
              <a:rPr lang="en-US" altLang="zh-CN" b="1" dirty="0"/>
              <a:t>spark2.4.0</a:t>
            </a:r>
            <a:endParaRPr lang="zh-CN" altLang="en-US" sz="1800" b="1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985520" y="1385252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重命名文件夹和配置权限，执行命令：</a:t>
            </a:r>
            <a:endParaRPr lang="zh-CN" altLang="en-US" sz="1800" dirty="0"/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20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84875" y="3469077"/>
            <a:ext cx="10080000" cy="93513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3.2.6 </a:t>
            </a:r>
            <a:r>
              <a:rPr lang="zh-CN" altLang="en-US" dirty="0"/>
              <a:t>安装</a:t>
            </a:r>
            <a:r>
              <a:rPr lang="en-US" altLang="zh-CN" dirty="0"/>
              <a:t>Spark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84875" y="1780058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cd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/local/spark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cp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./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conf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/spark-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env.sh.template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./conf/spark-env.sh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en-US" altLang="zh-CN" b="1" dirty="0"/>
              <a:t> </a:t>
            </a:r>
            <a:r>
              <a:rPr lang="zh-CN" altLang="en-US" b="1" dirty="0"/>
              <a:t>相关配置</a:t>
            </a:r>
            <a:endParaRPr lang="zh-CN" altLang="en-US" sz="1800" b="1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984875" y="1385252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修改</a:t>
            </a:r>
            <a:r>
              <a:rPr lang="en-US" altLang="zh-CN" dirty="0"/>
              <a:t>Spark</a:t>
            </a:r>
            <a:r>
              <a:rPr lang="zh-CN" altLang="en-US" dirty="0"/>
              <a:t>的配置文件</a:t>
            </a:r>
            <a:r>
              <a:rPr lang="en-US" altLang="zh-CN" dirty="0"/>
              <a:t>spark-env.sh</a:t>
            </a:r>
            <a:endParaRPr lang="zh-CN" altLang="en-US" sz="1800" dirty="0"/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内容占位符 2"/>
          <p:cNvSpPr>
            <a:spLocks noGrp="1"/>
          </p:cNvSpPr>
          <p:nvPr/>
        </p:nvSpPr>
        <p:spPr>
          <a:xfrm>
            <a:off x="984875" y="2588372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使用</a:t>
            </a:r>
            <a:r>
              <a:rPr lang="en-US" altLang="zh-CN" dirty="0"/>
              <a:t>Vim</a:t>
            </a:r>
            <a:r>
              <a:rPr lang="zh-CN" altLang="en-US" dirty="0"/>
              <a:t>文档编辑器，修改</a:t>
            </a:r>
            <a:r>
              <a:rPr lang="en-US" altLang="zh-CN" dirty="0"/>
              <a:t>spark-env.sh</a:t>
            </a:r>
            <a:r>
              <a:rPr lang="zh-CN" altLang="en-US" dirty="0"/>
              <a:t>文件，在其中添加以下内容：</a:t>
            </a:r>
            <a:endParaRPr lang="zh-CN" altLang="en-US" sz="1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84875" y="2983178"/>
            <a:ext cx="10080000" cy="4181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export SPARK_DIST_CLASSPATH=$(/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hadoop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/bin/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hadoop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classpath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pic>
        <p:nvPicPr>
          <p:cNvPr id="14" name="图片 22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84875" y="3422159"/>
            <a:ext cx="6398418" cy="320807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3.2.6 </a:t>
            </a:r>
            <a:r>
              <a:rPr lang="zh-CN" altLang="en-US" dirty="0"/>
              <a:t>安装</a:t>
            </a:r>
            <a:r>
              <a:rPr lang="en-US" altLang="zh-CN" dirty="0"/>
              <a:t>Spark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85196" y="2015342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cd /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usr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/local/spark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bin/run-example </a:t>
            </a:r>
            <a:r>
              <a:rPr lang="en-US" altLang="zh-CN" sz="16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SparkPi</a:t>
            </a:r>
            <a:r>
              <a:rPr lang="en-US" altLang="zh-CN" sz="16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2&gt;&amp;1 | grep "Pi is"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en-US" altLang="zh-CN" b="1" dirty="0"/>
              <a:t> </a:t>
            </a:r>
            <a:r>
              <a:rPr lang="zh-CN" altLang="en-US" b="1" dirty="0"/>
              <a:t>相关配置</a:t>
            </a:r>
            <a:endParaRPr lang="zh-CN" altLang="en-US" sz="1800" b="1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985196" y="1385252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通过运行</a:t>
            </a:r>
            <a:r>
              <a:rPr lang="en-US" altLang="zh-CN" dirty="0"/>
              <a:t>Spark</a:t>
            </a:r>
            <a:r>
              <a:rPr lang="zh-CN" altLang="en-US" dirty="0"/>
              <a:t>自带的示例，验证</a:t>
            </a:r>
            <a:r>
              <a:rPr lang="en-US" altLang="zh-CN" dirty="0"/>
              <a:t>Spark</a:t>
            </a:r>
            <a:r>
              <a:rPr lang="zh-CN" altLang="en-US" dirty="0"/>
              <a:t>是否安装成功。运行命令：</a:t>
            </a:r>
            <a:endParaRPr lang="zh-CN" altLang="en-US" sz="1800" dirty="0"/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23"/>
          <p:cNvPicPr/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985196" y="3058939"/>
            <a:ext cx="10080000" cy="69325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sz="1800" b="1" dirty="0"/>
              <a:t>Eclipse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Tomcat</a:t>
            </a:r>
            <a:r>
              <a:rPr lang="zh-CN" altLang="en-US" sz="1800" b="1" dirty="0"/>
              <a:t>准备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812780" cy="1097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从官网下载</a:t>
            </a:r>
            <a:r>
              <a:rPr lang="en-US" altLang="zh-CN" dirty="0"/>
              <a:t>Eclipse IDE for Java EE Developers</a:t>
            </a:r>
            <a:r>
              <a:rPr lang="zh-CN" altLang="en-US" dirty="0"/>
              <a:t>版本。下载完成后将压缩包解压即可。</a:t>
            </a:r>
            <a:endParaRPr lang="en-US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23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9036" y="2943011"/>
            <a:ext cx="8177014" cy="203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8CDC78-6475-43A8-8C6C-06CEF72A5A83}"/>
              </a:ext>
            </a:extLst>
          </p:cNvPr>
          <p:cNvSpPr txBox="1"/>
          <p:nvPr/>
        </p:nvSpPr>
        <p:spPr>
          <a:xfrm>
            <a:off x="920544" y="1845873"/>
            <a:ext cx="10080000" cy="787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tar -</a:t>
            </a:r>
            <a:r>
              <a:rPr lang="en-US" altLang="zh-CN" sz="1600" dirty="0" err="1"/>
              <a:t>zxvf</a:t>
            </a:r>
            <a:r>
              <a:rPr lang="en-US" altLang="zh-CN" sz="1600" dirty="0"/>
              <a:t> eclipse-jee-2022-09-R-linux-gtk-x86_64.tar.gz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mv eclipse ~/eclipse-2022-09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sz="1800" b="1" dirty="0"/>
              <a:t>Eclipse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Tomcat</a:t>
            </a:r>
            <a:r>
              <a:rPr lang="zh-CN" altLang="en-US" sz="1800" b="1" dirty="0"/>
              <a:t>准备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6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使用 </a:t>
            </a:r>
            <a:r>
              <a:rPr lang="en-US" altLang="zh-CN" dirty="0"/>
              <a:t>JDK8 </a:t>
            </a:r>
            <a:r>
              <a:rPr lang="zh-CN" altLang="en-US" dirty="0"/>
              <a:t>来启动 </a:t>
            </a:r>
            <a:r>
              <a:rPr lang="en-US" altLang="zh-CN" dirty="0"/>
              <a:t>Eclipse</a:t>
            </a:r>
            <a:r>
              <a:rPr lang="zh-CN" altLang="en-US" dirty="0"/>
              <a:t>：修改</a:t>
            </a:r>
            <a:r>
              <a:rPr lang="en-US" altLang="zh-CN" dirty="0"/>
              <a:t>eclipse.ini</a:t>
            </a:r>
            <a:r>
              <a:rPr lang="zh-CN" altLang="en-US" dirty="0"/>
              <a:t>永久指定启动 </a:t>
            </a:r>
            <a:r>
              <a:rPr lang="en-US" altLang="zh-CN" dirty="0"/>
              <a:t>JDK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8CDC78-6475-43A8-8C6C-06CEF72A5A83}"/>
              </a:ext>
            </a:extLst>
          </p:cNvPr>
          <p:cNvSpPr txBox="1"/>
          <p:nvPr/>
        </p:nvSpPr>
        <p:spPr>
          <a:xfrm>
            <a:off x="920544" y="1845873"/>
            <a:ext cx="10080000" cy="7916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cd ~/eclipse-2022-09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vim eclipse.ini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A1EBE578-CDD6-4BC5-93B3-2B3E686E84D1}"/>
              </a:ext>
            </a:extLst>
          </p:cNvPr>
          <p:cNvSpPr>
            <a:spLocks noGrp="1"/>
          </p:cNvSpPr>
          <p:nvPr/>
        </p:nvSpPr>
        <p:spPr>
          <a:xfrm>
            <a:off x="920544" y="2810796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在文件</a:t>
            </a:r>
            <a:r>
              <a:rPr lang="zh-CN" altLang="en-US" b="1" dirty="0"/>
              <a:t>最开头</a:t>
            </a:r>
            <a:r>
              <a:rPr lang="zh-CN" altLang="en-US" dirty="0"/>
              <a:t>，增加两行，写在所有内容最上方：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12E7BA-F82A-450A-80EA-0507CB2107FB}"/>
              </a:ext>
            </a:extLst>
          </p:cNvPr>
          <p:cNvSpPr txBox="1"/>
          <p:nvPr/>
        </p:nvSpPr>
        <p:spPr>
          <a:xfrm>
            <a:off x="920544" y="3540475"/>
            <a:ext cx="10080000" cy="7916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-</a:t>
            </a:r>
            <a:r>
              <a:rPr lang="en-US" altLang="zh-CN" sz="1600" dirty="0" err="1"/>
              <a:t>vm</a:t>
            </a:r>
            <a:r>
              <a:rPr lang="en-US" altLang="zh-CN" sz="16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/</a:t>
            </a:r>
            <a:r>
              <a:rPr lang="en-US" altLang="zh-CN" sz="1600" dirty="0" err="1"/>
              <a:t>usr</a:t>
            </a:r>
            <a:r>
              <a:rPr lang="en-US" altLang="zh-CN" sz="1600" dirty="0"/>
              <a:t>/lib/</a:t>
            </a:r>
            <a:r>
              <a:rPr lang="en-US" altLang="zh-CN" sz="1600" dirty="0" err="1"/>
              <a:t>jvm</a:t>
            </a:r>
            <a:r>
              <a:rPr lang="en-US" altLang="zh-CN" sz="1600" dirty="0"/>
              <a:t>/jdk1.8.0_503/bin/java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092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sz="1800" b="1" dirty="0"/>
              <a:t>Eclipse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Tomcat</a:t>
            </a:r>
            <a:r>
              <a:rPr lang="zh-CN" altLang="en-US" sz="1800" b="1" dirty="0"/>
              <a:t>准备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6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IDE </a:t>
            </a:r>
            <a:r>
              <a:rPr lang="zh-CN" altLang="en-US" dirty="0"/>
              <a:t>内确认 </a:t>
            </a:r>
            <a:r>
              <a:rPr lang="en-US" altLang="zh-CN" dirty="0"/>
              <a:t>&amp; </a:t>
            </a:r>
            <a:r>
              <a:rPr lang="zh-CN" altLang="en-US" dirty="0"/>
              <a:t>配置 </a:t>
            </a:r>
            <a:r>
              <a:rPr lang="en-US" altLang="zh-CN" dirty="0"/>
              <a:t>JDK</a:t>
            </a:r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1C9960-2EAF-4A32-B231-C5857D787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17" y="3429000"/>
            <a:ext cx="5030824" cy="2521065"/>
          </a:xfrm>
          <a:prstGeom prst="rect">
            <a:avLst/>
          </a:prstGeom>
        </p:spPr>
      </p:pic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1024CF55-2B87-4A10-A50D-844FDA9AF4C2}"/>
              </a:ext>
            </a:extLst>
          </p:cNvPr>
          <p:cNvSpPr>
            <a:spLocks noGrp="1"/>
          </p:cNvSpPr>
          <p:nvPr/>
        </p:nvSpPr>
        <p:spPr>
          <a:xfrm>
            <a:off x="859790" y="1787467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1 Window → Preferences → Java → Installed JREs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736F616-27FB-4135-8367-BA8360C73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131" y="3309121"/>
            <a:ext cx="4057640" cy="3412226"/>
          </a:xfrm>
          <a:prstGeom prst="rect">
            <a:avLst/>
          </a:prstGeom>
        </p:spPr>
      </p:pic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28F383CF-5D3F-4132-B461-C0BB5D70A7CE}"/>
              </a:ext>
            </a:extLst>
          </p:cNvPr>
          <p:cNvSpPr>
            <a:spLocks noGrp="1"/>
          </p:cNvSpPr>
          <p:nvPr/>
        </p:nvSpPr>
        <p:spPr>
          <a:xfrm>
            <a:off x="859790" y="2336447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2 </a:t>
            </a:r>
            <a:r>
              <a:rPr lang="zh-CN" altLang="en-US" dirty="0"/>
              <a:t>确认列表里面已经识别到 </a:t>
            </a:r>
            <a:r>
              <a:rPr lang="en-US" altLang="zh-CN" dirty="0"/>
              <a:t>jdk1.8.0_162</a:t>
            </a:r>
            <a:r>
              <a:rPr lang="zh-CN" altLang="en-US" dirty="0"/>
              <a:t>，勾选作为默认。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557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sz="1800" b="1" dirty="0"/>
              <a:t>Eclipse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Tomcat</a:t>
            </a:r>
            <a:r>
              <a:rPr lang="zh-CN" altLang="en-US" sz="1800" b="1" dirty="0"/>
              <a:t>准备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6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IDE </a:t>
            </a:r>
            <a:r>
              <a:rPr lang="zh-CN" altLang="en-US" dirty="0"/>
              <a:t>内确认 </a:t>
            </a:r>
            <a:r>
              <a:rPr lang="en-US" altLang="zh-CN" dirty="0"/>
              <a:t>&amp; </a:t>
            </a:r>
            <a:r>
              <a:rPr lang="zh-CN" altLang="en-US" dirty="0"/>
              <a:t>配置 </a:t>
            </a:r>
            <a:r>
              <a:rPr lang="en-US" altLang="zh-CN" dirty="0"/>
              <a:t>JDK</a:t>
            </a:r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1024CF55-2B87-4A10-A50D-844FDA9AF4C2}"/>
              </a:ext>
            </a:extLst>
          </p:cNvPr>
          <p:cNvSpPr>
            <a:spLocks noGrp="1"/>
          </p:cNvSpPr>
          <p:nvPr/>
        </p:nvSpPr>
        <p:spPr>
          <a:xfrm>
            <a:off x="859790" y="1787467"/>
            <a:ext cx="10812780" cy="50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3 Java → Compiler</a:t>
            </a:r>
            <a:r>
              <a:rPr lang="zh-CN" altLang="en-US" dirty="0"/>
              <a:t>，编译级别设置为 </a:t>
            </a:r>
            <a:r>
              <a:rPr lang="en-US" altLang="zh-CN" dirty="0"/>
              <a:t>1.8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0A0146A-B1CA-415B-A596-1BBDB8C10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891" y="2490066"/>
            <a:ext cx="4943809" cy="38661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485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1. </a:t>
            </a:r>
            <a:r>
              <a:rPr lang="en-US" altLang="zh-CN" sz="1800" b="1" dirty="0"/>
              <a:t>Eclipse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Tomcat</a:t>
            </a:r>
            <a:r>
              <a:rPr lang="zh-CN" altLang="en-US" sz="1800" b="1" dirty="0"/>
              <a:t>准备</a:t>
            </a:r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845632" y="1125960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Tomcat </a:t>
            </a:r>
            <a:r>
              <a:rPr lang="zh-CN" altLang="en-US" dirty="0"/>
              <a:t>服务器是一个免费的开放源代码的</a:t>
            </a:r>
            <a:r>
              <a:rPr lang="en-US" altLang="zh-CN" dirty="0"/>
              <a:t>Web </a:t>
            </a:r>
            <a:r>
              <a:rPr lang="zh-CN" altLang="en-US" dirty="0"/>
              <a:t>应用服务器， 需要解压安装</a:t>
            </a:r>
            <a:r>
              <a:rPr lang="en-US" altLang="zh-CN" dirty="0"/>
              <a:t>Tomcat 7.0</a:t>
            </a:r>
            <a:r>
              <a:rPr lang="zh-CN" altLang="en-US" dirty="0"/>
              <a:t>版本。</a:t>
            </a:r>
            <a:endParaRPr lang="zh-CN" altLang="en-US" sz="1800" dirty="0"/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8CDC78-6475-43A8-8C6C-06CEF72A5A83}"/>
              </a:ext>
            </a:extLst>
          </p:cNvPr>
          <p:cNvSpPr txBox="1"/>
          <p:nvPr/>
        </p:nvSpPr>
        <p:spPr>
          <a:xfrm>
            <a:off x="941564" y="1511948"/>
            <a:ext cx="10080000" cy="11609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a-DK" altLang="zh-CN" sz="1600" dirty="0"/>
              <a:t>wget https://archive.apache.org/dist/tomcat/tomcat-8/v8.5.100/bin/apache-tomcat-8.5.100.tar.gz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tar -</a:t>
            </a:r>
            <a:r>
              <a:rPr lang="en-US" altLang="zh-CN" sz="1600" dirty="0" err="1"/>
              <a:t>zxvf</a:t>
            </a:r>
            <a:r>
              <a:rPr lang="en-US" altLang="zh-CN" sz="1600" dirty="0"/>
              <a:t> apache-tomcat-8.5.100.tar.gz 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mv apache-tomcat-8.5.100 ~/tomcat8.5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A1C60464-698D-465A-8068-166C32B468EE}"/>
              </a:ext>
            </a:extLst>
          </p:cNvPr>
          <p:cNvSpPr>
            <a:spLocks noGrp="1"/>
          </p:cNvSpPr>
          <p:nvPr/>
        </p:nvSpPr>
        <p:spPr>
          <a:xfrm>
            <a:off x="845632" y="2782493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配置 </a:t>
            </a:r>
            <a:r>
              <a:rPr lang="en-US" altLang="zh-CN" dirty="0"/>
              <a:t>Tomcat </a:t>
            </a:r>
            <a:r>
              <a:rPr lang="zh-CN" altLang="en-US" dirty="0"/>
              <a:t>运行依赖 </a:t>
            </a:r>
            <a:r>
              <a:rPr lang="en-US" altLang="zh-CN" dirty="0"/>
              <a:t>JDK8</a:t>
            </a:r>
            <a:endParaRPr lang="zh-CN" altLang="en-US" sz="1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56D048-61F2-45A9-AA1F-2D755F641136}"/>
              </a:ext>
            </a:extLst>
          </p:cNvPr>
          <p:cNvSpPr txBox="1"/>
          <p:nvPr/>
        </p:nvSpPr>
        <p:spPr>
          <a:xfrm>
            <a:off x="941564" y="3174211"/>
            <a:ext cx="10080000" cy="7916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cd ~/tomcat8.5/bin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vim setenv.sh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1A9CD9-F2DC-4697-ABE1-4FEE58BF4F3B}"/>
              </a:ext>
            </a:extLst>
          </p:cNvPr>
          <p:cNvSpPr txBox="1"/>
          <p:nvPr/>
        </p:nvSpPr>
        <p:spPr>
          <a:xfrm>
            <a:off x="845632" y="4382793"/>
            <a:ext cx="10080000" cy="7916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export JAVA_HOME=/</a:t>
            </a:r>
            <a:r>
              <a:rPr lang="en-US" altLang="zh-CN" sz="1600" dirty="0" err="1"/>
              <a:t>usr</a:t>
            </a:r>
            <a:r>
              <a:rPr lang="en-US" altLang="zh-CN" sz="1600" dirty="0"/>
              <a:t>/lib/</a:t>
            </a:r>
            <a:r>
              <a:rPr lang="en-US" altLang="zh-CN" sz="1600" dirty="0" err="1"/>
              <a:t>jvm</a:t>
            </a:r>
            <a:r>
              <a:rPr lang="en-US" altLang="zh-CN" sz="1600" dirty="0"/>
              <a:t>/jdk1.8.0_503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export JRE_HOME=${JAVA_HOME}/</a:t>
            </a:r>
            <a:r>
              <a:rPr lang="en-US" altLang="zh-CN" sz="1600" dirty="0" err="1"/>
              <a:t>jre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03D173BD-67C0-4C64-B007-A72D3063333C}"/>
              </a:ext>
            </a:extLst>
          </p:cNvPr>
          <p:cNvSpPr>
            <a:spLocks noGrp="1"/>
          </p:cNvSpPr>
          <p:nvPr/>
        </p:nvSpPr>
        <p:spPr>
          <a:xfrm>
            <a:off x="845632" y="4065011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粘贴下面两行：</a:t>
            </a:r>
            <a:endParaRPr lang="zh-CN" altLang="en-US" sz="1800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B203318-9242-419E-8425-8887A696CDDD}"/>
              </a:ext>
            </a:extLst>
          </p:cNvPr>
          <p:cNvSpPr>
            <a:spLocks noGrp="1"/>
          </p:cNvSpPr>
          <p:nvPr/>
        </p:nvSpPr>
        <p:spPr>
          <a:xfrm>
            <a:off x="845632" y="5279276"/>
            <a:ext cx="10079355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给脚本执行权限：</a:t>
            </a:r>
            <a:endParaRPr lang="zh-CN" altLang="en-US" sz="1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494118-A746-468E-A857-E17304C37E24}"/>
              </a:ext>
            </a:extLst>
          </p:cNvPr>
          <p:cNvSpPr txBox="1"/>
          <p:nvPr/>
        </p:nvSpPr>
        <p:spPr>
          <a:xfrm>
            <a:off x="844987" y="5682164"/>
            <a:ext cx="10080000" cy="4222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 err="1"/>
              <a:t>chmod</a:t>
            </a:r>
            <a:r>
              <a:rPr lang="en-US" altLang="zh-CN" sz="1600" dirty="0"/>
              <a:t> +x setenv.sh</a:t>
            </a:r>
            <a:endParaRPr lang="en-US" altLang="zh-CN" sz="1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400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en-US" altLang="zh-CN" b="1" dirty="0"/>
              <a:t>Dynamic Web Project</a:t>
            </a:r>
            <a:r>
              <a:rPr lang="zh-CN" altLang="en-US" b="1" dirty="0"/>
              <a:t>实例</a:t>
            </a:r>
            <a:endParaRPr lang="zh-CN" altLang="en-US" sz="1800" b="1" dirty="0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89" y="1297305"/>
            <a:ext cx="10080000" cy="862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1)</a:t>
            </a:r>
            <a:r>
              <a:rPr lang="zh-CN" altLang="zh-CN" dirty="0"/>
              <a:t>打开</a:t>
            </a:r>
            <a:r>
              <a:rPr lang="en-US" altLang="zh-CN" dirty="0"/>
              <a:t>Eclipse</a:t>
            </a:r>
            <a:r>
              <a:rPr lang="zh-CN" altLang="zh-CN" dirty="0"/>
              <a:t>，点击菜单“</a:t>
            </a:r>
            <a:r>
              <a:rPr lang="en-US" altLang="zh-CN" dirty="0"/>
              <a:t>New-&gt;Project</a:t>
            </a:r>
            <a:r>
              <a:rPr lang="zh-CN" altLang="zh-CN" dirty="0"/>
              <a:t>”，在弹出的界面上选择 “</a:t>
            </a:r>
            <a:r>
              <a:rPr lang="en-US" altLang="zh-CN" dirty="0"/>
              <a:t>Web-&gt;Dynamic Web Project</a:t>
            </a:r>
            <a:r>
              <a:rPr lang="zh-CN" altLang="zh-CN" dirty="0"/>
              <a:t>”：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内容占位符 2"/>
          <p:cNvSpPr>
            <a:spLocks noGrp="1"/>
          </p:cNvSpPr>
          <p:nvPr/>
        </p:nvSpPr>
        <p:spPr>
          <a:xfrm>
            <a:off x="5968503" y="1297305"/>
            <a:ext cx="4706123" cy="862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13" name="图片 35"/>
          <p:cNvPicPr/>
          <p:nvPr/>
        </p:nvPicPr>
        <p:blipFill>
          <a:blip r:embed="rId3"/>
          <a:stretch>
            <a:fillRect/>
          </a:stretch>
        </p:blipFill>
        <p:spPr>
          <a:xfrm>
            <a:off x="859789" y="2342349"/>
            <a:ext cx="7685121" cy="42586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10" name="Title 1"/>
          <p:cNvSpPr txBox="1"/>
          <p:nvPr/>
        </p:nvSpPr>
        <p:spPr>
          <a:xfrm>
            <a:off x="762194" y="52240"/>
            <a:ext cx="7391205" cy="506641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endParaRPr lang="zh-CN" altLang="en-US" dirty="0"/>
          </a:p>
        </p:txBody>
      </p:sp>
      <p:sp>
        <p:nvSpPr>
          <p:cNvPr id="11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en-US" altLang="zh-CN" b="1" dirty="0"/>
              <a:t>Dynamic Web Project</a:t>
            </a:r>
            <a:r>
              <a:rPr lang="zh-CN" altLang="en-US" b="1" dirty="0"/>
              <a:t>实例</a:t>
            </a:r>
            <a:endParaRPr lang="zh-CN" altLang="en-US" sz="1800" b="1" dirty="0"/>
          </a:p>
        </p:txBody>
      </p:sp>
      <p:sp>
        <p:nvSpPr>
          <p:cNvPr id="13" name="内容占位符 2"/>
          <p:cNvSpPr>
            <a:spLocks noGrp="1"/>
          </p:cNvSpPr>
          <p:nvPr/>
        </p:nvSpPr>
        <p:spPr>
          <a:xfrm>
            <a:off x="859789" y="1297305"/>
            <a:ext cx="10080000" cy="862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1)</a:t>
            </a:r>
            <a:r>
              <a:rPr lang="zh-CN" altLang="zh-CN" dirty="0"/>
              <a:t>打开</a:t>
            </a:r>
            <a:r>
              <a:rPr lang="en-US" altLang="zh-CN" dirty="0"/>
              <a:t>Eclipse</a:t>
            </a:r>
            <a:r>
              <a:rPr lang="zh-CN" altLang="zh-CN" dirty="0"/>
              <a:t>，点击菜单“</a:t>
            </a:r>
            <a:r>
              <a:rPr lang="en-US" altLang="zh-CN" dirty="0"/>
              <a:t>New-&gt;Project</a:t>
            </a:r>
            <a:r>
              <a:rPr lang="zh-CN" altLang="zh-CN" dirty="0"/>
              <a:t>”，在弹出的界面上选择 “</a:t>
            </a:r>
            <a:r>
              <a:rPr lang="en-US" altLang="zh-CN" dirty="0"/>
              <a:t>Web-&gt;Dynamic Web Project</a:t>
            </a:r>
            <a:r>
              <a:rPr lang="zh-CN" altLang="zh-CN" dirty="0"/>
              <a:t>”：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/>
          </a:p>
        </p:txBody>
      </p:sp>
      <p:sp>
        <p:nvSpPr>
          <p:cNvPr id="14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33"/>
          <p:cNvPicPr/>
          <p:nvPr/>
        </p:nvPicPr>
        <p:blipFill>
          <a:blip r:embed="rId3"/>
          <a:stretch>
            <a:fillRect/>
          </a:stretch>
        </p:blipFill>
        <p:spPr>
          <a:xfrm>
            <a:off x="859789" y="2160104"/>
            <a:ext cx="6266225" cy="44824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</a:t>
            </a:r>
            <a:r>
              <a:rPr lang="en-US" sz="1800" b="1" dirty="0"/>
              <a:t>. </a:t>
            </a:r>
            <a:r>
              <a:rPr lang="en-US" altLang="zh-CN" b="1" dirty="0"/>
              <a:t>Dynamic Web Project</a:t>
            </a:r>
            <a:r>
              <a:rPr lang="zh-CN" altLang="en-US" b="1" dirty="0"/>
              <a:t>实例</a:t>
            </a:r>
            <a:endParaRPr lang="zh-CN" altLang="en-US" sz="1800" b="1" dirty="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859790" y="1297304"/>
            <a:ext cx="4706123" cy="39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2) </a:t>
            </a:r>
            <a:r>
              <a:rPr lang="zh-CN" altLang="zh-CN" dirty="0"/>
              <a:t>点击“</a:t>
            </a:r>
            <a:r>
              <a:rPr lang="en-US" altLang="zh-CN" dirty="0"/>
              <a:t>Next</a:t>
            </a:r>
            <a:r>
              <a:rPr lang="zh-CN" altLang="zh-CN" dirty="0"/>
              <a:t>”，会出现如下界面：</a:t>
            </a:r>
            <a:endParaRPr lang="zh-CN" altLang="en-US" dirty="0"/>
          </a:p>
        </p:txBody>
      </p:sp>
      <p:sp>
        <p:nvSpPr>
          <p:cNvPr id="7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图片 4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08" y="1696904"/>
            <a:ext cx="4347205" cy="491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2. Dynamic Web Project</a:t>
            </a:r>
            <a:r>
              <a:rPr lang="zh-CN" altLang="en-US" b="1" dirty="0"/>
              <a:t>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89" y="1297305"/>
            <a:ext cx="5178403" cy="1682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）在这个界面中，需要输入</a:t>
            </a:r>
            <a:r>
              <a:rPr lang="en-US" altLang="zh-CN" dirty="0"/>
              <a:t>Project</a:t>
            </a:r>
            <a:r>
              <a:rPr lang="zh-CN" altLang="en-US" dirty="0"/>
              <a:t>的名字，比如输入“</a:t>
            </a:r>
            <a:r>
              <a:rPr lang="en-US" altLang="zh-CN" dirty="0"/>
              <a:t>test”</a:t>
            </a:r>
            <a:r>
              <a:rPr lang="zh-CN" altLang="en-US" dirty="0"/>
              <a:t>，另外，还要注意“</a:t>
            </a:r>
            <a:r>
              <a:rPr lang="en-US" altLang="zh-CN" dirty="0"/>
              <a:t>Target Runtime”</a:t>
            </a:r>
            <a:r>
              <a:rPr lang="zh-CN" altLang="en-US" dirty="0"/>
              <a:t>下拉列表需要选中 “</a:t>
            </a:r>
            <a:r>
              <a:rPr lang="en-US" altLang="zh-CN" dirty="0"/>
              <a:t>Apache Tomcat V8.0”</a:t>
            </a:r>
            <a:r>
              <a:rPr lang="zh-CN" altLang="en-US" dirty="0"/>
              <a:t>。点击“</a:t>
            </a:r>
            <a:r>
              <a:rPr lang="en-US" altLang="zh-CN" dirty="0"/>
              <a:t>Next”</a:t>
            </a:r>
            <a:r>
              <a:rPr lang="zh-CN" altLang="en-US" dirty="0"/>
              <a:t>，会出现如下界面：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96332" y="1297224"/>
            <a:ext cx="4535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继续点击“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”，会出现如下界面：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36"/>
          <p:cNvPicPr/>
          <p:nvPr/>
        </p:nvPicPr>
        <p:blipFill>
          <a:blip r:embed="rId3"/>
          <a:stretch>
            <a:fillRect/>
          </a:stretch>
        </p:blipFill>
        <p:spPr>
          <a:xfrm>
            <a:off x="976520" y="2979682"/>
            <a:ext cx="4304928" cy="35886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6" name="图片 37"/>
          <p:cNvPicPr/>
          <p:nvPr/>
        </p:nvPicPr>
        <p:blipFill>
          <a:blip r:embed="rId4"/>
          <a:stretch>
            <a:fillRect/>
          </a:stretch>
        </p:blipFill>
        <p:spPr>
          <a:xfrm>
            <a:off x="6396331" y="1884616"/>
            <a:ext cx="5500599" cy="44716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2. Dynamic Web Project</a:t>
            </a:r>
            <a:r>
              <a:rPr lang="zh-CN" altLang="en-US" b="1" dirty="0"/>
              <a:t>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5090436" cy="1319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zh-CN" altLang="zh-CN" dirty="0"/>
              <a:t>点击“</a:t>
            </a:r>
            <a:r>
              <a:rPr lang="en-US" altLang="zh-CN" dirty="0"/>
              <a:t>Finish</a:t>
            </a:r>
            <a:r>
              <a:rPr lang="zh-CN" altLang="zh-CN" dirty="0"/>
              <a:t>”，就回到</a:t>
            </a:r>
            <a:r>
              <a:rPr lang="en-US" altLang="zh-CN" dirty="0"/>
              <a:t>Eclipse</a:t>
            </a:r>
            <a:r>
              <a:rPr lang="zh-CN" altLang="zh-CN" dirty="0"/>
              <a:t>主界面。在左侧项目栏中，在“</a:t>
            </a:r>
            <a:r>
              <a:rPr lang="en-US" altLang="zh-CN" dirty="0" err="1"/>
              <a:t>WebContent</a:t>
            </a:r>
            <a:r>
              <a:rPr lang="zh-CN" altLang="zh-CN" dirty="0"/>
              <a:t>”文件夹上点击鼠标右键，在弹出菜单中选择“</a:t>
            </a:r>
            <a:r>
              <a:rPr lang="en-US" altLang="zh-CN" dirty="0"/>
              <a:t>New-&gt;JSP File</a:t>
            </a:r>
            <a:r>
              <a:rPr lang="zh-CN" altLang="zh-CN" dirty="0"/>
              <a:t>”，如下图所示：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96332" y="1297224"/>
            <a:ext cx="5572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dirty="0"/>
              <a:t>会弹出如下界面，命名</a:t>
            </a:r>
            <a:r>
              <a:rPr lang="en-US" altLang="zh-CN" dirty="0" err="1"/>
              <a:t>jsp</a:t>
            </a:r>
            <a:r>
              <a:rPr lang="zh-CN" altLang="zh-CN" dirty="0"/>
              <a:t>文件名称“</a:t>
            </a:r>
            <a:r>
              <a:rPr lang="en-US" altLang="zh-CN" dirty="0" err="1"/>
              <a:t>index.jsp</a:t>
            </a:r>
            <a:r>
              <a:rPr lang="zh-CN" altLang="zh-CN" dirty="0"/>
              <a:t>”。</a:t>
            </a:r>
          </a:p>
        </p:txBody>
      </p:sp>
      <p:pic>
        <p:nvPicPr>
          <p:cNvPr id="14" name="图片 39"/>
          <p:cNvPicPr/>
          <p:nvPr/>
        </p:nvPicPr>
        <p:blipFill>
          <a:blip r:embed="rId3"/>
          <a:stretch>
            <a:fillRect/>
          </a:stretch>
        </p:blipFill>
        <p:spPr>
          <a:xfrm>
            <a:off x="961009" y="3050397"/>
            <a:ext cx="4742030" cy="35553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5" name="图片 27"/>
          <p:cNvPicPr/>
          <p:nvPr/>
        </p:nvPicPr>
        <p:blipFill>
          <a:blip r:embed="rId4"/>
          <a:stretch>
            <a:fillRect/>
          </a:stretch>
        </p:blipFill>
        <p:spPr>
          <a:xfrm>
            <a:off x="6396331" y="1848720"/>
            <a:ext cx="5636921" cy="45075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2. Dynamic Web Project</a:t>
            </a:r>
            <a:r>
              <a:rPr lang="zh-CN" altLang="en-US" b="1" dirty="0"/>
              <a:t>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5090436" cy="1008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zh-CN" altLang="zh-CN" dirty="0"/>
              <a:t>点击</a:t>
            </a:r>
            <a:r>
              <a:rPr lang="en-US" altLang="zh-CN" dirty="0"/>
              <a:t>“Next”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49277" y="1295735"/>
            <a:ext cx="5795668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8</a:t>
            </a:r>
            <a:r>
              <a:rPr lang="zh-CN" altLang="en-US" dirty="0">
                <a:latin typeface="+mn-ea"/>
              </a:rPr>
              <a:t>）点击“</a:t>
            </a:r>
            <a:r>
              <a:rPr lang="en-US" altLang="zh-CN" dirty="0">
                <a:latin typeface="+mn-ea"/>
              </a:rPr>
              <a:t>Finish”</a:t>
            </a:r>
            <a:r>
              <a:rPr lang="zh-CN" altLang="en-US" dirty="0">
                <a:latin typeface="+mn-ea"/>
              </a:rPr>
              <a:t>，回到</a:t>
            </a:r>
            <a:r>
              <a:rPr lang="en-US" altLang="zh-CN" dirty="0">
                <a:latin typeface="+mn-ea"/>
              </a:rPr>
              <a:t>Eclipse</a:t>
            </a:r>
            <a:r>
              <a:rPr lang="zh-CN" altLang="en-US" dirty="0">
                <a:latin typeface="+mn-ea"/>
              </a:rPr>
              <a:t>主界面中，会看到自动生成一个</a:t>
            </a:r>
            <a:r>
              <a:rPr lang="en-US" altLang="zh-CN" dirty="0" err="1">
                <a:latin typeface="+mn-ea"/>
              </a:rPr>
              <a:t>index.jsp</a:t>
            </a:r>
            <a:r>
              <a:rPr lang="zh-CN" altLang="en-US" dirty="0">
                <a:latin typeface="+mn-ea"/>
              </a:rPr>
              <a:t>文件。</a:t>
            </a:r>
            <a:endParaRPr lang="zh-CN" altLang="zh-CN" dirty="0">
              <a:latin typeface="+mn-ea"/>
            </a:endParaRPr>
          </a:p>
        </p:txBody>
      </p:sp>
      <p:pic>
        <p:nvPicPr>
          <p:cNvPr id="2050" name="图片 4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4" y="1758970"/>
            <a:ext cx="5130691" cy="460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图片 414" descr="微信图片_202209221113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90" y="2618290"/>
            <a:ext cx="6379770" cy="2126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2. Dynamic Web Project</a:t>
            </a:r>
            <a:r>
              <a:rPr lang="zh-CN" altLang="en-US" b="1" dirty="0"/>
              <a:t>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5090436" cy="1008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9</a:t>
            </a:r>
            <a:r>
              <a:rPr lang="zh-CN" altLang="en-US" dirty="0"/>
              <a:t>）在</a:t>
            </a:r>
            <a:r>
              <a:rPr lang="en-US" altLang="zh-CN" dirty="0"/>
              <a:t>body</a:t>
            </a:r>
            <a:r>
              <a:rPr lang="zh-CN" altLang="en-US" dirty="0"/>
              <a:t>标签中加入</a:t>
            </a:r>
            <a:r>
              <a:rPr lang="en-US" altLang="zh-CN" dirty="0"/>
              <a:t>HelloWorld</a:t>
            </a:r>
            <a:r>
              <a:rPr lang="zh-CN" altLang="en-US" dirty="0"/>
              <a:t>，效果如下：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96333" y="1156638"/>
            <a:ext cx="5607708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）</a:t>
            </a:r>
            <a:r>
              <a:rPr lang="zh-CN" altLang="zh-CN" dirty="0">
                <a:latin typeface="+mn-ea"/>
              </a:rPr>
              <a:t>在</a:t>
            </a:r>
            <a:r>
              <a:rPr lang="en-US" altLang="zh-CN" dirty="0">
                <a:latin typeface="+mn-ea"/>
              </a:rPr>
              <a:t>Eclipse</a:t>
            </a:r>
            <a:r>
              <a:rPr lang="zh-CN" altLang="zh-CN" dirty="0">
                <a:latin typeface="+mn-ea"/>
              </a:rPr>
              <a:t>中的</a:t>
            </a:r>
            <a:r>
              <a:rPr lang="en-US" altLang="zh-CN" dirty="0" err="1">
                <a:latin typeface="+mn-ea"/>
              </a:rPr>
              <a:t>index.jsp</a:t>
            </a:r>
            <a:r>
              <a:rPr lang="zh-CN" altLang="zh-CN" dirty="0">
                <a:latin typeface="+mn-ea"/>
              </a:rPr>
              <a:t>界面上鼠标单击右键，在弹出的菜单中选择“</a:t>
            </a:r>
            <a:r>
              <a:rPr lang="en-US" altLang="zh-CN" dirty="0">
                <a:latin typeface="+mn-ea"/>
              </a:rPr>
              <a:t>Run As-&gt;Run on Server</a:t>
            </a:r>
            <a:r>
              <a:rPr lang="zh-CN" altLang="zh-CN" dirty="0">
                <a:latin typeface="+mn-ea"/>
              </a:rPr>
              <a:t>”，如下图所示：</a:t>
            </a:r>
          </a:p>
        </p:txBody>
      </p:sp>
      <p:pic>
        <p:nvPicPr>
          <p:cNvPr id="3075" name="图片 409" descr="微信图片_2022092211124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758" y="2442082"/>
            <a:ext cx="5753282" cy="3899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D09E28A-58FF-4558-8E16-3D01703BCF49}"/>
              </a:ext>
            </a:extLst>
          </p:cNvPr>
          <p:cNvSpPr txBox="1"/>
          <p:nvPr/>
        </p:nvSpPr>
        <p:spPr>
          <a:xfrm>
            <a:off x="187960" y="2442082"/>
            <a:ext cx="5908040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&lt;%@ page language="java" </a:t>
            </a:r>
            <a:r>
              <a:rPr lang="en-US" altLang="zh-CN" dirty="0" err="1"/>
              <a:t>contentType</a:t>
            </a:r>
            <a:r>
              <a:rPr lang="en-US" altLang="zh-CN" dirty="0"/>
              <a:t>="text/html; charset=UTF-8"    </a:t>
            </a:r>
            <a:r>
              <a:rPr lang="en-US" altLang="zh-CN" dirty="0" err="1"/>
              <a:t>pageEncoding</a:t>
            </a:r>
            <a:r>
              <a:rPr lang="en-US" altLang="zh-CN" dirty="0"/>
              <a:t>="UTF-8"%&gt;    &lt;html&gt;</a:t>
            </a:r>
          </a:p>
          <a:p>
            <a:r>
              <a:rPr lang="en-US" altLang="zh-CN" dirty="0"/>
              <a:t>&lt;head&gt;&lt;meta http-</a:t>
            </a:r>
            <a:r>
              <a:rPr lang="en-US" altLang="zh-CN" dirty="0" err="1"/>
              <a:t>equiv</a:t>
            </a:r>
            <a:r>
              <a:rPr lang="en-US" altLang="zh-CN" dirty="0"/>
              <a:t>="Content-Type" content="text/html; charset=UTF-8"&gt;&lt;title&gt;Insert title here&lt;/title&gt;</a:t>
            </a:r>
          </a:p>
          <a:p>
            <a:r>
              <a:rPr lang="en-US" altLang="zh-CN" dirty="0"/>
              <a:t>&lt;/head&gt;</a:t>
            </a:r>
          </a:p>
          <a:p>
            <a:r>
              <a:rPr lang="en-US" altLang="zh-CN" dirty="0"/>
              <a:t>&lt;body&gt;HelloWorld&lt;/body&gt;</a:t>
            </a:r>
          </a:p>
          <a:p>
            <a:r>
              <a:rPr lang="en-US" altLang="zh-CN" dirty="0"/>
              <a:t>&lt;/html&gt;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2. Dynamic Web Project</a:t>
            </a:r>
            <a:r>
              <a:rPr lang="zh-CN" altLang="en-US" b="1" dirty="0"/>
              <a:t>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59790" y="1297305"/>
            <a:ext cx="10080000" cy="1319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10</a:t>
            </a:r>
            <a:r>
              <a:rPr lang="zh-CN" altLang="en-US" dirty="0"/>
              <a:t>）</a:t>
            </a:r>
            <a:r>
              <a:rPr lang="zh-CN" altLang="zh-CN" dirty="0"/>
              <a:t>依次点击后续界面的“</a:t>
            </a:r>
            <a:r>
              <a:rPr lang="en-US" altLang="zh-CN" dirty="0"/>
              <a:t>Next</a:t>
            </a:r>
            <a:r>
              <a:rPr lang="zh-CN" altLang="zh-CN" dirty="0"/>
              <a:t>”和“</a:t>
            </a:r>
            <a:r>
              <a:rPr lang="en-US" altLang="zh-CN" dirty="0"/>
              <a:t>Finish</a:t>
            </a:r>
            <a:r>
              <a:rPr lang="zh-CN" altLang="zh-CN" dirty="0"/>
              <a:t>”按钮，成功执行</a:t>
            </a:r>
            <a:r>
              <a:rPr lang="en-US" altLang="zh-CN" dirty="0" err="1"/>
              <a:t>jsp</a:t>
            </a:r>
            <a:r>
              <a:rPr lang="zh-CN" altLang="zh-CN" dirty="0"/>
              <a:t>文件后，</a:t>
            </a:r>
            <a:r>
              <a:rPr lang="en-US" altLang="zh-CN" dirty="0"/>
              <a:t>Eclipse</a:t>
            </a:r>
            <a:r>
              <a:rPr lang="zh-CN" altLang="zh-CN" dirty="0"/>
              <a:t>就会启动</a:t>
            </a:r>
            <a:r>
              <a:rPr lang="en-US" altLang="zh-CN" dirty="0"/>
              <a:t>Tomcat</a:t>
            </a:r>
            <a:r>
              <a:rPr lang="zh-CN" altLang="zh-CN" dirty="0"/>
              <a:t>服务。此时，可以打开浏览器，在地址栏中输入</a:t>
            </a:r>
            <a:r>
              <a:rPr lang="en-US" altLang="zh-CN" u="sng" dirty="0">
                <a:hlinkClick r:id="rId3"/>
              </a:rPr>
              <a:t>http://localhost:8080/test/index.jsp</a:t>
            </a:r>
            <a:r>
              <a:rPr lang="zh-CN" altLang="zh-CN" dirty="0"/>
              <a:t>，查看效果。</a:t>
            </a: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859788" y="2799321"/>
            <a:ext cx="10080000" cy="14416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</a:t>
            </a:r>
            <a:r>
              <a:rPr lang="en-US" sz="1800" b="1" dirty="0"/>
              <a:t>. </a:t>
            </a:r>
            <a:r>
              <a:rPr lang="en-US" altLang="zh-CN" sz="1800" b="1" dirty="0" err="1"/>
              <a:t>Echart</a:t>
            </a:r>
            <a:r>
              <a:rPr lang="zh-CN" altLang="en-US" sz="1800" b="1" dirty="0"/>
              <a:t>可视化实例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652145" y="1456690"/>
            <a:ext cx="10812780" cy="4162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None/>
            </a:pPr>
            <a:r>
              <a:rPr lang="en-US" altLang="zh-CN" dirty="0" err="1"/>
              <a:t>ECharts</a:t>
            </a:r>
            <a:r>
              <a:rPr lang="zh-CN" altLang="en-US" dirty="0"/>
              <a:t>是一款基于</a:t>
            </a:r>
            <a:r>
              <a:rPr lang="en-US" altLang="zh-CN" dirty="0"/>
              <a:t>JavaScript</a:t>
            </a:r>
            <a:r>
              <a:rPr lang="zh-CN" altLang="en-US" dirty="0"/>
              <a:t>的数据可视化图表库，可以流畅的运行在 </a:t>
            </a:r>
            <a:r>
              <a:rPr lang="en-US" altLang="zh-CN" dirty="0"/>
              <a:t>PC </a:t>
            </a:r>
            <a:r>
              <a:rPr lang="zh-CN" altLang="en-US" dirty="0"/>
              <a:t>和移动设备上，兼容当前绝大部分浏览器（</a:t>
            </a:r>
            <a:r>
              <a:rPr lang="en-US" altLang="zh-CN" dirty="0"/>
              <a:t>IE8/9/10/11</a:t>
            </a:r>
            <a:r>
              <a:rPr lang="zh-CN" altLang="en-US" dirty="0"/>
              <a:t>，</a:t>
            </a:r>
            <a:r>
              <a:rPr lang="en-US" altLang="zh-CN" dirty="0"/>
              <a:t>Chrome</a:t>
            </a:r>
            <a:r>
              <a:rPr lang="zh-CN" altLang="en-US" dirty="0"/>
              <a:t>，</a:t>
            </a:r>
            <a:r>
              <a:rPr lang="en-US" altLang="zh-CN" dirty="0"/>
              <a:t>Firefox</a:t>
            </a:r>
            <a:r>
              <a:rPr lang="zh-CN" altLang="en-US" dirty="0"/>
              <a:t>，</a:t>
            </a:r>
            <a:r>
              <a:rPr lang="en-US" altLang="zh-CN" dirty="0"/>
              <a:t>Safari</a:t>
            </a:r>
            <a:r>
              <a:rPr lang="zh-CN" altLang="en-US" dirty="0"/>
              <a:t>等），底层依赖矢量图形库 </a:t>
            </a:r>
            <a:r>
              <a:rPr lang="en-US" altLang="zh-CN" dirty="0" err="1"/>
              <a:t>ZRender</a:t>
            </a:r>
            <a:r>
              <a:rPr lang="zh-CN" altLang="en-US" dirty="0"/>
              <a:t>，提供直观，生动，可交互，可个性化定制的数据可视化图表。</a:t>
            </a:r>
            <a:r>
              <a:rPr lang="en-US" altLang="zh-CN" dirty="0" err="1"/>
              <a:t>ECharts</a:t>
            </a:r>
            <a:r>
              <a:rPr lang="zh-CN" altLang="en-US" dirty="0"/>
              <a:t>最初由百度团队开源，并于</a:t>
            </a:r>
            <a:r>
              <a:rPr lang="en-US" altLang="zh-CN" dirty="0"/>
              <a:t>2018</a:t>
            </a:r>
            <a:r>
              <a:rPr lang="zh-CN" altLang="en-US" dirty="0"/>
              <a:t>年初捐赠给</a:t>
            </a:r>
            <a:r>
              <a:rPr lang="en-US" altLang="zh-CN" dirty="0"/>
              <a:t>Apache</a:t>
            </a:r>
            <a:r>
              <a:rPr lang="zh-CN" altLang="en-US" dirty="0"/>
              <a:t>基金会，成为</a:t>
            </a:r>
            <a:r>
              <a:rPr lang="en-US" altLang="zh-CN" dirty="0"/>
              <a:t>ASF</a:t>
            </a:r>
            <a:r>
              <a:rPr lang="zh-CN" altLang="en-US" dirty="0"/>
              <a:t>孵化级项目。</a:t>
            </a: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dirty="0" err="1"/>
              <a:t>ECharts</a:t>
            </a:r>
            <a:r>
              <a:rPr lang="zh-CN" altLang="en-US" dirty="0"/>
              <a:t>提供了常规的折线图、柱状图、散点图、饼图、</a:t>
            </a:r>
            <a:r>
              <a:rPr lang="en-US" altLang="zh-CN" dirty="0"/>
              <a:t>K</a:t>
            </a:r>
            <a:r>
              <a:rPr lang="zh-CN" altLang="en-US" dirty="0"/>
              <a:t>线图，用于统计的盒形图，用于地理数据可视化的地图、热力图、线图，用于关系数据可视化的关系图、</a:t>
            </a:r>
            <a:r>
              <a:rPr lang="en-US" altLang="zh-CN" dirty="0" err="1"/>
              <a:t>treemap</a:t>
            </a:r>
            <a:r>
              <a:rPr lang="zh-CN" altLang="en-US" dirty="0"/>
              <a:t>、旭日图，多维数据可视化的平行坐标，还有用于 </a:t>
            </a:r>
            <a:r>
              <a:rPr lang="en-US" altLang="zh-CN" dirty="0"/>
              <a:t>BI </a:t>
            </a:r>
            <a:r>
              <a:rPr lang="zh-CN" altLang="en-US" dirty="0"/>
              <a:t>的漏斗图，仪表盘，并且支持图与图之间的混搭。</a:t>
            </a:r>
            <a:endParaRPr lang="en-US" altLang="zh-CN" dirty="0"/>
          </a:p>
          <a:p>
            <a:pPr marL="0" indent="457200">
              <a:lnSpc>
                <a:spcPct val="150000"/>
              </a:lnSpc>
              <a:buNone/>
            </a:pPr>
            <a:r>
              <a:rPr lang="zh-CN" altLang="zh-CN" dirty="0"/>
              <a:t>接下来，使用柱状图对</a:t>
            </a:r>
            <a:r>
              <a:rPr lang="en-US" altLang="zh-CN" dirty="0"/>
              <a:t>2016-2020</a:t>
            </a:r>
            <a:r>
              <a:rPr lang="zh-CN" altLang="zh-CN" dirty="0"/>
              <a:t>年的全国高考报名人数统计进行可视化展示。修改</a:t>
            </a:r>
            <a:r>
              <a:rPr lang="en-US" altLang="zh-CN" dirty="0" err="1"/>
              <a:t>index.jsp</a:t>
            </a:r>
            <a:r>
              <a:rPr lang="zh-CN" altLang="zh-CN" dirty="0"/>
              <a:t>文件，内容如下</a:t>
            </a:r>
            <a:r>
              <a:rPr lang="zh-CN" altLang="en-US" dirty="0"/>
              <a:t>页</a:t>
            </a:r>
            <a:r>
              <a:rPr lang="zh-CN" altLang="zh-CN" dirty="0"/>
              <a:t>：</a:t>
            </a:r>
          </a:p>
          <a:p>
            <a:pPr marL="0" indent="457200">
              <a:lnSpc>
                <a:spcPct val="150000"/>
              </a:lnSpc>
              <a:buNone/>
            </a:pPr>
            <a:endParaRPr lang="zh-CN" altLang="en-US" dirty="0"/>
          </a:p>
          <a:p>
            <a:pPr marL="0" indent="457200">
              <a:lnSpc>
                <a:spcPct val="150000"/>
              </a:lnSpc>
              <a:buNone/>
            </a:pP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</a:t>
            </a:r>
            <a:r>
              <a:rPr lang="en-US" sz="1800" b="1" dirty="0"/>
              <a:t>. </a:t>
            </a:r>
            <a:r>
              <a:rPr lang="en-US" altLang="zh-CN" sz="1800" b="1" dirty="0" err="1"/>
              <a:t>Echart</a:t>
            </a:r>
            <a:r>
              <a:rPr lang="zh-CN" altLang="en-US" sz="1800" b="1" dirty="0"/>
              <a:t>可视化实例</a:t>
            </a:r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626" y="1318814"/>
            <a:ext cx="6173166" cy="44781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n-ea"/>
              </a:rPr>
              <a:t>&lt;%@ page language="java" </a:t>
            </a:r>
            <a:r>
              <a:rPr lang="en-US" altLang="zh-CN" sz="1500" dirty="0" err="1">
                <a:latin typeface="+mn-ea"/>
              </a:rPr>
              <a:t>contentType</a:t>
            </a:r>
            <a:r>
              <a:rPr lang="en-US" altLang="zh-CN" sz="1500" dirty="0">
                <a:latin typeface="+mn-ea"/>
              </a:rPr>
              <a:t>="text/html; charset=UTF-8"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</a:t>
            </a:r>
            <a:r>
              <a:rPr lang="en-US" altLang="zh-CN" sz="1500" dirty="0" err="1">
                <a:latin typeface="+mn-ea"/>
              </a:rPr>
              <a:t>pageEncoding</a:t>
            </a:r>
            <a:r>
              <a:rPr lang="en-US" altLang="zh-CN" sz="1500" dirty="0">
                <a:latin typeface="+mn-ea"/>
              </a:rPr>
              <a:t>="UTF-8"%&gt;</a:t>
            </a:r>
            <a:endParaRPr lang="zh-CN" altLang="zh-CN" sz="1500" dirty="0">
              <a:latin typeface="+mn-ea"/>
            </a:endParaRPr>
          </a:p>
          <a:p>
            <a:endParaRPr lang="en-US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&lt;html&gt;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&lt;head&gt;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&lt;meta http-</a:t>
            </a:r>
            <a:r>
              <a:rPr lang="en-US" altLang="zh-CN" sz="1500" dirty="0" err="1">
                <a:latin typeface="+mn-ea"/>
              </a:rPr>
              <a:t>equiv</a:t>
            </a:r>
            <a:r>
              <a:rPr lang="en-US" altLang="zh-CN" sz="1500" dirty="0">
                <a:latin typeface="+mn-ea"/>
              </a:rPr>
              <a:t>="Content-Type" content="text/html; charset=UTF-8"&gt;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&lt;title&gt;Insert title here&lt;/title&gt;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&lt;script </a:t>
            </a:r>
            <a:r>
              <a:rPr lang="en-US" altLang="zh-CN" sz="1500" dirty="0" err="1">
                <a:latin typeface="+mn-ea"/>
              </a:rPr>
              <a:t>src</a:t>
            </a:r>
            <a:r>
              <a:rPr lang="en-US" altLang="zh-CN" sz="1500" dirty="0">
                <a:latin typeface="+mn-ea"/>
              </a:rPr>
              <a:t>="./</a:t>
            </a:r>
            <a:r>
              <a:rPr lang="en-US" altLang="zh-CN" sz="1500" dirty="0" err="1">
                <a:latin typeface="+mn-ea"/>
              </a:rPr>
              <a:t>js</a:t>
            </a:r>
            <a:r>
              <a:rPr lang="en-US" altLang="zh-CN" sz="1500" dirty="0">
                <a:latin typeface="+mn-ea"/>
              </a:rPr>
              <a:t>/echarts.min.js"&gt;&lt;/script&gt;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&lt;/head&gt;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&lt;body&gt;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&lt;div id="main" style="width: 600px;height:400px;"&gt;&lt;/div&gt;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&lt;script type="text/</a:t>
            </a:r>
            <a:r>
              <a:rPr lang="en-US" altLang="zh-CN" sz="1500" dirty="0" err="1">
                <a:latin typeface="+mn-ea"/>
              </a:rPr>
              <a:t>javascript</a:t>
            </a:r>
            <a:r>
              <a:rPr lang="en-US" altLang="zh-CN" sz="1500" dirty="0">
                <a:latin typeface="+mn-ea"/>
              </a:rPr>
              <a:t>"&gt;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</a:t>
            </a:r>
            <a:r>
              <a:rPr lang="en-US" altLang="zh-CN" sz="1500" dirty="0" err="1">
                <a:latin typeface="+mn-ea"/>
              </a:rPr>
              <a:t>var</a:t>
            </a:r>
            <a:r>
              <a:rPr lang="en-US" altLang="zh-CN" sz="1500" dirty="0">
                <a:latin typeface="+mn-ea"/>
              </a:rPr>
              <a:t> </a:t>
            </a:r>
            <a:r>
              <a:rPr lang="en-US" altLang="zh-CN" sz="1500" dirty="0" err="1">
                <a:latin typeface="+mn-ea"/>
              </a:rPr>
              <a:t>myChart</a:t>
            </a:r>
            <a:r>
              <a:rPr lang="en-US" altLang="zh-CN" sz="1500" dirty="0">
                <a:latin typeface="+mn-ea"/>
              </a:rPr>
              <a:t> = </a:t>
            </a:r>
            <a:r>
              <a:rPr lang="en-US" altLang="zh-CN" sz="1500" dirty="0" err="1">
                <a:latin typeface="+mn-ea"/>
              </a:rPr>
              <a:t>echarts.init</a:t>
            </a:r>
            <a:r>
              <a:rPr lang="en-US" altLang="zh-CN" sz="1500" dirty="0">
                <a:latin typeface="+mn-ea"/>
              </a:rPr>
              <a:t>(</a:t>
            </a:r>
            <a:r>
              <a:rPr lang="en-US" altLang="zh-CN" sz="1500" dirty="0" err="1">
                <a:latin typeface="+mn-ea"/>
              </a:rPr>
              <a:t>document.getElementById</a:t>
            </a:r>
            <a:r>
              <a:rPr lang="en-US" altLang="zh-CN" sz="1500" dirty="0">
                <a:latin typeface="+mn-ea"/>
              </a:rPr>
              <a:t>('main'));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option = {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title: {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text: '</a:t>
            </a:r>
            <a:r>
              <a:rPr lang="en-US" altLang="zh-CN" sz="1500" dirty="0" err="1">
                <a:latin typeface="+mn-ea"/>
              </a:rPr>
              <a:t>ECharts</a:t>
            </a:r>
            <a:r>
              <a:rPr lang="en-US" altLang="zh-CN" sz="1500" dirty="0">
                <a:latin typeface="+mn-ea"/>
              </a:rPr>
              <a:t> </a:t>
            </a:r>
            <a:r>
              <a:rPr lang="zh-CN" altLang="zh-CN" sz="1500" dirty="0">
                <a:latin typeface="+mn-ea"/>
              </a:rPr>
              <a:t>示例</a:t>
            </a:r>
            <a:r>
              <a:rPr lang="en-US" altLang="zh-CN" sz="1500" dirty="0">
                <a:latin typeface="+mn-ea"/>
              </a:rPr>
              <a:t>'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},</a:t>
            </a:r>
            <a:endParaRPr lang="zh-CN" altLang="zh-CN" sz="1500" dirty="0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18443" y="1318814"/>
            <a:ext cx="5585597" cy="49398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n-ea"/>
              </a:rPr>
              <a:t>                tooltip: {},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legend: {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data: ['</a:t>
            </a:r>
            <a:r>
              <a:rPr lang="zh-CN" altLang="zh-CN" sz="1500" dirty="0">
                <a:latin typeface="+mn-ea"/>
              </a:rPr>
              <a:t>高考报考人数统计</a:t>
            </a:r>
            <a:r>
              <a:rPr lang="en-US" altLang="zh-CN" sz="1500" dirty="0">
                <a:latin typeface="+mn-ea"/>
              </a:rPr>
              <a:t>(</a:t>
            </a:r>
            <a:r>
              <a:rPr lang="zh-CN" altLang="zh-CN" sz="1500" dirty="0">
                <a:latin typeface="+mn-ea"/>
              </a:rPr>
              <a:t>万人</a:t>
            </a:r>
            <a:r>
              <a:rPr lang="en-US" altLang="zh-CN" sz="1500" dirty="0">
                <a:latin typeface="+mn-ea"/>
              </a:rPr>
              <a:t>)']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},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</a:t>
            </a:r>
            <a:r>
              <a:rPr lang="en-US" altLang="zh-CN" sz="1500" dirty="0" err="1">
                <a:latin typeface="+mn-ea"/>
              </a:rPr>
              <a:t>xAxis</a:t>
            </a:r>
            <a:r>
              <a:rPr lang="en-US" altLang="zh-CN" sz="1500" dirty="0">
                <a:latin typeface="+mn-ea"/>
              </a:rPr>
              <a:t>: {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data: ['2016', '2017', '2018', '2019', '2020', '2021']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},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</a:t>
            </a:r>
            <a:r>
              <a:rPr lang="en-US" altLang="zh-CN" sz="1500" dirty="0" err="1">
                <a:latin typeface="+mn-ea"/>
              </a:rPr>
              <a:t>yAxis</a:t>
            </a:r>
            <a:r>
              <a:rPr lang="en-US" altLang="zh-CN" sz="1500" dirty="0">
                <a:latin typeface="+mn-ea"/>
              </a:rPr>
              <a:t>: {},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series: [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{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  name: '</a:t>
            </a:r>
            <a:r>
              <a:rPr lang="zh-CN" altLang="zh-CN" sz="1500" dirty="0">
                <a:latin typeface="+mn-ea"/>
              </a:rPr>
              <a:t>高考报考人数统计</a:t>
            </a:r>
            <a:r>
              <a:rPr lang="en-US" altLang="zh-CN" sz="1500" dirty="0">
                <a:latin typeface="+mn-ea"/>
              </a:rPr>
              <a:t>',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  type: 'bar',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  data: [940, 940, 975, 1031, 1071, 1200]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  }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  ]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         };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     </a:t>
            </a:r>
            <a:r>
              <a:rPr lang="en-US" altLang="zh-CN" sz="1500" dirty="0" err="1">
                <a:latin typeface="+mn-ea"/>
              </a:rPr>
              <a:t>myChart.setOption</a:t>
            </a:r>
            <a:r>
              <a:rPr lang="en-US" altLang="zh-CN" sz="1500" dirty="0">
                <a:latin typeface="+mn-ea"/>
              </a:rPr>
              <a:t>(option);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&lt;/script&gt;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&lt;/body&gt;</a:t>
            </a:r>
            <a:endParaRPr lang="zh-CN" altLang="zh-CN" sz="1500" dirty="0">
              <a:latin typeface="+mn-ea"/>
            </a:endParaRPr>
          </a:p>
          <a:p>
            <a:r>
              <a:rPr lang="en-US" altLang="zh-CN" sz="1500" dirty="0">
                <a:latin typeface="+mn-ea"/>
              </a:rPr>
              <a:t>&lt;/html&gt;</a:t>
            </a:r>
          </a:p>
          <a:p>
            <a:endParaRPr lang="zh-CN" altLang="zh-CN" sz="1500" dirty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</a:t>
            </a:r>
            <a:r>
              <a:rPr lang="en-US" sz="1800" b="1" dirty="0"/>
              <a:t>. </a:t>
            </a:r>
            <a:r>
              <a:rPr lang="en-US" altLang="zh-CN" sz="1800" b="1" dirty="0" err="1"/>
              <a:t>Echart</a:t>
            </a:r>
            <a:r>
              <a:rPr lang="zh-CN" altLang="en-US" sz="1800" b="1" dirty="0"/>
              <a:t>可视化实例</a:t>
            </a:r>
          </a:p>
        </p:txBody>
      </p:sp>
      <p:sp>
        <p:nvSpPr>
          <p:cNvPr id="7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98" name="图片 4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94" y="1297224"/>
            <a:ext cx="6016978" cy="3709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9" name="图片 4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673" y="2353826"/>
            <a:ext cx="5868693" cy="3164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3.2.7 </a:t>
            </a:r>
            <a:r>
              <a:rPr lang="zh-CN" altLang="en-US" dirty="0"/>
              <a:t>利用</a:t>
            </a:r>
            <a:r>
              <a:rPr lang="en-US" altLang="zh-CN" dirty="0" err="1"/>
              <a:t>Echarts</a:t>
            </a:r>
            <a:r>
              <a:rPr lang="zh-CN" altLang="en-US" dirty="0"/>
              <a:t>可视化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8663940" y="52070"/>
            <a:ext cx="3340100" cy="506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200" dirty="0"/>
              <a:t>第</a:t>
            </a:r>
            <a:r>
              <a:rPr lang="en-US" altLang="zh-CN" sz="1200" dirty="0"/>
              <a:t>3</a:t>
            </a:r>
            <a:r>
              <a:rPr lang="zh-CN" altLang="en-US" sz="1200" dirty="0"/>
              <a:t>章 基于</a:t>
            </a:r>
            <a:r>
              <a:rPr lang="en-US" altLang="zh-CN" sz="1200" dirty="0" err="1"/>
              <a:t>Hive+MySQL+Spark</a:t>
            </a:r>
            <a:r>
              <a:rPr lang="zh-CN" altLang="en-US" sz="1200" dirty="0"/>
              <a:t>的零售数据分析及可视化</a:t>
            </a:r>
            <a:endParaRPr lang="zh-CN" altLang="en-US" sz="1200" b="0" dirty="0"/>
          </a:p>
        </p:txBody>
      </p:sp>
      <p:sp>
        <p:nvSpPr>
          <p:cNvPr id="100" name="graduate-cap_49944"/>
          <p:cNvSpPr/>
          <p:nvPr/>
        </p:nvSpPr>
        <p:spPr>
          <a:xfrm>
            <a:off x="174625" y="174625"/>
            <a:ext cx="393700" cy="262255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2145" y="741045"/>
            <a:ext cx="9429750" cy="37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</a:t>
            </a:r>
            <a:r>
              <a:rPr lang="en-US" sz="1800" b="1" dirty="0"/>
              <a:t>. </a:t>
            </a:r>
            <a:r>
              <a:rPr lang="en-US" altLang="zh-CN" sz="1800" b="1" dirty="0" err="1"/>
              <a:t>Echart</a:t>
            </a:r>
            <a:r>
              <a:rPr lang="zh-CN" altLang="en-US" sz="1800" b="1" dirty="0"/>
              <a:t>可视化实例</a:t>
            </a: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652145" y="1456690"/>
            <a:ext cx="10812780" cy="4162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endParaRPr lang="zh-CN" altLang="en-US" sz="1800" dirty="0"/>
          </a:p>
        </p:txBody>
      </p:sp>
      <p:sp>
        <p:nvSpPr>
          <p:cNvPr id="10" name="五边形 9"/>
          <p:cNvSpPr/>
          <p:nvPr/>
        </p:nvSpPr>
        <p:spPr>
          <a:xfrm>
            <a:off x="414655" y="782955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414655" y="778510"/>
            <a:ext cx="237490" cy="274955"/>
          </a:xfrm>
          <a:prstGeom prst="homePlate">
            <a:avLst/>
          </a:prstGeom>
          <a:solidFill>
            <a:srgbClr val="156F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194" y="1297224"/>
            <a:ext cx="11241846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注意里面</a:t>
            </a:r>
            <a:r>
              <a:rPr lang="en-US" altLang="zh-CN" dirty="0">
                <a:latin typeface="+mn-ea"/>
              </a:rPr>
              <a:t>&lt;script </a:t>
            </a:r>
            <a:r>
              <a:rPr lang="en-US" altLang="zh-CN" dirty="0" err="1">
                <a:latin typeface="+mn-ea"/>
              </a:rPr>
              <a:t>src</a:t>
            </a:r>
            <a:r>
              <a:rPr lang="en-US" altLang="zh-CN" dirty="0">
                <a:latin typeface="+mn-ea"/>
              </a:rPr>
              <a:t>=“./</a:t>
            </a:r>
            <a:r>
              <a:rPr lang="en-US" altLang="zh-CN" dirty="0" err="1">
                <a:latin typeface="+mn-ea"/>
              </a:rPr>
              <a:t>js</a:t>
            </a:r>
            <a:r>
              <a:rPr lang="en-US" altLang="zh-CN" dirty="0">
                <a:latin typeface="+mn-ea"/>
              </a:rPr>
              <a:t>/echarts.min.js”&gt;&lt;/script&gt;</a:t>
            </a:r>
            <a:r>
              <a:rPr lang="zh-CN" altLang="en-US" dirty="0">
                <a:latin typeface="+mn-ea"/>
              </a:rPr>
              <a:t>有两种方法引用：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+mn-ea"/>
              </a:rPr>
              <a:t>1</a:t>
            </a:r>
            <a:r>
              <a:rPr lang="zh-CN" altLang="zh-CN" dirty="0"/>
              <a:t>是从</a:t>
            </a:r>
            <a:r>
              <a:rPr lang="en-US" altLang="zh-CN" dirty="0"/>
              <a:t>Apache </a:t>
            </a:r>
            <a:r>
              <a:rPr lang="en-US" altLang="zh-CN" dirty="0" err="1"/>
              <a:t>Echarts</a:t>
            </a:r>
            <a:r>
              <a:rPr lang="zh-CN" altLang="zh-CN" dirty="0"/>
              <a:t>官网上下载的需要的</a:t>
            </a:r>
            <a:r>
              <a:rPr lang="en-US" altLang="zh-CN" dirty="0" err="1"/>
              <a:t>js</a:t>
            </a:r>
            <a:r>
              <a:rPr lang="zh-CN" altLang="zh-CN" dirty="0"/>
              <a:t>文件，并引用进来</a:t>
            </a:r>
            <a:r>
              <a:rPr lang="zh-CN" altLang="en-US" dirty="0"/>
              <a:t>。</a:t>
            </a:r>
            <a:endParaRPr lang="zh-CN" altLang="en-US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+mn-ea"/>
              </a:rPr>
              <a:t>2</a:t>
            </a:r>
            <a:r>
              <a:rPr lang="en-US" altLang="zh-CN" dirty="0"/>
              <a:t>CDN </a:t>
            </a:r>
            <a:r>
              <a:rPr lang="zh-CN" altLang="en-US" dirty="0"/>
              <a:t>在线引入：</a:t>
            </a:r>
            <a:r>
              <a:rPr lang="en-US" altLang="zh-CN" dirty="0"/>
              <a:t>&lt;script </a:t>
            </a:r>
            <a:r>
              <a:rPr lang="en-US" altLang="zh-CN" dirty="0" err="1"/>
              <a:t>src</a:t>
            </a:r>
            <a:r>
              <a:rPr lang="en-US" altLang="zh-CN" dirty="0"/>
              <a:t>="https://cdn.bootcdn.net/ajax/libs/</a:t>
            </a:r>
            <a:r>
              <a:rPr lang="en-US" altLang="zh-CN" dirty="0" err="1"/>
              <a:t>echarts</a:t>
            </a:r>
            <a:r>
              <a:rPr lang="en-US" altLang="zh-CN" dirty="0"/>
              <a:t>/5.4.3/echarts.min.js"&gt;&lt;/script&gt;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重新在</a:t>
            </a:r>
            <a:r>
              <a:rPr lang="en-US" altLang="zh-CN" dirty="0" err="1">
                <a:latin typeface="+mn-ea"/>
              </a:rPr>
              <a:t>index.jsp</a:t>
            </a:r>
            <a:r>
              <a:rPr lang="zh-CN" altLang="en-US" dirty="0">
                <a:latin typeface="+mn-ea"/>
              </a:rPr>
              <a:t>上右键点击“</a:t>
            </a:r>
            <a:r>
              <a:rPr lang="en-US" altLang="zh-CN" dirty="0">
                <a:latin typeface="+mn-ea"/>
              </a:rPr>
              <a:t>Run As-&gt;Run on Server”</a:t>
            </a:r>
            <a:r>
              <a:rPr lang="zh-CN" altLang="en-US" dirty="0">
                <a:latin typeface="+mn-ea"/>
              </a:rPr>
              <a:t>，执行后，在浏览器中可以显示可视化结果。</a:t>
            </a:r>
          </a:p>
        </p:txBody>
      </p:sp>
      <p:pic>
        <p:nvPicPr>
          <p:cNvPr id="5122" name="图片 4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317" y="3245304"/>
            <a:ext cx="9075291" cy="3476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AxYTlmYWMwYTA5NmNlNmIxNjQxYWJkMTdkOGM3ZjcifQ=="/>
  <p:tag name="LOCALPRESID" val="1788793247467945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482639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492451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4919e0e-1b39-494d-bf09-a4d89eb0a4ae}"/>
  <p:tag name="TABLE_ENDDRAG_ORIGIN_RECT" val="424*153"/>
  <p:tag name="TABLE_ENDDRAG_RECT" val="482*112*424*1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52225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54208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557796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57264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582738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592430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0705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17236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3211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42303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57013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72619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8776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697846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712271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732824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752442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777919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807811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852099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892928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932060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96715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7997556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047980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087057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122685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167195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2072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237290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262135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287008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307166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332308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352026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367512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387035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41264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427496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442358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457593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472153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487532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02958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12851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27542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37083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4788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67535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72714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77353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82774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87879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592938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02283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07961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12475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17472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22287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27859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32343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6304837966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63048413254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63048418718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899378462559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37466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47709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47359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52090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57364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62700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67072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72090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77497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8245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82761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8793248692980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5510</Words>
  <Application>Microsoft Office PowerPoint</Application>
  <PresentationFormat>宽屏</PresentationFormat>
  <Paragraphs>677</Paragraphs>
  <Slides>79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79</vt:i4>
      </vt:variant>
    </vt:vector>
  </HeadingPairs>
  <TitlesOfParts>
    <vt:vector size="87" baseType="lpstr">
      <vt:lpstr>等线</vt:lpstr>
      <vt:lpstr>微软雅黑</vt:lpstr>
      <vt:lpstr>Arial</vt:lpstr>
      <vt:lpstr>Calibri</vt:lpstr>
      <vt:lpstr>Consolas</vt:lpstr>
      <vt:lpstr>Wingdings</vt:lpstr>
      <vt:lpstr>Office 主题</vt:lpstr>
      <vt:lpstr>1_Office 主题</vt:lpstr>
      <vt:lpstr>PowerPoint 演示文稿</vt:lpstr>
      <vt:lpstr>3.2 项目实验环境准备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3.2.1 安装Java</vt:lpstr>
      <vt:lpstr>3.2.2 安装Hadoop</vt:lpstr>
      <vt:lpstr>3.2.2 安装Hadoop</vt:lpstr>
      <vt:lpstr>3.2.2 安装Hadoop</vt:lpstr>
      <vt:lpstr>3.2.2 安装Hadoop</vt:lpstr>
      <vt:lpstr>3.2.2 安装Hadoop</vt:lpstr>
      <vt:lpstr>3.2.2 安装Hadoop</vt:lpstr>
      <vt:lpstr>3.2.2 安装Hadoop</vt:lpstr>
      <vt:lpstr>3.2.2 安装Hadoop</vt:lpstr>
      <vt:lpstr>3.2.2 安装Hadoop</vt:lpstr>
      <vt:lpstr>3.2.2 安装Hadoop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3.2.3安装MySQL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3.2.4 安装Hive</vt:lpstr>
      <vt:lpstr>3.2.5 安装Sqoop</vt:lpstr>
      <vt:lpstr>3.2.5 安装Sqoop</vt:lpstr>
      <vt:lpstr>3.2.5 安装Sqoop</vt:lpstr>
      <vt:lpstr>3.2.5 安装Sqoop</vt:lpstr>
      <vt:lpstr>3.2.5 安装Sqoop</vt:lpstr>
      <vt:lpstr>3.2.5 安装Sqoop</vt:lpstr>
      <vt:lpstr>3.2.6 安装Spark</vt:lpstr>
      <vt:lpstr>3.2.6 安装Spark</vt:lpstr>
      <vt:lpstr>3.2.6 安装Spark</vt:lpstr>
      <vt:lpstr>3.2.6 安装Spark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  <vt:lpstr>3.2.7 利用Echarts可视化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大数据综合应用实践</dc:title>
  <dc:creator>ccp</dc:creator>
  <cp:lastModifiedBy>继新 马</cp:lastModifiedBy>
  <cp:revision>153</cp:revision>
  <dcterms:created xsi:type="dcterms:W3CDTF">2021-12-23T01:50:00Z</dcterms:created>
  <dcterms:modified xsi:type="dcterms:W3CDTF">2026-09-22T08:01:51Z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4907CCDB80994830856479D5DAB473CD</vt:lpwstr>
  </property>
  <property fmtid="{D5CDD505-2E9C-101B-9397-08002B2CF9AE}" pid="3" name="KSOProductBuildVer">
    <vt:lpwstr>2052-11.1.0.12156</vt:lpwstr>
  </property>
</Properties>
</file>