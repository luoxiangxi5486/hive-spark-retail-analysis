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3.xml" ContentType="application/vnd.openxmlformats-officedocument.presentationml.notesSlide+xml"/>
  <Override PartName="/ppt/tags/tag32.xml" ContentType="application/vnd.openxmlformats-officedocument.presentationml.tags+xml"/>
  <Override PartName="/ppt/notesSlides/notesSlide4.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3" r:id="rId2"/>
  </p:sldMasterIdLst>
  <p:notesMasterIdLst>
    <p:notesMasterId r:id="rId86"/>
  </p:notesMasterIdLst>
  <p:sldIdLst>
    <p:sldId id="275" r:id="rId3"/>
    <p:sldId id="354" r:id="rId4"/>
    <p:sldId id="277" r:id="rId5"/>
    <p:sldId id="272" r:id="rId6"/>
    <p:sldId id="280" r:id="rId7"/>
    <p:sldId id="281" r:id="rId8"/>
    <p:sldId id="282" r:id="rId9"/>
    <p:sldId id="284" r:id="rId10"/>
    <p:sldId id="283" r:id="rId11"/>
    <p:sldId id="285" r:id="rId12"/>
    <p:sldId id="286" r:id="rId13"/>
    <p:sldId id="287" r:id="rId14"/>
    <p:sldId id="288" r:id="rId15"/>
    <p:sldId id="289" r:id="rId16"/>
    <p:sldId id="290" r:id="rId17"/>
    <p:sldId id="291" r:id="rId18"/>
    <p:sldId id="292" r:id="rId19"/>
    <p:sldId id="293" r:id="rId20"/>
    <p:sldId id="294" r:id="rId21"/>
    <p:sldId id="357" r:id="rId22"/>
    <p:sldId id="358" r:id="rId23"/>
    <p:sldId id="359" r:id="rId24"/>
    <p:sldId id="378" r:id="rId25"/>
    <p:sldId id="375" r:id="rId26"/>
    <p:sldId id="376" r:id="rId27"/>
    <p:sldId id="377" r:id="rId28"/>
    <p:sldId id="327" r:id="rId29"/>
    <p:sldId id="356" r:id="rId30"/>
    <p:sldId id="381" r:id="rId31"/>
    <p:sldId id="382" r:id="rId32"/>
    <p:sldId id="328" r:id="rId33"/>
    <p:sldId id="329" r:id="rId34"/>
    <p:sldId id="330" r:id="rId35"/>
    <p:sldId id="331" r:id="rId36"/>
    <p:sldId id="332" r:id="rId37"/>
    <p:sldId id="333" r:id="rId38"/>
    <p:sldId id="334" r:id="rId39"/>
    <p:sldId id="336" r:id="rId40"/>
    <p:sldId id="337" r:id="rId41"/>
    <p:sldId id="338" r:id="rId42"/>
    <p:sldId id="339" r:id="rId43"/>
    <p:sldId id="340" r:id="rId44"/>
    <p:sldId id="341" r:id="rId45"/>
    <p:sldId id="342" r:id="rId46"/>
    <p:sldId id="344" r:id="rId47"/>
    <p:sldId id="346" r:id="rId48"/>
    <p:sldId id="347" r:id="rId49"/>
    <p:sldId id="350" r:id="rId50"/>
    <p:sldId id="360" r:id="rId51"/>
    <p:sldId id="361" r:id="rId52"/>
    <p:sldId id="362" r:id="rId53"/>
    <p:sldId id="363" r:id="rId54"/>
    <p:sldId id="295" r:id="rId55"/>
    <p:sldId id="296" r:id="rId56"/>
    <p:sldId id="297" r:id="rId57"/>
    <p:sldId id="298" r:id="rId58"/>
    <p:sldId id="364" r:id="rId59"/>
    <p:sldId id="374" r:id="rId60"/>
    <p:sldId id="368" r:id="rId61"/>
    <p:sldId id="369" r:id="rId62"/>
    <p:sldId id="370" r:id="rId63"/>
    <p:sldId id="300" r:id="rId64"/>
    <p:sldId id="301" r:id="rId65"/>
    <p:sldId id="302" r:id="rId66"/>
    <p:sldId id="303" r:id="rId67"/>
    <p:sldId id="304" r:id="rId68"/>
    <p:sldId id="305" r:id="rId69"/>
    <p:sldId id="306" r:id="rId70"/>
    <p:sldId id="371" r:id="rId71"/>
    <p:sldId id="372" r:id="rId72"/>
    <p:sldId id="310" r:id="rId73"/>
    <p:sldId id="323" r:id="rId74"/>
    <p:sldId id="311" r:id="rId75"/>
    <p:sldId id="324" r:id="rId76"/>
    <p:sldId id="312" r:id="rId77"/>
    <p:sldId id="315" r:id="rId78"/>
    <p:sldId id="325" r:id="rId79"/>
    <p:sldId id="313" r:id="rId80"/>
    <p:sldId id="316" r:id="rId81"/>
    <p:sldId id="326" r:id="rId82"/>
    <p:sldId id="314" r:id="rId83"/>
    <p:sldId id="317" r:id="rId84"/>
    <p:sldId id="319" r:id="rId85"/>
  </p:sldIdLst>
  <p:sldSz cx="12192000" cy="6858000"/>
  <p:notesSz cx="6858000" cy="9144000"/>
  <p:custDataLst>
    <p:tags r:id="rId8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1A6492"/>
    <a:srgbClr val="156F97"/>
    <a:srgbClr val="EEF5FB"/>
    <a:srgbClr val="6CA8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31" autoAdjust="0"/>
    <p:restoredTop sz="90514" autoAdjust="0"/>
  </p:normalViewPr>
  <p:slideViewPr>
    <p:cSldViewPr snapToGrid="0">
      <p:cViewPr varScale="1">
        <p:scale>
          <a:sx n="74" d="100"/>
          <a:sy n="74" d="100"/>
        </p:scale>
        <p:origin x="1238" y="67"/>
      </p:cViewPr>
      <p:guideLst/>
    </p:cSldViewPr>
  </p:slideViewPr>
  <p:notesTextViewPr>
    <p:cViewPr>
      <p:scale>
        <a:sx n="1" d="1"/>
        <a:sy n="1" d="1"/>
      </p:scale>
      <p:origin x="0" y="0"/>
    </p:cViewPr>
  </p:notesTextViewPr>
  <p:notesViewPr>
    <p:cSldViewPr snapToGrid="0">
      <p:cViewPr varScale="1">
        <p:scale>
          <a:sx n="72" d="100"/>
          <a:sy n="72" d="100"/>
        </p:scale>
        <p:origin x="2044"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gs" Target="tags/tag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2BE8C6-C54A-4068-83C2-89B62879A188}" type="datetimeFigureOut">
              <a:rPr lang="zh-CN" altLang="en-US" smtClean="0"/>
              <a:t>2026/9/24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67D4C-A80E-484A-9258-76C45D905E68}" type="slidenum">
              <a:rPr lang="zh-CN" altLang="en-US" smtClean="0"/>
              <a:t>‹#›</a:t>
            </a:fld>
            <a:endParaRPr lang="zh-CN" altLang="en-US"/>
          </a:p>
        </p:txBody>
      </p:sp>
    </p:spTree>
    <p:extLst>
      <p:ext uri="{BB962C8B-B14F-4D97-AF65-F5344CB8AC3E}">
        <p14:creationId xmlns:p14="http://schemas.microsoft.com/office/powerpoint/2010/main" val="2887648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77D67D4C-A80E-484A-9258-76C45D905E68}" type="slidenum">
              <a:rPr lang="zh-CN" altLang="en-US" smtClean="0"/>
              <a:t>2</a:t>
            </a:fld>
            <a:endParaRPr lang="zh-CN" altLang="en-US"/>
          </a:p>
        </p:txBody>
      </p:sp>
    </p:spTree>
    <p:extLst>
      <p:ext uri="{BB962C8B-B14F-4D97-AF65-F5344CB8AC3E}">
        <p14:creationId xmlns:p14="http://schemas.microsoft.com/office/powerpoint/2010/main" val="2534052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0000"/>
                </a:solidFill>
                <a:latin typeface="+mn-ea"/>
                <a:cs typeface="微软雅黑" panose="020B0503020204020204" pitchFamily="34" charset="-122"/>
              </a:rPr>
              <a:t>MarketSales_edit.csv </a:t>
            </a:r>
            <a:r>
              <a:rPr lang="zh-CN" altLang="en-US" sz="1200" dirty="0">
                <a:solidFill>
                  <a:srgbClr val="FF0000"/>
                </a:solidFill>
                <a:latin typeface="+mn-ea"/>
                <a:cs typeface="微软雅黑" panose="020B0503020204020204" pitchFamily="34" charset="-122"/>
              </a:rPr>
              <a:t>还是</a:t>
            </a:r>
            <a:r>
              <a:rPr lang="en-US" altLang="zh-CN" sz="1200" dirty="0">
                <a:solidFill>
                  <a:srgbClr val="FF0000"/>
                </a:solidFill>
                <a:latin typeface="+mn-ea"/>
                <a:cs typeface="微软雅黑" panose="020B0503020204020204" pitchFamily="34" charset="-122"/>
              </a:rPr>
              <a:t>GBK</a:t>
            </a:r>
            <a:r>
              <a:rPr lang="zh-CN" altLang="en-US" sz="1200" dirty="0">
                <a:solidFill>
                  <a:srgbClr val="FF0000"/>
                </a:solidFill>
                <a:latin typeface="+mn-ea"/>
                <a:cs typeface="微软雅黑" panose="020B0503020204020204" pitchFamily="34" charset="-122"/>
              </a:rPr>
              <a:t>编码，有乱码。</a:t>
            </a:r>
            <a:endParaRPr lang="zh-CN" altLang="en-US" dirty="0"/>
          </a:p>
        </p:txBody>
      </p:sp>
      <p:sp>
        <p:nvSpPr>
          <p:cNvPr id="4" name="灯片编号占位符 3"/>
          <p:cNvSpPr>
            <a:spLocks noGrp="1"/>
          </p:cNvSpPr>
          <p:nvPr>
            <p:ph type="sldNum" sz="quarter" idx="5"/>
          </p:nvPr>
        </p:nvSpPr>
        <p:spPr/>
        <p:txBody>
          <a:bodyPr/>
          <a:lstStyle/>
          <a:p>
            <a:fld id="{77D67D4C-A80E-484A-9258-76C45D905E68}" type="slidenum">
              <a:rPr lang="zh-CN" altLang="en-US" smtClean="0"/>
              <a:t>27</a:t>
            </a:fld>
            <a:endParaRPr lang="zh-CN" altLang="en-US"/>
          </a:p>
        </p:txBody>
      </p:sp>
    </p:spTree>
    <p:extLst>
      <p:ext uri="{BB962C8B-B14F-4D97-AF65-F5344CB8AC3E}">
        <p14:creationId xmlns:p14="http://schemas.microsoft.com/office/powerpoint/2010/main" val="3139443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D67D4C-A80E-484A-9258-76C45D905E68}" type="slidenum">
              <a:rPr lang="zh-CN" altLang="en-US" smtClean="0"/>
              <a:t>29</a:t>
            </a:fld>
            <a:endParaRPr lang="zh-CN" altLang="en-US"/>
          </a:p>
        </p:txBody>
      </p:sp>
    </p:spTree>
    <p:extLst>
      <p:ext uri="{BB962C8B-B14F-4D97-AF65-F5344CB8AC3E}">
        <p14:creationId xmlns:p14="http://schemas.microsoft.com/office/powerpoint/2010/main" val="1403033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D67D4C-A80E-484A-9258-76C45D905E68}" type="slidenum">
              <a:rPr lang="zh-CN" altLang="en-US" smtClean="0"/>
              <a:t>30</a:t>
            </a:fld>
            <a:endParaRPr lang="zh-CN" altLang="en-US"/>
          </a:p>
        </p:txBody>
      </p:sp>
    </p:spTree>
    <p:extLst>
      <p:ext uri="{BB962C8B-B14F-4D97-AF65-F5344CB8AC3E}">
        <p14:creationId xmlns:p14="http://schemas.microsoft.com/office/powerpoint/2010/main" val="3047269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414760" y="6400800"/>
            <a:ext cx="777240" cy="365125"/>
          </a:xfrm>
        </p:spPr>
        <p:txBody>
          <a:bodyPr/>
          <a:lstStyle>
            <a:lvl1pPr algn="ctr">
              <a:defRPr/>
            </a:lvl1pPr>
          </a:lstStyle>
          <a:p>
            <a:fld id="{565CE74E-AB26-4998-AD42-012C4C1AD076}" type="slidenum">
              <a:rPr lang="zh-CN" altLang="en-US" smtClean="0"/>
              <a:t>‹#›</a:t>
            </a:fld>
            <a:endParaRPr lang="zh-CN" altLang="en-US"/>
          </a:p>
        </p:txBody>
      </p:sp>
      <p:sp>
        <p:nvSpPr>
          <p:cNvPr id="7" name="矩形 6"/>
          <p:cNvSpPr/>
          <p:nvPr userDrawn="1"/>
        </p:nvSpPr>
        <p:spPr>
          <a:xfrm>
            <a:off x="0" y="-1"/>
            <a:ext cx="12192000" cy="349135"/>
          </a:xfrm>
          <a:prstGeom prst="rect">
            <a:avLst/>
          </a:prstGeom>
          <a:solidFill>
            <a:srgbClr val="156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460480" y="6356350"/>
            <a:ext cx="731520" cy="365125"/>
          </a:xfrm>
        </p:spPr>
        <p:txBody>
          <a:bodyPr/>
          <a:lstStyle>
            <a:lvl1pPr algn="ctr">
              <a:defRPr/>
            </a:lvl1pPr>
          </a:lstStyle>
          <a:p>
            <a:fld id="{565CE74E-AB26-4998-AD42-012C4C1AD076}" type="slidenum">
              <a:rPr lang="zh-CN" altLang="en-US" smtClean="0"/>
              <a:t>‹#›</a:t>
            </a:fld>
            <a:endParaRPr lang="zh-CN" altLang="en-US"/>
          </a:p>
        </p:txBody>
      </p:sp>
      <p:sp>
        <p:nvSpPr>
          <p:cNvPr id="7" name="矩形 6"/>
          <p:cNvSpPr/>
          <p:nvPr userDrawn="1"/>
        </p:nvSpPr>
        <p:spPr>
          <a:xfrm>
            <a:off x="0" y="-1"/>
            <a:ext cx="12192000" cy="349135"/>
          </a:xfrm>
          <a:prstGeom prst="rect">
            <a:avLst/>
          </a:prstGeom>
          <a:solidFill>
            <a:srgbClr val="156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0" y="1"/>
            <a:ext cx="12192000" cy="598516"/>
            <a:chOff x="-1" y="190175"/>
            <a:chExt cx="9145786" cy="525795"/>
          </a:xfrm>
        </p:grpSpPr>
        <p:sp>
          <p:nvSpPr>
            <p:cNvPr id="8" name="任意多边形 7"/>
            <p:cNvSpPr/>
            <p:nvPr userDrawn="1"/>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9" name="任意多边形 8"/>
            <p:cNvSpPr/>
            <p:nvPr userDrawn="1"/>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10" name="任意多边形 9"/>
            <p:cNvSpPr/>
            <p:nvPr userDrawn="1"/>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grpSp>
      <p:sp>
        <p:nvSpPr>
          <p:cNvPr id="2" name="标题 1"/>
          <p:cNvSpPr>
            <a:spLocks noGrp="1"/>
          </p:cNvSpPr>
          <p:nvPr>
            <p:ph type="title" hasCustomPrompt="1"/>
          </p:nvPr>
        </p:nvSpPr>
        <p:spPr>
          <a:xfrm>
            <a:off x="762194" y="52240"/>
            <a:ext cx="7391205" cy="506641"/>
          </a:xfrm>
          <a:prstGeom prst="rect">
            <a:avLst/>
          </a:prstGeom>
          <a:ln>
            <a:noFill/>
          </a:ln>
        </p:spPr>
        <p:txBody>
          <a:bodyPr>
            <a:normAutofit/>
          </a:bodyPr>
          <a:lstStyle>
            <a:lvl1pPr>
              <a:lnSpc>
                <a:spcPct val="100000"/>
              </a:lnSpc>
              <a:defRPr sz="2200" b="1">
                <a:solidFill>
                  <a:schemeClr val="bg1"/>
                </a:solidFill>
                <a:latin typeface="微软雅黑" panose="020B0503020204020204" pitchFamily="34" charset="-122"/>
                <a:ea typeface="微软雅黑" panose="020B0503020204020204" pitchFamily="34" charset="-122"/>
              </a:defRPr>
            </a:lvl1pPr>
          </a:lstStyle>
          <a:p>
            <a:r>
              <a:rPr lang="en-US" altLang="zh-CN" dirty="0"/>
              <a:t>4.4.1</a:t>
            </a:r>
            <a:r>
              <a:rPr lang="zh-CN" altLang="zh-CN" dirty="0"/>
              <a:t>基于</a:t>
            </a:r>
            <a:r>
              <a:rPr lang="en-US" altLang="zh-CN" dirty="0" err="1"/>
              <a:t>Hive+MySQL+Sqoop</a:t>
            </a:r>
            <a:r>
              <a:rPr lang="zh-CN" altLang="zh-CN" dirty="0"/>
              <a:t>的数据存储与传输</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300907" y="6356222"/>
            <a:ext cx="888076" cy="365125"/>
          </a:xfrm>
        </p:spPr>
        <p:txBody>
          <a:bodyPr/>
          <a:lstStyle>
            <a:lvl1pPr algn="ctr">
              <a:defRPr sz="1600">
                <a:solidFill>
                  <a:schemeClr val="tx2">
                    <a:lumMod val="50000"/>
                  </a:schemeClr>
                </a:solidFill>
              </a:defRPr>
            </a:lvl1pPr>
          </a:lstStyle>
          <a:p>
            <a:fld id="{565CE74E-AB26-4998-AD42-012C4C1AD076}" type="slidenum">
              <a:rPr lang="zh-CN" altLang="en-US" smtClean="0"/>
              <a:t>‹#›</a:t>
            </a:fld>
            <a:endParaRPr lang="zh-CN" altLang="en-US"/>
          </a:p>
        </p:txBody>
      </p:sp>
      <p:sp>
        <p:nvSpPr>
          <p:cNvPr id="11" name="矩形 10"/>
          <p:cNvSpPr/>
          <p:nvPr userDrawn="1"/>
        </p:nvSpPr>
        <p:spPr>
          <a:xfrm>
            <a:off x="0" y="6721475"/>
            <a:ext cx="12192001" cy="13652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endParaRPr>
          </a:p>
        </p:txBody>
      </p:sp>
      <p:sp>
        <p:nvSpPr>
          <p:cNvPr id="12" name="标题 1"/>
          <p:cNvSpPr>
            <a:spLocks noGrp="1"/>
          </p:cNvSpPr>
          <p:nvPr userDrawn="1"/>
        </p:nvSpPr>
        <p:spPr>
          <a:xfrm>
            <a:off x="8663940" y="52070"/>
            <a:ext cx="3340100" cy="50673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2200" b="1" kern="1200">
                <a:solidFill>
                  <a:schemeClr val="bg1"/>
                </a:solidFill>
                <a:latin typeface="微软雅黑" panose="020B0503020204020204" pitchFamily="34" charset="-122"/>
                <a:ea typeface="微软雅黑" panose="020B0503020204020204" pitchFamily="34" charset="-122"/>
                <a:cs typeface="+mj-cs"/>
              </a:defRPr>
            </a:lvl1pPr>
          </a:lstStyle>
          <a:p>
            <a:pPr algn="ctr"/>
            <a:r>
              <a:rPr lang="zh-CN" altLang="en-US" sz="1200" dirty="0"/>
              <a:t>第</a:t>
            </a:r>
            <a:r>
              <a:rPr lang="en-US" altLang="zh-CN" sz="1200" dirty="0"/>
              <a:t>4</a:t>
            </a:r>
            <a:r>
              <a:rPr lang="zh-CN" altLang="en-US" sz="1200" dirty="0"/>
              <a:t>章 基于</a:t>
            </a:r>
            <a:r>
              <a:rPr lang="en-US" altLang="zh-CN" sz="1200" dirty="0" err="1"/>
              <a:t>Hive+MySQL+Spark</a:t>
            </a:r>
            <a:r>
              <a:rPr lang="zh-CN" altLang="en-US" sz="1200" dirty="0"/>
              <a:t>的零售数据分析及可视化</a:t>
            </a:r>
            <a:endParaRPr lang="zh-CN" altLang="en-US" sz="1200" b="0" dirty="0"/>
          </a:p>
        </p:txBody>
      </p:sp>
      <p:sp>
        <p:nvSpPr>
          <p:cNvPr id="13" name="graduate-cap_49944"/>
          <p:cNvSpPr/>
          <p:nvPr userDrawn="1"/>
        </p:nvSpPr>
        <p:spPr>
          <a:xfrm>
            <a:off x="174625" y="174625"/>
            <a:ext cx="393700" cy="262255"/>
          </a:xfrm>
          <a:custGeom>
            <a:avLst/>
            <a:gdLst>
              <a:gd name="connsiteX0" fmla="*/ 93338 w 608536"/>
              <a:gd name="connsiteY0" fmla="*/ 167235 h 375291"/>
              <a:gd name="connsiteX1" fmla="*/ 292893 w 608536"/>
              <a:gd name="connsiteY1" fmla="*/ 244637 h 375291"/>
              <a:gd name="connsiteX2" fmla="*/ 305814 w 608536"/>
              <a:gd name="connsiteY2" fmla="*/ 244637 h 375291"/>
              <a:gd name="connsiteX3" fmla="*/ 503933 w 608536"/>
              <a:gd name="connsiteY3" fmla="*/ 167235 h 375291"/>
              <a:gd name="connsiteX4" fmla="*/ 503933 w 608536"/>
              <a:gd name="connsiteY4" fmla="*/ 244637 h 375291"/>
              <a:gd name="connsiteX5" fmla="*/ 298636 w 608536"/>
              <a:gd name="connsiteY5" fmla="*/ 356439 h 375291"/>
              <a:gd name="connsiteX6" fmla="*/ 93338 w 608536"/>
              <a:gd name="connsiteY6" fmla="*/ 244637 h 375291"/>
              <a:gd name="connsiteX7" fmla="*/ 93338 w 608536"/>
              <a:gd name="connsiteY7" fmla="*/ 167235 h 375291"/>
              <a:gd name="connsiteX8" fmla="*/ 292786 w 608536"/>
              <a:gd name="connsiteY8" fmla="*/ 1075 h 375291"/>
              <a:gd name="connsiteX9" fmla="*/ 304268 w 608536"/>
              <a:gd name="connsiteY9" fmla="*/ 1075 h 375291"/>
              <a:gd name="connsiteX10" fmla="*/ 595619 w 608536"/>
              <a:gd name="connsiteY10" fmla="*/ 102873 h 375291"/>
              <a:gd name="connsiteX11" fmla="*/ 598490 w 608536"/>
              <a:gd name="connsiteY11" fmla="*/ 107174 h 375291"/>
              <a:gd name="connsiteX12" fmla="*/ 595619 w 608536"/>
              <a:gd name="connsiteY12" fmla="*/ 111476 h 375291"/>
              <a:gd name="connsiteX13" fmla="*/ 595619 w 608536"/>
              <a:gd name="connsiteY13" fmla="*/ 251986 h 375291"/>
              <a:gd name="connsiteX14" fmla="*/ 608536 w 608536"/>
              <a:gd name="connsiteY14" fmla="*/ 272059 h 375291"/>
              <a:gd name="connsiteX15" fmla="*/ 594184 w 608536"/>
              <a:gd name="connsiteY15" fmla="*/ 293566 h 375291"/>
              <a:gd name="connsiteX16" fmla="*/ 608536 w 608536"/>
              <a:gd name="connsiteY16" fmla="*/ 352351 h 375291"/>
              <a:gd name="connsiteX17" fmla="*/ 585573 w 608536"/>
              <a:gd name="connsiteY17" fmla="*/ 375291 h 375291"/>
              <a:gd name="connsiteX18" fmla="*/ 562609 w 608536"/>
              <a:gd name="connsiteY18" fmla="*/ 352351 h 375291"/>
              <a:gd name="connsiteX19" fmla="*/ 575526 w 608536"/>
              <a:gd name="connsiteY19" fmla="*/ 293566 h 375291"/>
              <a:gd name="connsiteX20" fmla="*/ 562609 w 608536"/>
              <a:gd name="connsiteY20" fmla="*/ 272059 h 375291"/>
              <a:gd name="connsiteX21" fmla="*/ 575526 w 608536"/>
              <a:gd name="connsiteY21" fmla="*/ 251986 h 375291"/>
              <a:gd name="connsiteX22" fmla="*/ 575526 w 608536"/>
              <a:gd name="connsiteY22" fmla="*/ 118645 h 375291"/>
              <a:gd name="connsiteX23" fmla="*/ 305703 w 608536"/>
              <a:gd name="connsiteY23" fmla="*/ 223310 h 375291"/>
              <a:gd name="connsiteX24" fmla="*/ 292786 w 608536"/>
              <a:gd name="connsiteY24" fmla="*/ 223310 h 375291"/>
              <a:gd name="connsiteX25" fmla="*/ 2870 w 608536"/>
              <a:gd name="connsiteY25" fmla="*/ 111476 h 375291"/>
              <a:gd name="connsiteX26" fmla="*/ 0 w 608536"/>
              <a:gd name="connsiteY26" fmla="*/ 107174 h 375291"/>
              <a:gd name="connsiteX27" fmla="*/ 2870 w 608536"/>
              <a:gd name="connsiteY27" fmla="*/ 102873 h 37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8536" h="375291">
                <a:moveTo>
                  <a:pt x="93338" y="167235"/>
                </a:moveTo>
                <a:lnTo>
                  <a:pt x="292893" y="244637"/>
                </a:lnTo>
                <a:cubicBezTo>
                  <a:pt x="297200" y="246070"/>
                  <a:pt x="301507" y="246070"/>
                  <a:pt x="305814" y="244637"/>
                </a:cubicBezTo>
                <a:lnTo>
                  <a:pt x="503933" y="167235"/>
                </a:lnTo>
                <a:cubicBezTo>
                  <a:pt x="503933" y="200202"/>
                  <a:pt x="503933" y="238903"/>
                  <a:pt x="503933" y="244637"/>
                </a:cubicBezTo>
                <a:cubicBezTo>
                  <a:pt x="503933" y="304838"/>
                  <a:pt x="413487" y="353572"/>
                  <a:pt x="298636" y="356439"/>
                </a:cubicBezTo>
                <a:cubicBezTo>
                  <a:pt x="185220" y="353572"/>
                  <a:pt x="93338" y="304838"/>
                  <a:pt x="93338" y="244637"/>
                </a:cubicBezTo>
                <a:cubicBezTo>
                  <a:pt x="93338" y="237470"/>
                  <a:pt x="93338" y="200202"/>
                  <a:pt x="93338" y="167235"/>
                </a:cubicBezTo>
                <a:close/>
                <a:moveTo>
                  <a:pt x="292786" y="1075"/>
                </a:moveTo>
                <a:cubicBezTo>
                  <a:pt x="297092" y="-359"/>
                  <a:pt x="301398" y="-359"/>
                  <a:pt x="304268" y="1075"/>
                </a:cubicBezTo>
                <a:lnTo>
                  <a:pt x="595619" y="102873"/>
                </a:lnTo>
                <a:cubicBezTo>
                  <a:pt x="597054" y="102873"/>
                  <a:pt x="598490" y="105741"/>
                  <a:pt x="598490" y="107174"/>
                </a:cubicBezTo>
                <a:cubicBezTo>
                  <a:pt x="598490" y="108608"/>
                  <a:pt x="597054" y="110042"/>
                  <a:pt x="595619" y="111476"/>
                </a:cubicBezTo>
                <a:lnTo>
                  <a:pt x="595619" y="251986"/>
                </a:lnTo>
                <a:cubicBezTo>
                  <a:pt x="602795" y="254854"/>
                  <a:pt x="608536" y="263456"/>
                  <a:pt x="608536" y="272059"/>
                </a:cubicBezTo>
                <a:cubicBezTo>
                  <a:pt x="608536" y="280662"/>
                  <a:pt x="602795" y="289264"/>
                  <a:pt x="594184" y="293566"/>
                </a:cubicBezTo>
                <a:cubicBezTo>
                  <a:pt x="602795" y="309337"/>
                  <a:pt x="608536" y="342314"/>
                  <a:pt x="608536" y="352351"/>
                </a:cubicBezTo>
                <a:cubicBezTo>
                  <a:pt x="608536" y="363821"/>
                  <a:pt x="597054" y="375291"/>
                  <a:pt x="585573" y="375291"/>
                </a:cubicBezTo>
                <a:cubicBezTo>
                  <a:pt x="572656" y="375291"/>
                  <a:pt x="562609" y="363821"/>
                  <a:pt x="562609" y="352351"/>
                </a:cubicBezTo>
                <a:cubicBezTo>
                  <a:pt x="562609" y="342314"/>
                  <a:pt x="568350" y="309337"/>
                  <a:pt x="575526" y="293566"/>
                </a:cubicBezTo>
                <a:cubicBezTo>
                  <a:pt x="568350" y="289264"/>
                  <a:pt x="562609" y="280662"/>
                  <a:pt x="562609" y="272059"/>
                </a:cubicBezTo>
                <a:cubicBezTo>
                  <a:pt x="562609" y="263456"/>
                  <a:pt x="566915" y="254854"/>
                  <a:pt x="575526" y="251986"/>
                </a:cubicBezTo>
                <a:lnTo>
                  <a:pt x="575526" y="118645"/>
                </a:lnTo>
                <a:lnTo>
                  <a:pt x="305703" y="223310"/>
                </a:lnTo>
                <a:cubicBezTo>
                  <a:pt x="301398" y="224744"/>
                  <a:pt x="297092" y="224744"/>
                  <a:pt x="292786" y="223310"/>
                </a:cubicBezTo>
                <a:lnTo>
                  <a:pt x="2870" y="111476"/>
                </a:lnTo>
                <a:cubicBezTo>
                  <a:pt x="1435" y="110042"/>
                  <a:pt x="0" y="108608"/>
                  <a:pt x="0" y="107174"/>
                </a:cubicBezTo>
                <a:cubicBezTo>
                  <a:pt x="0" y="105741"/>
                  <a:pt x="1435" y="102873"/>
                  <a:pt x="2870" y="102873"/>
                </a:cubicBezTo>
                <a:close/>
              </a:path>
            </a:pathLst>
          </a:custGeom>
          <a:solidFill>
            <a:schemeClr val="accent3">
              <a:lumMod val="20000"/>
              <a:lumOff val="80000"/>
            </a:schemeClr>
          </a:solidFill>
          <a:ln>
            <a:noFill/>
          </a:ln>
        </p:spPr>
        <p:txBody>
          <a:bodyPr rtlCol="0" anchor="ctr"/>
          <a:lstStyle/>
          <a:p>
            <a:pPr algn="ctr"/>
            <a:endParaRPr lang="en-US">
              <a:solidFill>
                <a:schemeClr val="tx1"/>
              </a:solidFill>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414760" y="6400800"/>
            <a:ext cx="777240" cy="365125"/>
          </a:xfrm>
        </p:spPr>
        <p:txBody>
          <a:bodyPr/>
          <a:lstStyle>
            <a:lvl1pPr algn="ctr">
              <a:defRPr/>
            </a:lvl1pPr>
          </a:lstStyle>
          <a:p>
            <a:fld id="{565CE74E-AB26-4998-AD42-012C4C1AD076}" type="slidenum">
              <a:rPr lang="zh-CN" altLang="en-US" smtClean="0"/>
              <a:t>‹#›</a:t>
            </a:fld>
            <a:endParaRPr lang="zh-CN" altLang="en-US"/>
          </a:p>
        </p:txBody>
      </p:sp>
      <p:sp>
        <p:nvSpPr>
          <p:cNvPr id="7" name="矩形 6"/>
          <p:cNvSpPr/>
          <p:nvPr userDrawn="1"/>
        </p:nvSpPr>
        <p:spPr>
          <a:xfrm>
            <a:off x="0" y="-1"/>
            <a:ext cx="12192000" cy="349135"/>
          </a:xfrm>
          <a:prstGeom prst="rect">
            <a:avLst/>
          </a:prstGeom>
          <a:solidFill>
            <a:srgbClr val="156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460480" y="6356350"/>
            <a:ext cx="731520" cy="365125"/>
          </a:xfrm>
        </p:spPr>
        <p:txBody>
          <a:bodyPr/>
          <a:lstStyle>
            <a:lvl1pPr algn="ctr">
              <a:defRPr/>
            </a:lvl1pPr>
          </a:lstStyle>
          <a:p>
            <a:fld id="{565CE74E-AB26-4998-AD42-012C4C1AD076}" type="slidenum">
              <a:rPr lang="zh-CN" altLang="en-US" smtClean="0"/>
              <a:t>‹#›</a:t>
            </a:fld>
            <a:endParaRPr lang="zh-CN" altLang="en-US"/>
          </a:p>
        </p:txBody>
      </p:sp>
      <p:sp>
        <p:nvSpPr>
          <p:cNvPr id="7" name="矩形 6"/>
          <p:cNvSpPr/>
          <p:nvPr userDrawn="1"/>
        </p:nvSpPr>
        <p:spPr>
          <a:xfrm>
            <a:off x="0" y="-1"/>
            <a:ext cx="12192000" cy="349135"/>
          </a:xfrm>
          <a:prstGeom prst="rect">
            <a:avLst/>
          </a:prstGeom>
          <a:solidFill>
            <a:srgbClr val="156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0" y="1"/>
            <a:ext cx="12192000" cy="598516"/>
            <a:chOff x="-1" y="190175"/>
            <a:chExt cx="9145786" cy="525795"/>
          </a:xfrm>
        </p:grpSpPr>
        <p:sp>
          <p:nvSpPr>
            <p:cNvPr id="8" name="任意多边形 7"/>
            <p:cNvSpPr/>
            <p:nvPr userDrawn="1"/>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9" name="任意多边形 8"/>
            <p:cNvSpPr/>
            <p:nvPr userDrawn="1"/>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10" name="任意多边形 9"/>
            <p:cNvSpPr/>
            <p:nvPr userDrawn="1"/>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grpSp>
      <p:sp>
        <p:nvSpPr>
          <p:cNvPr id="2" name="标题 1"/>
          <p:cNvSpPr>
            <a:spLocks noGrp="1"/>
          </p:cNvSpPr>
          <p:nvPr>
            <p:ph type="title"/>
          </p:nvPr>
        </p:nvSpPr>
        <p:spPr>
          <a:xfrm>
            <a:off x="762194" y="52240"/>
            <a:ext cx="7391205" cy="506641"/>
          </a:xfrm>
          <a:prstGeom prst="rect">
            <a:avLst/>
          </a:prstGeom>
          <a:ln>
            <a:noFill/>
          </a:ln>
        </p:spPr>
        <p:txBody>
          <a:bodyPr>
            <a:normAutofit/>
          </a:bodyPr>
          <a:lstStyle>
            <a:lvl1pPr>
              <a:lnSpc>
                <a:spcPct val="100000"/>
              </a:lnSpc>
              <a:defRPr sz="2200" b="1">
                <a:solidFill>
                  <a:schemeClr val="bg1"/>
                </a:solidFill>
                <a:latin typeface="微软雅黑" panose="020B0503020204020204" pitchFamily="34" charset="-122"/>
                <a:ea typeface="微软雅黑" panose="020B0503020204020204" pitchFamily="34" charset="-122"/>
              </a:defRPr>
            </a:lvl1pPr>
          </a:lstStyle>
          <a:p>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300907" y="6356222"/>
            <a:ext cx="888076" cy="365125"/>
          </a:xfrm>
        </p:spPr>
        <p:txBody>
          <a:bodyPr/>
          <a:lstStyle>
            <a:lvl1pPr algn="ctr">
              <a:defRPr sz="1600">
                <a:solidFill>
                  <a:schemeClr val="tx2">
                    <a:lumMod val="50000"/>
                  </a:schemeClr>
                </a:solidFill>
              </a:defRPr>
            </a:lvl1pPr>
          </a:lstStyle>
          <a:p>
            <a:fld id="{565CE74E-AB26-4998-AD42-012C4C1AD076}" type="slidenum">
              <a:rPr lang="zh-CN" altLang="en-US" smtClean="0"/>
              <a:t>‹#›</a:t>
            </a:fld>
            <a:endParaRPr lang="zh-CN" altLang="en-US"/>
          </a:p>
        </p:txBody>
      </p:sp>
      <p:sp>
        <p:nvSpPr>
          <p:cNvPr id="11" name="矩形 10"/>
          <p:cNvSpPr/>
          <p:nvPr userDrawn="1"/>
        </p:nvSpPr>
        <p:spPr>
          <a:xfrm>
            <a:off x="0" y="6721475"/>
            <a:ext cx="12192001" cy="13652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endParaRPr>
          </a:p>
        </p:txBody>
      </p:sp>
      <p:sp>
        <p:nvSpPr>
          <p:cNvPr id="12" name="标题 1"/>
          <p:cNvSpPr>
            <a:spLocks noGrp="1"/>
          </p:cNvSpPr>
          <p:nvPr userDrawn="1"/>
        </p:nvSpPr>
        <p:spPr>
          <a:xfrm>
            <a:off x="8663940" y="52070"/>
            <a:ext cx="3340100" cy="50673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2200" b="1" kern="1200">
                <a:solidFill>
                  <a:schemeClr val="bg1"/>
                </a:solidFill>
                <a:latin typeface="微软雅黑" panose="020B0503020204020204" pitchFamily="34" charset="-122"/>
                <a:ea typeface="微软雅黑" panose="020B0503020204020204" pitchFamily="34" charset="-122"/>
                <a:cs typeface="+mj-cs"/>
              </a:defRPr>
            </a:lvl1pPr>
          </a:lstStyle>
          <a:p>
            <a:pPr algn="ctr"/>
            <a:r>
              <a:rPr lang="zh-CN" altLang="en-US" sz="1200" dirty="0"/>
              <a:t>第</a:t>
            </a:r>
            <a:r>
              <a:rPr lang="en-US" altLang="zh-CN" sz="1200" dirty="0"/>
              <a:t>4</a:t>
            </a:r>
            <a:r>
              <a:rPr lang="zh-CN" altLang="en-US" sz="1200" dirty="0"/>
              <a:t>章 基于</a:t>
            </a:r>
            <a:r>
              <a:rPr lang="en-US" altLang="zh-CN" sz="1200" dirty="0" err="1"/>
              <a:t>Hive+MySQL+Spark</a:t>
            </a:r>
            <a:r>
              <a:rPr lang="zh-CN" altLang="en-US" sz="1200" dirty="0"/>
              <a:t>的零售数据分析及可视化</a:t>
            </a:r>
            <a:endParaRPr lang="zh-CN" altLang="en-US" sz="1200" b="0" dirty="0"/>
          </a:p>
        </p:txBody>
      </p:sp>
      <p:sp>
        <p:nvSpPr>
          <p:cNvPr id="13" name="graduate-cap_49944"/>
          <p:cNvSpPr/>
          <p:nvPr userDrawn="1"/>
        </p:nvSpPr>
        <p:spPr>
          <a:xfrm>
            <a:off x="174625" y="174625"/>
            <a:ext cx="393700" cy="262255"/>
          </a:xfrm>
          <a:custGeom>
            <a:avLst/>
            <a:gdLst>
              <a:gd name="connsiteX0" fmla="*/ 93338 w 608536"/>
              <a:gd name="connsiteY0" fmla="*/ 167235 h 375291"/>
              <a:gd name="connsiteX1" fmla="*/ 292893 w 608536"/>
              <a:gd name="connsiteY1" fmla="*/ 244637 h 375291"/>
              <a:gd name="connsiteX2" fmla="*/ 305814 w 608536"/>
              <a:gd name="connsiteY2" fmla="*/ 244637 h 375291"/>
              <a:gd name="connsiteX3" fmla="*/ 503933 w 608536"/>
              <a:gd name="connsiteY3" fmla="*/ 167235 h 375291"/>
              <a:gd name="connsiteX4" fmla="*/ 503933 w 608536"/>
              <a:gd name="connsiteY4" fmla="*/ 244637 h 375291"/>
              <a:gd name="connsiteX5" fmla="*/ 298636 w 608536"/>
              <a:gd name="connsiteY5" fmla="*/ 356439 h 375291"/>
              <a:gd name="connsiteX6" fmla="*/ 93338 w 608536"/>
              <a:gd name="connsiteY6" fmla="*/ 244637 h 375291"/>
              <a:gd name="connsiteX7" fmla="*/ 93338 w 608536"/>
              <a:gd name="connsiteY7" fmla="*/ 167235 h 375291"/>
              <a:gd name="connsiteX8" fmla="*/ 292786 w 608536"/>
              <a:gd name="connsiteY8" fmla="*/ 1075 h 375291"/>
              <a:gd name="connsiteX9" fmla="*/ 304268 w 608536"/>
              <a:gd name="connsiteY9" fmla="*/ 1075 h 375291"/>
              <a:gd name="connsiteX10" fmla="*/ 595619 w 608536"/>
              <a:gd name="connsiteY10" fmla="*/ 102873 h 375291"/>
              <a:gd name="connsiteX11" fmla="*/ 598490 w 608536"/>
              <a:gd name="connsiteY11" fmla="*/ 107174 h 375291"/>
              <a:gd name="connsiteX12" fmla="*/ 595619 w 608536"/>
              <a:gd name="connsiteY12" fmla="*/ 111476 h 375291"/>
              <a:gd name="connsiteX13" fmla="*/ 595619 w 608536"/>
              <a:gd name="connsiteY13" fmla="*/ 251986 h 375291"/>
              <a:gd name="connsiteX14" fmla="*/ 608536 w 608536"/>
              <a:gd name="connsiteY14" fmla="*/ 272059 h 375291"/>
              <a:gd name="connsiteX15" fmla="*/ 594184 w 608536"/>
              <a:gd name="connsiteY15" fmla="*/ 293566 h 375291"/>
              <a:gd name="connsiteX16" fmla="*/ 608536 w 608536"/>
              <a:gd name="connsiteY16" fmla="*/ 352351 h 375291"/>
              <a:gd name="connsiteX17" fmla="*/ 585573 w 608536"/>
              <a:gd name="connsiteY17" fmla="*/ 375291 h 375291"/>
              <a:gd name="connsiteX18" fmla="*/ 562609 w 608536"/>
              <a:gd name="connsiteY18" fmla="*/ 352351 h 375291"/>
              <a:gd name="connsiteX19" fmla="*/ 575526 w 608536"/>
              <a:gd name="connsiteY19" fmla="*/ 293566 h 375291"/>
              <a:gd name="connsiteX20" fmla="*/ 562609 w 608536"/>
              <a:gd name="connsiteY20" fmla="*/ 272059 h 375291"/>
              <a:gd name="connsiteX21" fmla="*/ 575526 w 608536"/>
              <a:gd name="connsiteY21" fmla="*/ 251986 h 375291"/>
              <a:gd name="connsiteX22" fmla="*/ 575526 w 608536"/>
              <a:gd name="connsiteY22" fmla="*/ 118645 h 375291"/>
              <a:gd name="connsiteX23" fmla="*/ 305703 w 608536"/>
              <a:gd name="connsiteY23" fmla="*/ 223310 h 375291"/>
              <a:gd name="connsiteX24" fmla="*/ 292786 w 608536"/>
              <a:gd name="connsiteY24" fmla="*/ 223310 h 375291"/>
              <a:gd name="connsiteX25" fmla="*/ 2870 w 608536"/>
              <a:gd name="connsiteY25" fmla="*/ 111476 h 375291"/>
              <a:gd name="connsiteX26" fmla="*/ 0 w 608536"/>
              <a:gd name="connsiteY26" fmla="*/ 107174 h 375291"/>
              <a:gd name="connsiteX27" fmla="*/ 2870 w 608536"/>
              <a:gd name="connsiteY27" fmla="*/ 102873 h 37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8536" h="375291">
                <a:moveTo>
                  <a:pt x="93338" y="167235"/>
                </a:moveTo>
                <a:lnTo>
                  <a:pt x="292893" y="244637"/>
                </a:lnTo>
                <a:cubicBezTo>
                  <a:pt x="297200" y="246070"/>
                  <a:pt x="301507" y="246070"/>
                  <a:pt x="305814" y="244637"/>
                </a:cubicBezTo>
                <a:lnTo>
                  <a:pt x="503933" y="167235"/>
                </a:lnTo>
                <a:cubicBezTo>
                  <a:pt x="503933" y="200202"/>
                  <a:pt x="503933" y="238903"/>
                  <a:pt x="503933" y="244637"/>
                </a:cubicBezTo>
                <a:cubicBezTo>
                  <a:pt x="503933" y="304838"/>
                  <a:pt x="413487" y="353572"/>
                  <a:pt x="298636" y="356439"/>
                </a:cubicBezTo>
                <a:cubicBezTo>
                  <a:pt x="185220" y="353572"/>
                  <a:pt x="93338" y="304838"/>
                  <a:pt x="93338" y="244637"/>
                </a:cubicBezTo>
                <a:cubicBezTo>
                  <a:pt x="93338" y="237470"/>
                  <a:pt x="93338" y="200202"/>
                  <a:pt x="93338" y="167235"/>
                </a:cubicBezTo>
                <a:close/>
                <a:moveTo>
                  <a:pt x="292786" y="1075"/>
                </a:moveTo>
                <a:cubicBezTo>
                  <a:pt x="297092" y="-359"/>
                  <a:pt x="301398" y="-359"/>
                  <a:pt x="304268" y="1075"/>
                </a:cubicBezTo>
                <a:lnTo>
                  <a:pt x="595619" y="102873"/>
                </a:lnTo>
                <a:cubicBezTo>
                  <a:pt x="597054" y="102873"/>
                  <a:pt x="598490" y="105741"/>
                  <a:pt x="598490" y="107174"/>
                </a:cubicBezTo>
                <a:cubicBezTo>
                  <a:pt x="598490" y="108608"/>
                  <a:pt x="597054" y="110042"/>
                  <a:pt x="595619" y="111476"/>
                </a:cubicBezTo>
                <a:lnTo>
                  <a:pt x="595619" y="251986"/>
                </a:lnTo>
                <a:cubicBezTo>
                  <a:pt x="602795" y="254854"/>
                  <a:pt x="608536" y="263456"/>
                  <a:pt x="608536" y="272059"/>
                </a:cubicBezTo>
                <a:cubicBezTo>
                  <a:pt x="608536" y="280662"/>
                  <a:pt x="602795" y="289264"/>
                  <a:pt x="594184" y="293566"/>
                </a:cubicBezTo>
                <a:cubicBezTo>
                  <a:pt x="602795" y="309337"/>
                  <a:pt x="608536" y="342314"/>
                  <a:pt x="608536" y="352351"/>
                </a:cubicBezTo>
                <a:cubicBezTo>
                  <a:pt x="608536" y="363821"/>
                  <a:pt x="597054" y="375291"/>
                  <a:pt x="585573" y="375291"/>
                </a:cubicBezTo>
                <a:cubicBezTo>
                  <a:pt x="572656" y="375291"/>
                  <a:pt x="562609" y="363821"/>
                  <a:pt x="562609" y="352351"/>
                </a:cubicBezTo>
                <a:cubicBezTo>
                  <a:pt x="562609" y="342314"/>
                  <a:pt x="568350" y="309337"/>
                  <a:pt x="575526" y="293566"/>
                </a:cubicBezTo>
                <a:cubicBezTo>
                  <a:pt x="568350" y="289264"/>
                  <a:pt x="562609" y="280662"/>
                  <a:pt x="562609" y="272059"/>
                </a:cubicBezTo>
                <a:cubicBezTo>
                  <a:pt x="562609" y="263456"/>
                  <a:pt x="566915" y="254854"/>
                  <a:pt x="575526" y="251986"/>
                </a:cubicBezTo>
                <a:lnTo>
                  <a:pt x="575526" y="118645"/>
                </a:lnTo>
                <a:lnTo>
                  <a:pt x="305703" y="223310"/>
                </a:lnTo>
                <a:cubicBezTo>
                  <a:pt x="301398" y="224744"/>
                  <a:pt x="297092" y="224744"/>
                  <a:pt x="292786" y="223310"/>
                </a:cubicBezTo>
                <a:lnTo>
                  <a:pt x="2870" y="111476"/>
                </a:lnTo>
                <a:cubicBezTo>
                  <a:pt x="1435" y="110042"/>
                  <a:pt x="0" y="108608"/>
                  <a:pt x="0" y="107174"/>
                </a:cubicBezTo>
                <a:cubicBezTo>
                  <a:pt x="0" y="105741"/>
                  <a:pt x="1435" y="102873"/>
                  <a:pt x="2870" y="102873"/>
                </a:cubicBezTo>
                <a:close/>
              </a:path>
            </a:pathLst>
          </a:custGeom>
          <a:solidFill>
            <a:schemeClr val="accent3">
              <a:lumMod val="20000"/>
              <a:lumOff val="80000"/>
            </a:schemeClr>
          </a:solidFill>
          <a:ln>
            <a:noFill/>
          </a:ln>
        </p:spPr>
        <p:txBody>
          <a:bodyPr rtlCol="0" anchor="ctr"/>
          <a:lstStyle/>
          <a:p>
            <a:pPr algn="ctr"/>
            <a:endParaRPr lang="en-US">
              <a:solidFill>
                <a:schemeClr val="tx1"/>
              </a:solidFill>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grpSp>
        <p:nvGrpSpPr>
          <p:cNvPr id="7" name="组合 6"/>
          <p:cNvGrpSpPr/>
          <p:nvPr userDrawn="1"/>
        </p:nvGrpSpPr>
        <p:grpSpPr>
          <a:xfrm>
            <a:off x="0" y="1"/>
            <a:ext cx="12192000" cy="598516"/>
            <a:chOff x="-1" y="190175"/>
            <a:chExt cx="9145786" cy="525795"/>
          </a:xfrm>
        </p:grpSpPr>
        <p:sp>
          <p:nvSpPr>
            <p:cNvPr id="8" name="任意多边形 7"/>
            <p:cNvSpPr/>
            <p:nvPr userDrawn="1"/>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9" name="任意多边形 8"/>
            <p:cNvSpPr/>
            <p:nvPr userDrawn="1"/>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sp>
          <p:nvSpPr>
            <p:cNvPr id="10" name="任意多边形 9"/>
            <p:cNvSpPr/>
            <p:nvPr userDrawn="1"/>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5">
                <a:solidFill>
                  <a:prstClr val="white"/>
                </a:solidFill>
              </a:endParaRPr>
            </a:p>
          </p:txBody>
        </p:sp>
      </p:grpSp>
      <p:sp>
        <p:nvSpPr>
          <p:cNvPr id="2" name="标题 1"/>
          <p:cNvSpPr>
            <a:spLocks noGrp="1"/>
          </p:cNvSpPr>
          <p:nvPr>
            <p:ph type="title"/>
          </p:nvPr>
        </p:nvSpPr>
        <p:spPr>
          <a:xfrm>
            <a:off x="762194" y="52240"/>
            <a:ext cx="7391205" cy="506641"/>
          </a:xfrm>
          <a:prstGeom prst="rect">
            <a:avLst/>
          </a:prstGeom>
          <a:ln>
            <a:noFill/>
          </a:ln>
        </p:spPr>
        <p:txBody>
          <a:bodyPr>
            <a:normAutofit/>
          </a:bodyPr>
          <a:lstStyle>
            <a:lvl1pPr>
              <a:lnSpc>
                <a:spcPct val="100000"/>
              </a:lnSpc>
              <a:defRPr sz="22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655320" y="853036"/>
            <a:ext cx="10515600" cy="4874433"/>
          </a:xfrm>
          <a:prstGeom prst="rect">
            <a:avLst/>
          </a:prstGeom>
        </p:spPr>
        <p:txBody>
          <a:bodyPr>
            <a:normAutofit/>
          </a:bodyPr>
          <a:lstStyle>
            <a:lvl1pPr>
              <a:defRPr sz="18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800">
                <a:latin typeface="微软雅黑" panose="020B0503020204020204" pitchFamily="34" charset="-122"/>
                <a:ea typeface="微软雅黑" panose="020B0503020204020204" pitchFamily="34" charset="-122"/>
              </a:defRPr>
            </a:lvl4pPr>
            <a:lvl5pPr>
              <a:defRPr sz="1800">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300907" y="6356222"/>
            <a:ext cx="888076" cy="365125"/>
          </a:xfrm>
        </p:spPr>
        <p:txBody>
          <a:bodyPr/>
          <a:lstStyle>
            <a:lvl1pPr algn="ctr">
              <a:defRPr sz="1600">
                <a:solidFill>
                  <a:schemeClr val="tx2">
                    <a:lumMod val="50000"/>
                  </a:schemeClr>
                </a:solidFill>
              </a:defRPr>
            </a:lvl1pPr>
          </a:lstStyle>
          <a:p>
            <a:fld id="{565CE74E-AB26-4998-AD42-012C4C1AD076}" type="slidenum">
              <a:rPr lang="zh-CN" altLang="en-US" smtClean="0"/>
              <a:t>‹#›</a:t>
            </a:fld>
            <a:endParaRPr lang="zh-CN" altLang="en-US"/>
          </a:p>
        </p:txBody>
      </p:sp>
      <p:sp>
        <p:nvSpPr>
          <p:cNvPr id="11" name="矩形 10"/>
          <p:cNvSpPr/>
          <p:nvPr userDrawn="1"/>
        </p:nvSpPr>
        <p:spPr>
          <a:xfrm>
            <a:off x="0" y="6721475"/>
            <a:ext cx="12192001" cy="13652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endParaRPr>
          </a:p>
        </p:txBody>
      </p:sp>
      <p:sp>
        <p:nvSpPr>
          <p:cNvPr id="12" name="graduate-cap_49944"/>
          <p:cNvSpPr/>
          <p:nvPr userDrawn="1"/>
        </p:nvSpPr>
        <p:spPr>
          <a:xfrm>
            <a:off x="174625" y="174625"/>
            <a:ext cx="393700" cy="262255"/>
          </a:xfrm>
          <a:custGeom>
            <a:avLst/>
            <a:gdLst>
              <a:gd name="connsiteX0" fmla="*/ 93338 w 608536"/>
              <a:gd name="connsiteY0" fmla="*/ 167235 h 375291"/>
              <a:gd name="connsiteX1" fmla="*/ 292893 w 608536"/>
              <a:gd name="connsiteY1" fmla="*/ 244637 h 375291"/>
              <a:gd name="connsiteX2" fmla="*/ 305814 w 608536"/>
              <a:gd name="connsiteY2" fmla="*/ 244637 h 375291"/>
              <a:gd name="connsiteX3" fmla="*/ 503933 w 608536"/>
              <a:gd name="connsiteY3" fmla="*/ 167235 h 375291"/>
              <a:gd name="connsiteX4" fmla="*/ 503933 w 608536"/>
              <a:gd name="connsiteY4" fmla="*/ 244637 h 375291"/>
              <a:gd name="connsiteX5" fmla="*/ 298636 w 608536"/>
              <a:gd name="connsiteY5" fmla="*/ 356439 h 375291"/>
              <a:gd name="connsiteX6" fmla="*/ 93338 w 608536"/>
              <a:gd name="connsiteY6" fmla="*/ 244637 h 375291"/>
              <a:gd name="connsiteX7" fmla="*/ 93338 w 608536"/>
              <a:gd name="connsiteY7" fmla="*/ 167235 h 375291"/>
              <a:gd name="connsiteX8" fmla="*/ 292786 w 608536"/>
              <a:gd name="connsiteY8" fmla="*/ 1075 h 375291"/>
              <a:gd name="connsiteX9" fmla="*/ 304268 w 608536"/>
              <a:gd name="connsiteY9" fmla="*/ 1075 h 375291"/>
              <a:gd name="connsiteX10" fmla="*/ 595619 w 608536"/>
              <a:gd name="connsiteY10" fmla="*/ 102873 h 375291"/>
              <a:gd name="connsiteX11" fmla="*/ 598490 w 608536"/>
              <a:gd name="connsiteY11" fmla="*/ 107174 h 375291"/>
              <a:gd name="connsiteX12" fmla="*/ 595619 w 608536"/>
              <a:gd name="connsiteY12" fmla="*/ 111476 h 375291"/>
              <a:gd name="connsiteX13" fmla="*/ 595619 w 608536"/>
              <a:gd name="connsiteY13" fmla="*/ 251986 h 375291"/>
              <a:gd name="connsiteX14" fmla="*/ 608536 w 608536"/>
              <a:gd name="connsiteY14" fmla="*/ 272059 h 375291"/>
              <a:gd name="connsiteX15" fmla="*/ 594184 w 608536"/>
              <a:gd name="connsiteY15" fmla="*/ 293566 h 375291"/>
              <a:gd name="connsiteX16" fmla="*/ 608536 w 608536"/>
              <a:gd name="connsiteY16" fmla="*/ 352351 h 375291"/>
              <a:gd name="connsiteX17" fmla="*/ 585573 w 608536"/>
              <a:gd name="connsiteY17" fmla="*/ 375291 h 375291"/>
              <a:gd name="connsiteX18" fmla="*/ 562609 w 608536"/>
              <a:gd name="connsiteY18" fmla="*/ 352351 h 375291"/>
              <a:gd name="connsiteX19" fmla="*/ 575526 w 608536"/>
              <a:gd name="connsiteY19" fmla="*/ 293566 h 375291"/>
              <a:gd name="connsiteX20" fmla="*/ 562609 w 608536"/>
              <a:gd name="connsiteY20" fmla="*/ 272059 h 375291"/>
              <a:gd name="connsiteX21" fmla="*/ 575526 w 608536"/>
              <a:gd name="connsiteY21" fmla="*/ 251986 h 375291"/>
              <a:gd name="connsiteX22" fmla="*/ 575526 w 608536"/>
              <a:gd name="connsiteY22" fmla="*/ 118645 h 375291"/>
              <a:gd name="connsiteX23" fmla="*/ 305703 w 608536"/>
              <a:gd name="connsiteY23" fmla="*/ 223310 h 375291"/>
              <a:gd name="connsiteX24" fmla="*/ 292786 w 608536"/>
              <a:gd name="connsiteY24" fmla="*/ 223310 h 375291"/>
              <a:gd name="connsiteX25" fmla="*/ 2870 w 608536"/>
              <a:gd name="connsiteY25" fmla="*/ 111476 h 375291"/>
              <a:gd name="connsiteX26" fmla="*/ 0 w 608536"/>
              <a:gd name="connsiteY26" fmla="*/ 107174 h 375291"/>
              <a:gd name="connsiteX27" fmla="*/ 2870 w 608536"/>
              <a:gd name="connsiteY27" fmla="*/ 102873 h 37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8536" h="375291">
                <a:moveTo>
                  <a:pt x="93338" y="167235"/>
                </a:moveTo>
                <a:lnTo>
                  <a:pt x="292893" y="244637"/>
                </a:lnTo>
                <a:cubicBezTo>
                  <a:pt x="297200" y="246070"/>
                  <a:pt x="301507" y="246070"/>
                  <a:pt x="305814" y="244637"/>
                </a:cubicBezTo>
                <a:lnTo>
                  <a:pt x="503933" y="167235"/>
                </a:lnTo>
                <a:cubicBezTo>
                  <a:pt x="503933" y="200202"/>
                  <a:pt x="503933" y="238903"/>
                  <a:pt x="503933" y="244637"/>
                </a:cubicBezTo>
                <a:cubicBezTo>
                  <a:pt x="503933" y="304838"/>
                  <a:pt x="413487" y="353572"/>
                  <a:pt x="298636" y="356439"/>
                </a:cubicBezTo>
                <a:cubicBezTo>
                  <a:pt x="185220" y="353572"/>
                  <a:pt x="93338" y="304838"/>
                  <a:pt x="93338" y="244637"/>
                </a:cubicBezTo>
                <a:cubicBezTo>
                  <a:pt x="93338" y="237470"/>
                  <a:pt x="93338" y="200202"/>
                  <a:pt x="93338" y="167235"/>
                </a:cubicBezTo>
                <a:close/>
                <a:moveTo>
                  <a:pt x="292786" y="1075"/>
                </a:moveTo>
                <a:cubicBezTo>
                  <a:pt x="297092" y="-359"/>
                  <a:pt x="301398" y="-359"/>
                  <a:pt x="304268" y="1075"/>
                </a:cubicBezTo>
                <a:lnTo>
                  <a:pt x="595619" y="102873"/>
                </a:lnTo>
                <a:cubicBezTo>
                  <a:pt x="597054" y="102873"/>
                  <a:pt x="598490" y="105741"/>
                  <a:pt x="598490" y="107174"/>
                </a:cubicBezTo>
                <a:cubicBezTo>
                  <a:pt x="598490" y="108608"/>
                  <a:pt x="597054" y="110042"/>
                  <a:pt x="595619" y="111476"/>
                </a:cubicBezTo>
                <a:lnTo>
                  <a:pt x="595619" y="251986"/>
                </a:lnTo>
                <a:cubicBezTo>
                  <a:pt x="602795" y="254854"/>
                  <a:pt x="608536" y="263456"/>
                  <a:pt x="608536" y="272059"/>
                </a:cubicBezTo>
                <a:cubicBezTo>
                  <a:pt x="608536" y="280662"/>
                  <a:pt x="602795" y="289264"/>
                  <a:pt x="594184" y="293566"/>
                </a:cubicBezTo>
                <a:cubicBezTo>
                  <a:pt x="602795" y="309337"/>
                  <a:pt x="608536" y="342314"/>
                  <a:pt x="608536" y="352351"/>
                </a:cubicBezTo>
                <a:cubicBezTo>
                  <a:pt x="608536" y="363821"/>
                  <a:pt x="597054" y="375291"/>
                  <a:pt x="585573" y="375291"/>
                </a:cubicBezTo>
                <a:cubicBezTo>
                  <a:pt x="572656" y="375291"/>
                  <a:pt x="562609" y="363821"/>
                  <a:pt x="562609" y="352351"/>
                </a:cubicBezTo>
                <a:cubicBezTo>
                  <a:pt x="562609" y="342314"/>
                  <a:pt x="568350" y="309337"/>
                  <a:pt x="575526" y="293566"/>
                </a:cubicBezTo>
                <a:cubicBezTo>
                  <a:pt x="568350" y="289264"/>
                  <a:pt x="562609" y="280662"/>
                  <a:pt x="562609" y="272059"/>
                </a:cubicBezTo>
                <a:cubicBezTo>
                  <a:pt x="562609" y="263456"/>
                  <a:pt x="566915" y="254854"/>
                  <a:pt x="575526" y="251986"/>
                </a:cubicBezTo>
                <a:lnTo>
                  <a:pt x="575526" y="118645"/>
                </a:lnTo>
                <a:lnTo>
                  <a:pt x="305703" y="223310"/>
                </a:lnTo>
                <a:cubicBezTo>
                  <a:pt x="301398" y="224744"/>
                  <a:pt x="297092" y="224744"/>
                  <a:pt x="292786" y="223310"/>
                </a:cubicBezTo>
                <a:lnTo>
                  <a:pt x="2870" y="111476"/>
                </a:lnTo>
                <a:cubicBezTo>
                  <a:pt x="1435" y="110042"/>
                  <a:pt x="0" y="108608"/>
                  <a:pt x="0" y="107174"/>
                </a:cubicBezTo>
                <a:cubicBezTo>
                  <a:pt x="0" y="105741"/>
                  <a:pt x="1435" y="102873"/>
                  <a:pt x="2870" y="102873"/>
                </a:cubicBezTo>
                <a:close/>
              </a:path>
            </a:pathLst>
          </a:custGeom>
          <a:solidFill>
            <a:schemeClr val="accent3">
              <a:lumMod val="20000"/>
              <a:lumOff val="80000"/>
            </a:schemeClr>
          </a:solidFill>
          <a:ln>
            <a:noFill/>
          </a:ln>
        </p:spPr>
        <p:txBody>
          <a:bodyPr rtlCol="0" anchor="ctr"/>
          <a:lstStyle/>
          <a:p>
            <a:pPr algn="ctr"/>
            <a:endParaRPr lang="en-US">
              <a:solidFill>
                <a:schemeClr val="tx1"/>
              </a:solidFill>
              <a:latin typeface="+mn-ea"/>
            </a:endParaRPr>
          </a:p>
        </p:txBody>
      </p:sp>
      <p:sp>
        <p:nvSpPr>
          <p:cNvPr id="13" name="标题 1"/>
          <p:cNvSpPr>
            <a:spLocks noGrp="1"/>
          </p:cNvSpPr>
          <p:nvPr userDrawn="1"/>
        </p:nvSpPr>
        <p:spPr>
          <a:xfrm>
            <a:off x="8663940" y="52070"/>
            <a:ext cx="3340100" cy="506730"/>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2200" b="1" kern="1200">
                <a:solidFill>
                  <a:schemeClr val="bg1"/>
                </a:solidFill>
                <a:latin typeface="微软雅黑" panose="020B0503020204020204" pitchFamily="34" charset="-122"/>
                <a:ea typeface="微软雅黑" panose="020B0503020204020204" pitchFamily="34" charset="-122"/>
                <a:cs typeface="+mj-cs"/>
              </a:defRPr>
            </a:lvl1pPr>
          </a:lstStyle>
          <a:p>
            <a:pPr algn="ctr"/>
            <a:r>
              <a:rPr lang="zh-CN" altLang="en-US" sz="1200" dirty="0">
                <a:latin typeface="+mn-ea"/>
                <a:ea typeface="+mn-ea"/>
              </a:rPr>
              <a:t>第</a:t>
            </a:r>
            <a:r>
              <a:rPr lang="en-US" altLang="zh-CN" sz="1200" dirty="0">
                <a:latin typeface="+mn-ea"/>
                <a:ea typeface="+mn-ea"/>
              </a:rPr>
              <a:t>4</a:t>
            </a:r>
            <a:r>
              <a:rPr lang="zh-CN" altLang="en-US" sz="1200" dirty="0">
                <a:latin typeface="+mn-ea"/>
                <a:ea typeface="+mn-ea"/>
              </a:rPr>
              <a:t>章 基于</a:t>
            </a:r>
            <a:r>
              <a:rPr lang="en-US" altLang="zh-CN" sz="1200" dirty="0" err="1">
                <a:latin typeface="+mn-ea"/>
                <a:ea typeface="+mn-ea"/>
              </a:rPr>
              <a:t>Hive+MySQL+Spark</a:t>
            </a:r>
            <a:r>
              <a:rPr lang="zh-CN" altLang="en-US" sz="1200" dirty="0">
                <a:latin typeface="+mn-ea"/>
                <a:ea typeface="+mn-ea"/>
              </a:rPr>
              <a:t>的零售数据分析及可视化</a:t>
            </a:r>
            <a:endParaRPr lang="zh-CN" altLang="en-US" sz="1200" b="0" dirty="0">
              <a:latin typeface="+mn-ea"/>
              <a:ea typeface="+mn-ea"/>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lang="zh-CN" altLang="en-US" sz="1600" smtClean="0">
                <a:solidFill>
                  <a:schemeClr val="tx2">
                    <a:lumMod val="50000"/>
                  </a:schemeClr>
                </a:solidFill>
              </a:defRPr>
            </a:lvl1pPr>
          </a:lstStyle>
          <a:p>
            <a:pPr algn="r"/>
            <a:fld id="{565CE74E-AB26-4998-AD42-012C4C1AD076}"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2026/9/24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lang="zh-CN" altLang="en-US" sz="1600" smtClean="0">
                <a:solidFill>
                  <a:schemeClr val="tx2">
                    <a:lumMod val="50000"/>
                  </a:schemeClr>
                </a:solidFill>
              </a:defRPr>
            </a:lvl1pPr>
          </a:lstStyle>
          <a:p>
            <a:pPr algn="r"/>
            <a:fld id="{565CE74E-AB26-4998-AD42-012C4C1AD076}"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2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9.xml"/><Relationship Id="rId1" Type="http://schemas.openxmlformats.org/officeDocument/2006/relationships/tags" Target="../tags/tag2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9.xml"/><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9.xml"/><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3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3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9.xml"/><Relationship Id="rId1" Type="http://schemas.openxmlformats.org/officeDocument/2006/relationships/tags" Target="../tags/tag3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9.xml"/><Relationship Id="rId1" Type="http://schemas.openxmlformats.org/officeDocument/2006/relationships/tags" Target="../tags/tag34.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9.xml"/><Relationship Id="rId1" Type="http://schemas.openxmlformats.org/officeDocument/2006/relationships/tags" Target="../tags/tag3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9.xml"/><Relationship Id="rId1" Type="http://schemas.openxmlformats.org/officeDocument/2006/relationships/tags" Target="../tags/tag36.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9.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9.xml"/><Relationship Id="rId1" Type="http://schemas.openxmlformats.org/officeDocument/2006/relationships/tags" Target="../tags/tag38.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9.xml"/><Relationship Id="rId1" Type="http://schemas.openxmlformats.org/officeDocument/2006/relationships/tags" Target="../tags/tag39.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9.xml"/><Relationship Id="rId1" Type="http://schemas.openxmlformats.org/officeDocument/2006/relationships/tags" Target="../tags/tag40.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9.xml"/><Relationship Id="rId1" Type="http://schemas.openxmlformats.org/officeDocument/2006/relationships/tags" Target="../tags/tag41.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9.xml"/><Relationship Id="rId1" Type="http://schemas.openxmlformats.org/officeDocument/2006/relationships/tags" Target="../tags/tag4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9.xml"/><Relationship Id="rId1" Type="http://schemas.openxmlformats.org/officeDocument/2006/relationships/tags" Target="../tags/tag43.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9.xml"/><Relationship Id="rId1" Type="http://schemas.openxmlformats.org/officeDocument/2006/relationships/tags" Target="../tags/tag44.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9.xml"/><Relationship Id="rId1" Type="http://schemas.openxmlformats.org/officeDocument/2006/relationships/tags" Target="../tags/tag45.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9.xml"/><Relationship Id="rId1" Type="http://schemas.openxmlformats.org/officeDocument/2006/relationships/tags" Target="../tags/tag46.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9.xml"/><Relationship Id="rId1" Type="http://schemas.openxmlformats.org/officeDocument/2006/relationships/tags" Target="../tags/tag47.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9.xml"/><Relationship Id="rId1" Type="http://schemas.openxmlformats.org/officeDocument/2006/relationships/tags" Target="../tags/tag48.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9.xml"/><Relationship Id="rId1" Type="http://schemas.openxmlformats.org/officeDocument/2006/relationships/tags" Target="../tags/tag49.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9.xml"/><Relationship Id="rId1" Type="http://schemas.openxmlformats.org/officeDocument/2006/relationships/tags" Target="../tags/tag50.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9.xml"/><Relationship Id="rId1" Type="http://schemas.openxmlformats.org/officeDocument/2006/relationships/tags" Target="../tags/tag51.xml"/><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9.xml"/><Relationship Id="rId1" Type="http://schemas.openxmlformats.org/officeDocument/2006/relationships/tags" Target="../tags/tag5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9.xml"/><Relationship Id="rId1" Type="http://schemas.openxmlformats.org/officeDocument/2006/relationships/tags" Target="../tags/tag53.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9.xml"/><Relationship Id="rId1" Type="http://schemas.openxmlformats.org/officeDocument/2006/relationships/tags" Target="../tags/tag5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7.xml"/><Relationship Id="rId1" Type="http://schemas.openxmlformats.org/officeDocument/2006/relationships/tags" Target="../tags/tag57.xml"/><Relationship Id="rId5" Type="http://schemas.openxmlformats.org/officeDocument/2006/relationships/image" Target="../media/image50.png"/><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7.xml"/><Relationship Id="rId1" Type="http://schemas.openxmlformats.org/officeDocument/2006/relationships/tags" Target="../tags/tag60.xml"/><Relationship Id="rId5" Type="http://schemas.openxmlformats.org/officeDocument/2006/relationships/image" Target="../media/image53.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ags" Target="../tags/tag65.xml"/><Relationship Id="rId4" Type="http://schemas.openxmlformats.org/officeDocument/2006/relationships/image" Target="../media/image58.png"/></Relationships>
</file>

<file path=ppt/slides/_rels/slide6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tags" Target="../tags/tag66.xml"/><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7.xml"/><Relationship Id="rId1" Type="http://schemas.openxmlformats.org/officeDocument/2006/relationships/tags" Target="../tags/tag6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7.xml"/><Relationship Id="rId1" Type="http://schemas.openxmlformats.org/officeDocument/2006/relationships/tags" Target="../tags/tag69.xml"/><Relationship Id="rId4" Type="http://schemas.openxmlformats.org/officeDocument/2006/relationships/image" Target="../media/image67.png"/></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7.xml"/><Relationship Id="rId1" Type="http://schemas.openxmlformats.org/officeDocument/2006/relationships/tags" Target="../tags/tag72.xml"/><Relationship Id="rId4" Type="http://schemas.openxmlformats.org/officeDocument/2006/relationships/image" Target="../media/image71.png"/></Relationships>
</file>

<file path=ppt/slides/_rels/slide7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7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7.xml"/><Relationship Id="rId1" Type="http://schemas.openxmlformats.org/officeDocument/2006/relationships/tags" Target="../tags/tag77.xml"/><Relationship Id="rId4" Type="http://schemas.openxmlformats.org/officeDocument/2006/relationships/image" Target="../media/image77.png"/></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7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7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7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8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8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slideLayout" Target="../slideLayouts/slideLayout7.xml"/><Relationship Id="rId1" Type="http://schemas.openxmlformats.org/officeDocument/2006/relationships/tags" Target="../tags/tag83.xml"/></Relationships>
</file>

<file path=ppt/slides/_rels/slide8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slideLayout" Target="../slideLayouts/slideLayout7.xml"/><Relationship Id="rId1" Type="http://schemas.openxmlformats.org/officeDocument/2006/relationships/tags" Target="../tags/tag84.xml"/><Relationship Id="rId4" Type="http://schemas.openxmlformats.org/officeDocument/2006/relationships/image" Target="../media/image85.png"/></Relationships>
</file>

<file path=ppt/slides/_rels/slide8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slideLayout" Target="../slideLayouts/slideLayout7.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 y="8467"/>
            <a:ext cx="3132667" cy="337185"/>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《大数据综合应用实践》</a:t>
            </a:r>
          </a:p>
        </p:txBody>
      </p:sp>
      <p:sp>
        <p:nvSpPr>
          <p:cNvPr id="9" name="灯片编号占位符 8"/>
          <p:cNvSpPr>
            <a:spLocks noGrp="1"/>
          </p:cNvSpPr>
          <p:nvPr>
            <p:ph type="sldNum" sz="quarter" idx="12"/>
          </p:nvPr>
        </p:nvSpPr>
        <p:spPr/>
        <p:txBody>
          <a:bodyPr/>
          <a:lstStyle/>
          <a:p>
            <a:fld id="{565CE74E-AB26-4998-AD42-012C4C1AD076}" type="slidenum">
              <a:rPr lang="zh-CN" altLang="en-US" smtClean="0"/>
              <a:t>1</a:t>
            </a:fld>
            <a:endParaRPr lang="zh-CN" altLang="en-US"/>
          </a:p>
        </p:txBody>
      </p:sp>
      <p:sp>
        <p:nvSpPr>
          <p:cNvPr id="22" name="矩形 21"/>
          <p:cNvSpPr/>
          <p:nvPr/>
        </p:nvSpPr>
        <p:spPr>
          <a:xfrm>
            <a:off x="411480" y="702945"/>
            <a:ext cx="11276965" cy="584775"/>
          </a:xfrm>
          <a:prstGeom prst="rect">
            <a:avLst/>
          </a:prstGeom>
          <a:noFill/>
          <a:ln>
            <a:noFill/>
          </a:ln>
        </p:spPr>
        <p:txBody>
          <a:bodyPr wrap="square" rtlCol="0" anchor="t">
            <a:spAutoFit/>
            <a:scene3d>
              <a:camera prst="orthographicFront"/>
              <a:lightRig rig="threePt" dir="t"/>
            </a:scene3d>
          </a:bodyPr>
          <a:lstStyle/>
          <a:p>
            <a:pPr algn="ctr"/>
            <a:r>
              <a:rPr lang="zh-CN" altLang="en-US" sz="3200" b="1" dirty="0">
                <a:solidFill>
                  <a:srgbClr val="1A6492"/>
                </a:solidFill>
                <a:effectLst>
                  <a:outerShdw blurRad="38100" dist="25400" dir="5400000" algn="ctr" rotWithShape="0">
                    <a:srgbClr val="6E747A">
                      <a:alpha val="43000"/>
                    </a:srgbClr>
                  </a:outerShdw>
                </a:effectLst>
                <a:latin typeface="微软雅黑" panose="020B0503020204020204" pitchFamily="34" charset="-122"/>
                <a:cs typeface="微软雅黑" panose="020B0503020204020204" pitchFamily="34" charset="-122"/>
              </a:rPr>
              <a:t>第</a:t>
            </a:r>
            <a:r>
              <a:rPr lang="en-US" altLang="zh-CN" sz="3200" b="1" dirty="0">
                <a:solidFill>
                  <a:srgbClr val="1A6492"/>
                </a:solidFill>
                <a:effectLst>
                  <a:outerShdw blurRad="38100" dist="25400" dir="5400000" algn="ctr" rotWithShape="0">
                    <a:srgbClr val="6E747A">
                      <a:alpha val="43000"/>
                    </a:srgbClr>
                  </a:outerShdw>
                </a:effectLst>
                <a:latin typeface="微软雅黑" panose="020B0503020204020204" pitchFamily="34" charset="-122"/>
                <a:cs typeface="微软雅黑" panose="020B0503020204020204" pitchFamily="34" charset="-122"/>
              </a:rPr>
              <a:t>3</a:t>
            </a:r>
            <a:r>
              <a:rPr lang="zh-CN" altLang="en-US" sz="3200" b="1" dirty="0">
                <a:solidFill>
                  <a:srgbClr val="1A6492"/>
                </a:solidFill>
                <a:effectLst>
                  <a:outerShdw blurRad="38100" dist="25400" dir="5400000" algn="ctr" rotWithShape="0">
                    <a:srgbClr val="6E747A">
                      <a:alpha val="43000"/>
                    </a:srgbClr>
                  </a:outerShdw>
                </a:effectLst>
                <a:latin typeface="微软雅黑" panose="020B0503020204020204" pitchFamily="34" charset="-122"/>
                <a:cs typeface="微软雅黑" panose="020B0503020204020204" pitchFamily="34" charset="-122"/>
              </a:rPr>
              <a:t>章   基于</a:t>
            </a:r>
            <a:r>
              <a:rPr lang="en-US" altLang="zh-CN" sz="3200" b="1" dirty="0" err="1">
                <a:solidFill>
                  <a:srgbClr val="1A6492"/>
                </a:solidFill>
                <a:effectLst>
                  <a:outerShdw blurRad="38100" dist="25400" dir="5400000" algn="ctr" rotWithShape="0">
                    <a:srgbClr val="6E747A">
                      <a:alpha val="43000"/>
                    </a:srgbClr>
                  </a:outerShdw>
                </a:effectLst>
                <a:latin typeface="微软雅黑" panose="020B0503020204020204" pitchFamily="34" charset="-122"/>
                <a:cs typeface="微软雅黑" panose="020B0503020204020204" pitchFamily="34" charset="-122"/>
              </a:rPr>
              <a:t>Hive+MySQL+Spark</a:t>
            </a:r>
            <a:r>
              <a:rPr lang="zh-CN" altLang="en-US" sz="3200" b="1" dirty="0">
                <a:solidFill>
                  <a:srgbClr val="1A6492"/>
                </a:solidFill>
                <a:effectLst>
                  <a:outerShdw blurRad="38100" dist="25400" dir="5400000" algn="ctr" rotWithShape="0">
                    <a:srgbClr val="6E747A">
                      <a:alpha val="43000"/>
                    </a:srgbClr>
                  </a:outerShdw>
                </a:effectLst>
                <a:latin typeface="微软雅黑" panose="020B0503020204020204" pitchFamily="34" charset="-122"/>
                <a:cs typeface="微软雅黑" panose="020B0503020204020204" pitchFamily="34" charset="-122"/>
              </a:rPr>
              <a:t>的零售数据分析及可视化</a:t>
            </a:r>
            <a:endParaRPr lang="zh-CN" altLang="en-US" sz="3200" b="1" dirty="0">
              <a:solidFill>
                <a:srgbClr val="1A6492"/>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p:cNvGrpSpPr/>
          <p:nvPr/>
        </p:nvGrpSpPr>
        <p:grpSpPr>
          <a:xfrm>
            <a:off x="1355725" y="1981835"/>
            <a:ext cx="9296400" cy="4676140"/>
            <a:chOff x="2135" y="3121"/>
            <a:chExt cx="14640" cy="7364"/>
          </a:xfrm>
        </p:grpSpPr>
        <p:grpSp>
          <p:nvGrpSpPr>
            <p:cNvPr id="2" name="组合 1"/>
            <p:cNvGrpSpPr/>
            <p:nvPr/>
          </p:nvGrpSpPr>
          <p:grpSpPr>
            <a:xfrm>
              <a:off x="2135" y="3121"/>
              <a:ext cx="14640" cy="7365"/>
              <a:chOff x="2135" y="3474"/>
              <a:chExt cx="14640" cy="7012"/>
            </a:xfrm>
          </p:grpSpPr>
          <p:grpSp>
            <p:nvGrpSpPr>
              <p:cNvPr id="10745" name="图形 10741"/>
              <p:cNvGrpSpPr/>
              <p:nvPr/>
            </p:nvGrpSpPr>
            <p:grpSpPr>
              <a:xfrm>
                <a:off x="2939" y="3940"/>
                <a:ext cx="13094" cy="6009"/>
                <a:chOff x="3476625" y="2152554"/>
                <a:chExt cx="5274945" cy="2520473"/>
              </a:xfrm>
              <a:noFill/>
            </p:grpSpPr>
            <p:sp>
              <p:nvSpPr>
                <p:cNvPr id="10746" name="任意多边形: 形状 10745"/>
                <p:cNvSpPr/>
                <p:nvPr/>
              </p:nvSpPr>
              <p:spPr>
                <a:xfrm>
                  <a:off x="3598689" y="2152554"/>
                  <a:ext cx="5037262" cy="2440357"/>
                </a:xfrm>
                <a:custGeom>
                  <a:avLst/>
                  <a:gdLst>
                    <a:gd name="connsiteX0" fmla="*/ 0 w 5037200"/>
                    <a:gd name="connsiteY0" fmla="*/ 2290667 h 2290667"/>
                    <a:gd name="connsiteX1" fmla="*/ 0 w 5037200"/>
                    <a:gd name="connsiteY1" fmla="*/ 0 h 2290667"/>
                    <a:gd name="connsiteX2" fmla="*/ 5037201 w 5037200"/>
                    <a:gd name="connsiteY2" fmla="*/ 0 h 2290667"/>
                    <a:gd name="connsiteX3" fmla="*/ 5037201 w 5037200"/>
                    <a:gd name="connsiteY3" fmla="*/ 2290667 h 2290667"/>
                  </a:gdLst>
                  <a:ahLst/>
                  <a:cxnLst>
                    <a:cxn ang="0">
                      <a:pos x="connsiteX0" y="connsiteY0"/>
                    </a:cxn>
                    <a:cxn ang="0">
                      <a:pos x="connsiteX1" y="connsiteY1"/>
                    </a:cxn>
                    <a:cxn ang="0">
                      <a:pos x="connsiteX2" y="connsiteY2"/>
                    </a:cxn>
                    <a:cxn ang="0">
                      <a:pos x="connsiteX3" y="connsiteY3"/>
                    </a:cxn>
                  </a:cxnLst>
                  <a:rect l="l" t="t" r="r" b="b"/>
                  <a:pathLst>
                    <a:path w="5037200" h="2290667">
                      <a:moveTo>
                        <a:pt x="0" y="2290667"/>
                      </a:moveTo>
                      <a:lnTo>
                        <a:pt x="0" y="0"/>
                      </a:lnTo>
                      <a:lnTo>
                        <a:pt x="5037201" y="0"/>
                      </a:lnTo>
                      <a:lnTo>
                        <a:pt x="5037201" y="2290667"/>
                      </a:lnTo>
                    </a:path>
                  </a:pathLst>
                </a:custGeom>
                <a:solidFill>
                  <a:srgbClr val="EEF5FB"/>
                </a:solidFill>
                <a:ln w="19050" cap="flat">
                  <a:solidFill>
                    <a:srgbClr val="285649"/>
                  </a:solidFill>
                  <a:prstDash val="solid"/>
                  <a:miter/>
                </a:ln>
              </p:spPr>
              <p:txBody>
                <a:bodyPr rtlCol="0" anchor="ctr"/>
                <a:lstStyle/>
                <a:p>
                  <a:endParaRPr lang="zh-CN" altLang="en-US"/>
                </a:p>
              </p:txBody>
            </p:sp>
            <p:sp>
              <p:nvSpPr>
                <p:cNvPr id="10747" name="任意多边形: 形状 10746"/>
                <p:cNvSpPr/>
                <p:nvPr/>
              </p:nvSpPr>
              <p:spPr>
                <a:xfrm>
                  <a:off x="3476625" y="4586255"/>
                  <a:ext cx="5274945" cy="86772"/>
                </a:xfrm>
                <a:custGeom>
                  <a:avLst/>
                  <a:gdLst>
                    <a:gd name="connsiteX0" fmla="*/ 0 w 5274945"/>
                    <a:gd name="connsiteY0" fmla="*/ 0 h 86772"/>
                    <a:gd name="connsiteX1" fmla="*/ 5274945 w 5274945"/>
                    <a:gd name="connsiteY1" fmla="*/ 0 h 86772"/>
                    <a:gd name="connsiteX2" fmla="*/ 5274945 w 5274945"/>
                    <a:gd name="connsiteY2" fmla="*/ 86773 h 86772"/>
                    <a:gd name="connsiteX3" fmla="*/ 0 w 5274945"/>
                    <a:gd name="connsiteY3" fmla="*/ 86773 h 86772"/>
                  </a:gdLst>
                  <a:ahLst/>
                  <a:cxnLst>
                    <a:cxn ang="0">
                      <a:pos x="connsiteX0" y="connsiteY0"/>
                    </a:cxn>
                    <a:cxn ang="0">
                      <a:pos x="connsiteX1" y="connsiteY1"/>
                    </a:cxn>
                    <a:cxn ang="0">
                      <a:pos x="connsiteX2" y="connsiteY2"/>
                    </a:cxn>
                    <a:cxn ang="0">
                      <a:pos x="connsiteX3" y="connsiteY3"/>
                    </a:cxn>
                  </a:cxnLst>
                  <a:rect l="l" t="t" r="r" b="b"/>
                  <a:pathLst>
                    <a:path w="5274945" h="86772">
                      <a:moveTo>
                        <a:pt x="0" y="0"/>
                      </a:moveTo>
                      <a:lnTo>
                        <a:pt x="5274945" y="0"/>
                      </a:lnTo>
                      <a:lnTo>
                        <a:pt x="5274945" y="86773"/>
                      </a:lnTo>
                      <a:lnTo>
                        <a:pt x="0" y="86773"/>
                      </a:lnTo>
                      <a:close/>
                    </a:path>
                  </a:pathLst>
                </a:custGeom>
                <a:noFill/>
                <a:ln w="19050" cap="flat">
                  <a:solidFill>
                    <a:srgbClr val="285649"/>
                  </a:solidFill>
                  <a:prstDash val="solid"/>
                  <a:miter/>
                </a:ln>
              </p:spPr>
              <p:txBody>
                <a:bodyPr rtlCol="0" anchor="ctr"/>
                <a:lstStyle/>
                <a:p>
                  <a:endParaRPr lang="zh-CN" altLang="en-US"/>
                </a:p>
              </p:txBody>
            </p:sp>
          </p:grpSp>
          <p:sp>
            <p:nvSpPr>
              <p:cNvPr id="10748" name="图形 10741"/>
              <p:cNvSpPr/>
              <p:nvPr/>
            </p:nvSpPr>
            <p:spPr>
              <a:xfrm>
                <a:off x="2135" y="3940"/>
                <a:ext cx="678" cy="931"/>
              </a:xfrm>
              <a:custGeom>
                <a:avLst/>
                <a:gdLst>
                  <a:gd name="connsiteX0" fmla="*/ 0 w 273177"/>
                  <a:gd name="connsiteY0" fmla="*/ 0 h 390334"/>
                  <a:gd name="connsiteX1" fmla="*/ 273177 w 273177"/>
                  <a:gd name="connsiteY1" fmla="*/ 0 h 390334"/>
                  <a:gd name="connsiteX2" fmla="*/ 273177 w 273177"/>
                  <a:gd name="connsiteY2" fmla="*/ 390335 h 390334"/>
                  <a:gd name="connsiteX3" fmla="*/ 0 w 273177"/>
                  <a:gd name="connsiteY3" fmla="*/ 390335 h 390334"/>
                </a:gdLst>
                <a:ahLst/>
                <a:cxnLst>
                  <a:cxn ang="0">
                    <a:pos x="connsiteX0" y="connsiteY0"/>
                  </a:cxn>
                  <a:cxn ang="0">
                    <a:pos x="connsiteX1" y="connsiteY1"/>
                  </a:cxn>
                  <a:cxn ang="0">
                    <a:pos x="connsiteX2" y="connsiteY2"/>
                  </a:cxn>
                  <a:cxn ang="0">
                    <a:pos x="connsiteX3" y="connsiteY3"/>
                  </a:cxn>
                </a:cxnLst>
                <a:rect l="l" t="t" r="r" b="b"/>
                <a:pathLst>
                  <a:path w="273177" h="390334">
                    <a:moveTo>
                      <a:pt x="0" y="0"/>
                    </a:moveTo>
                    <a:lnTo>
                      <a:pt x="273177" y="0"/>
                    </a:lnTo>
                    <a:lnTo>
                      <a:pt x="273177" y="390335"/>
                    </a:lnTo>
                    <a:lnTo>
                      <a:pt x="0" y="390335"/>
                    </a:lnTo>
                    <a:close/>
                  </a:path>
                </a:pathLst>
              </a:custGeom>
              <a:gradFill>
                <a:gsLst>
                  <a:gs pos="74000">
                    <a:srgbClr val="C8DDEE"/>
                  </a:gs>
                  <a:gs pos="23000">
                    <a:srgbClr val="88B7C9"/>
                  </a:gs>
                  <a:gs pos="100000">
                    <a:srgbClr val="EEF3F9"/>
                  </a:gs>
                </a:gsLst>
                <a:lin scaled="1"/>
              </a:gradFill>
              <a:ln w="19050" cap="flat">
                <a:solidFill>
                  <a:srgbClr val="285649"/>
                </a:solidFill>
                <a:prstDash val="solid"/>
                <a:miter/>
              </a:ln>
            </p:spPr>
            <p:txBody>
              <a:bodyPr rtlCol="0" anchor="ctr"/>
              <a:lstStyle/>
              <a:p>
                <a:endParaRPr lang="zh-CN" altLang="en-US"/>
              </a:p>
            </p:txBody>
          </p:sp>
          <p:grpSp>
            <p:nvGrpSpPr>
              <p:cNvPr id="10749" name="图形 10741"/>
              <p:cNvGrpSpPr/>
              <p:nvPr/>
            </p:nvGrpSpPr>
            <p:grpSpPr>
              <a:xfrm>
                <a:off x="7308" y="8859"/>
                <a:ext cx="4221" cy="1627"/>
                <a:chOff x="5236940" y="4023454"/>
                <a:chExt cx="1700593" cy="875157"/>
              </a:xfrm>
            </p:grpSpPr>
            <p:sp>
              <p:nvSpPr>
                <p:cNvPr id="10750" name="任意多边形: 形状 10749"/>
                <p:cNvSpPr/>
                <p:nvPr/>
              </p:nvSpPr>
              <p:spPr>
                <a:xfrm>
                  <a:off x="5236940" y="4291012"/>
                  <a:ext cx="1700593" cy="60960"/>
                </a:xfrm>
                <a:custGeom>
                  <a:avLst/>
                  <a:gdLst>
                    <a:gd name="connsiteX0" fmla="*/ 0 w 1700593"/>
                    <a:gd name="connsiteY0" fmla="*/ 0 h 60960"/>
                    <a:gd name="connsiteX1" fmla="*/ 1700594 w 1700593"/>
                    <a:gd name="connsiteY1" fmla="*/ 0 h 60960"/>
                    <a:gd name="connsiteX2" fmla="*/ 1700594 w 1700593"/>
                    <a:gd name="connsiteY2" fmla="*/ 60960 h 60960"/>
                    <a:gd name="connsiteX3" fmla="*/ 0 w 1700593"/>
                    <a:gd name="connsiteY3" fmla="*/ 60960 h 60960"/>
                  </a:gdLst>
                  <a:ahLst/>
                  <a:cxnLst>
                    <a:cxn ang="0">
                      <a:pos x="connsiteX0" y="connsiteY0"/>
                    </a:cxn>
                    <a:cxn ang="0">
                      <a:pos x="connsiteX1" y="connsiteY1"/>
                    </a:cxn>
                    <a:cxn ang="0">
                      <a:pos x="connsiteX2" y="connsiteY2"/>
                    </a:cxn>
                    <a:cxn ang="0">
                      <a:pos x="connsiteX3" y="connsiteY3"/>
                    </a:cxn>
                  </a:cxnLst>
                  <a:rect l="l" t="t" r="r" b="b"/>
                  <a:pathLst>
                    <a:path w="1700593" h="60960">
                      <a:moveTo>
                        <a:pt x="0" y="0"/>
                      </a:moveTo>
                      <a:lnTo>
                        <a:pt x="1700594" y="0"/>
                      </a:lnTo>
                      <a:lnTo>
                        <a:pt x="1700594" y="60960"/>
                      </a:lnTo>
                      <a:lnTo>
                        <a:pt x="0" y="60960"/>
                      </a:lnTo>
                      <a:close/>
                    </a:path>
                  </a:pathLst>
                </a:custGeom>
                <a:noFill/>
                <a:ln w="19050" cap="flat">
                  <a:solidFill>
                    <a:srgbClr val="285649"/>
                  </a:solidFill>
                  <a:prstDash val="solid"/>
                  <a:miter/>
                </a:ln>
              </p:spPr>
              <p:txBody>
                <a:bodyPr rtlCol="0" anchor="ctr"/>
                <a:lstStyle/>
                <a:p>
                  <a:endParaRPr lang="zh-CN" altLang="en-US"/>
                </a:p>
              </p:txBody>
            </p:sp>
            <p:sp>
              <p:nvSpPr>
                <p:cNvPr id="10751" name="任意多边形: 形状 10750"/>
                <p:cNvSpPr/>
                <p:nvPr/>
              </p:nvSpPr>
              <p:spPr>
                <a:xfrm>
                  <a:off x="5269896" y="4352067"/>
                  <a:ext cx="1634489" cy="546544"/>
                </a:xfrm>
                <a:custGeom>
                  <a:avLst/>
                  <a:gdLst>
                    <a:gd name="connsiteX0" fmla="*/ 1591342 w 1634489"/>
                    <a:gd name="connsiteY0" fmla="*/ 0 h 546544"/>
                    <a:gd name="connsiteX1" fmla="*/ 1567148 w 1634489"/>
                    <a:gd name="connsiteY1" fmla="*/ 0 h 546544"/>
                    <a:gd name="connsiteX2" fmla="*/ 67437 w 1634489"/>
                    <a:gd name="connsiteY2" fmla="*/ 0 h 546544"/>
                    <a:gd name="connsiteX3" fmla="*/ 33718 w 1634489"/>
                    <a:gd name="connsiteY3" fmla="*/ 0 h 546544"/>
                    <a:gd name="connsiteX4" fmla="*/ 0 w 1634489"/>
                    <a:gd name="connsiteY4" fmla="*/ 0 h 546544"/>
                    <a:gd name="connsiteX5" fmla="*/ 0 w 1634489"/>
                    <a:gd name="connsiteY5" fmla="*/ 546545 h 546544"/>
                    <a:gd name="connsiteX6" fmla="*/ 67437 w 1634489"/>
                    <a:gd name="connsiteY6" fmla="*/ 546545 h 546544"/>
                    <a:gd name="connsiteX7" fmla="*/ 67437 w 1634489"/>
                    <a:gd name="connsiteY7" fmla="*/ 359664 h 546544"/>
                    <a:gd name="connsiteX8" fmla="*/ 1567148 w 1634489"/>
                    <a:gd name="connsiteY8" fmla="*/ 359664 h 546544"/>
                    <a:gd name="connsiteX9" fmla="*/ 1567148 w 1634489"/>
                    <a:gd name="connsiteY9" fmla="*/ 546545 h 546544"/>
                    <a:gd name="connsiteX10" fmla="*/ 1634490 w 1634489"/>
                    <a:gd name="connsiteY10" fmla="*/ 546545 h 546544"/>
                    <a:gd name="connsiteX11" fmla="*/ 1634490 w 1634489"/>
                    <a:gd name="connsiteY11" fmla="*/ 0 h 54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34489" h="546544">
                      <a:moveTo>
                        <a:pt x="1591342" y="0"/>
                      </a:moveTo>
                      <a:lnTo>
                        <a:pt x="1567148" y="0"/>
                      </a:lnTo>
                      <a:lnTo>
                        <a:pt x="67437" y="0"/>
                      </a:lnTo>
                      <a:lnTo>
                        <a:pt x="33718" y="0"/>
                      </a:lnTo>
                      <a:lnTo>
                        <a:pt x="0" y="0"/>
                      </a:lnTo>
                      <a:lnTo>
                        <a:pt x="0" y="546545"/>
                      </a:lnTo>
                      <a:lnTo>
                        <a:pt x="67437" y="546545"/>
                      </a:lnTo>
                      <a:lnTo>
                        <a:pt x="67437" y="359664"/>
                      </a:lnTo>
                      <a:lnTo>
                        <a:pt x="1567148" y="359664"/>
                      </a:lnTo>
                      <a:lnTo>
                        <a:pt x="1567148" y="546545"/>
                      </a:lnTo>
                      <a:lnTo>
                        <a:pt x="1634490" y="546545"/>
                      </a:lnTo>
                      <a:lnTo>
                        <a:pt x="1634490" y="0"/>
                      </a:lnTo>
                      <a:close/>
                    </a:path>
                  </a:pathLst>
                </a:custGeom>
                <a:solidFill>
                  <a:schemeClr val="accent1">
                    <a:lumMod val="40000"/>
                    <a:lumOff val="60000"/>
                  </a:schemeClr>
                </a:solidFill>
                <a:ln w="19050" cap="flat">
                  <a:solidFill>
                    <a:srgbClr val="285649"/>
                  </a:solidFill>
                  <a:prstDash val="solid"/>
                  <a:miter/>
                </a:ln>
              </p:spPr>
              <p:txBody>
                <a:bodyPr rtlCol="0" anchor="ctr"/>
                <a:lstStyle/>
                <a:p>
                  <a:endParaRPr lang="zh-CN" altLang="en-US"/>
                </a:p>
              </p:txBody>
            </p:sp>
            <p:sp>
              <p:nvSpPr>
                <p:cNvPr id="10752" name="任意多边形: 形状 10751"/>
                <p:cNvSpPr/>
                <p:nvPr/>
              </p:nvSpPr>
              <p:spPr>
                <a:xfrm>
                  <a:off x="6087141" y="4023454"/>
                  <a:ext cx="324802" cy="267557"/>
                </a:xfrm>
                <a:custGeom>
                  <a:avLst/>
                  <a:gdLst>
                    <a:gd name="connsiteX0" fmla="*/ 324803 w 324802"/>
                    <a:gd name="connsiteY0" fmla="*/ 267557 h 267557"/>
                    <a:gd name="connsiteX1" fmla="*/ 0 w 324802"/>
                    <a:gd name="connsiteY1" fmla="*/ 267557 h 267557"/>
                    <a:gd name="connsiteX2" fmla="*/ 36386 w 324802"/>
                    <a:gd name="connsiteY2" fmla="*/ 45720 h 267557"/>
                    <a:gd name="connsiteX3" fmla="*/ 90202 w 324802"/>
                    <a:gd name="connsiteY3" fmla="*/ 0 h 267557"/>
                    <a:gd name="connsiteX4" fmla="*/ 231934 w 324802"/>
                    <a:gd name="connsiteY4" fmla="*/ 0 h 267557"/>
                    <a:gd name="connsiteX5" fmla="*/ 285655 w 324802"/>
                    <a:gd name="connsiteY5" fmla="*/ 45053 h 267557"/>
                    <a:gd name="connsiteX6" fmla="*/ 324803 w 324802"/>
                    <a:gd name="connsiteY6" fmla="*/ 267557 h 26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2" h="267557">
                      <a:moveTo>
                        <a:pt x="324803" y="267557"/>
                      </a:moveTo>
                      <a:lnTo>
                        <a:pt x="0" y="267557"/>
                      </a:lnTo>
                      <a:lnTo>
                        <a:pt x="36386" y="45720"/>
                      </a:lnTo>
                      <a:cubicBezTo>
                        <a:pt x="40672" y="19336"/>
                        <a:pt x="63532" y="0"/>
                        <a:pt x="90202" y="0"/>
                      </a:cubicBezTo>
                      <a:lnTo>
                        <a:pt x="231934" y="0"/>
                      </a:lnTo>
                      <a:cubicBezTo>
                        <a:pt x="258413" y="0"/>
                        <a:pt x="281083" y="19050"/>
                        <a:pt x="285655" y="45053"/>
                      </a:cubicBezTo>
                      <a:lnTo>
                        <a:pt x="324803" y="267557"/>
                      </a:lnTo>
                      <a:close/>
                    </a:path>
                  </a:pathLst>
                </a:custGeom>
                <a:noFill/>
                <a:ln w="19050" cap="flat">
                  <a:solidFill>
                    <a:srgbClr val="285649"/>
                  </a:solidFill>
                  <a:prstDash val="solid"/>
                  <a:miter/>
                </a:ln>
              </p:spPr>
              <p:txBody>
                <a:bodyPr rtlCol="0" anchor="ctr"/>
                <a:lstStyle/>
                <a:p>
                  <a:endParaRPr lang="zh-CN" altLang="en-US"/>
                </a:p>
              </p:txBody>
            </p:sp>
            <p:sp>
              <p:nvSpPr>
                <p:cNvPr id="10753" name="任意多边形: 形状 10752"/>
                <p:cNvSpPr/>
                <p:nvPr/>
              </p:nvSpPr>
              <p:spPr>
                <a:xfrm>
                  <a:off x="5664898" y="4094035"/>
                  <a:ext cx="43815" cy="196977"/>
                </a:xfrm>
                <a:custGeom>
                  <a:avLst/>
                  <a:gdLst>
                    <a:gd name="connsiteX0" fmla="*/ 0 w 43815"/>
                    <a:gd name="connsiteY0" fmla="*/ 0 h 196977"/>
                    <a:gd name="connsiteX1" fmla="*/ 43815 w 43815"/>
                    <a:gd name="connsiteY1" fmla="*/ 0 h 196977"/>
                    <a:gd name="connsiteX2" fmla="*/ 43815 w 43815"/>
                    <a:gd name="connsiteY2" fmla="*/ 196977 h 196977"/>
                    <a:gd name="connsiteX3" fmla="*/ 0 w 43815"/>
                    <a:gd name="connsiteY3" fmla="*/ 196977 h 196977"/>
                  </a:gdLst>
                  <a:ahLst/>
                  <a:cxnLst>
                    <a:cxn ang="0">
                      <a:pos x="connsiteX0" y="connsiteY0"/>
                    </a:cxn>
                    <a:cxn ang="0">
                      <a:pos x="connsiteX1" y="connsiteY1"/>
                    </a:cxn>
                    <a:cxn ang="0">
                      <a:pos x="connsiteX2" y="connsiteY2"/>
                    </a:cxn>
                    <a:cxn ang="0">
                      <a:pos x="connsiteX3" y="connsiteY3"/>
                    </a:cxn>
                  </a:cxnLst>
                  <a:rect l="l" t="t" r="r" b="b"/>
                  <a:pathLst>
                    <a:path w="43815" h="196977">
                      <a:moveTo>
                        <a:pt x="0" y="0"/>
                      </a:moveTo>
                      <a:lnTo>
                        <a:pt x="43815" y="0"/>
                      </a:lnTo>
                      <a:lnTo>
                        <a:pt x="43815" y="196977"/>
                      </a:lnTo>
                      <a:lnTo>
                        <a:pt x="0" y="196977"/>
                      </a:lnTo>
                      <a:close/>
                    </a:path>
                  </a:pathLst>
                </a:custGeom>
                <a:noFill/>
                <a:ln w="19050" cap="flat">
                  <a:solidFill>
                    <a:srgbClr val="285649"/>
                  </a:solidFill>
                  <a:prstDash val="solid"/>
                  <a:miter/>
                </a:ln>
              </p:spPr>
              <p:txBody>
                <a:bodyPr rtlCol="0" anchor="ctr"/>
                <a:lstStyle/>
                <a:p>
                  <a:endParaRPr lang="zh-CN" altLang="en-US"/>
                </a:p>
              </p:txBody>
            </p:sp>
            <p:sp>
              <p:nvSpPr>
                <p:cNvPr id="10754" name="任意多边形: 形状 10753"/>
                <p:cNvSpPr/>
                <p:nvPr/>
              </p:nvSpPr>
              <p:spPr>
                <a:xfrm>
                  <a:off x="5802153" y="4196047"/>
                  <a:ext cx="40004" cy="94964"/>
                </a:xfrm>
                <a:custGeom>
                  <a:avLst/>
                  <a:gdLst>
                    <a:gd name="connsiteX0" fmla="*/ 0 w 40004"/>
                    <a:gd name="connsiteY0" fmla="*/ 0 h 94964"/>
                    <a:gd name="connsiteX1" fmla="*/ 40005 w 40004"/>
                    <a:gd name="connsiteY1" fmla="*/ 0 h 94964"/>
                    <a:gd name="connsiteX2" fmla="*/ 40005 w 40004"/>
                    <a:gd name="connsiteY2" fmla="*/ 94964 h 94964"/>
                    <a:gd name="connsiteX3" fmla="*/ 0 w 40004"/>
                    <a:gd name="connsiteY3" fmla="*/ 94964 h 94964"/>
                  </a:gdLst>
                  <a:ahLst/>
                  <a:cxnLst>
                    <a:cxn ang="0">
                      <a:pos x="connsiteX0" y="connsiteY0"/>
                    </a:cxn>
                    <a:cxn ang="0">
                      <a:pos x="connsiteX1" y="connsiteY1"/>
                    </a:cxn>
                    <a:cxn ang="0">
                      <a:pos x="connsiteX2" y="connsiteY2"/>
                    </a:cxn>
                    <a:cxn ang="0">
                      <a:pos x="connsiteX3" y="connsiteY3"/>
                    </a:cxn>
                  </a:cxnLst>
                  <a:rect l="l" t="t" r="r" b="b"/>
                  <a:pathLst>
                    <a:path w="40004" h="94964">
                      <a:moveTo>
                        <a:pt x="0" y="0"/>
                      </a:moveTo>
                      <a:lnTo>
                        <a:pt x="40005" y="0"/>
                      </a:lnTo>
                      <a:lnTo>
                        <a:pt x="40005" y="94964"/>
                      </a:lnTo>
                      <a:lnTo>
                        <a:pt x="0" y="94964"/>
                      </a:lnTo>
                      <a:close/>
                    </a:path>
                  </a:pathLst>
                </a:custGeom>
                <a:noFill/>
                <a:ln w="19050" cap="flat">
                  <a:solidFill>
                    <a:srgbClr val="285649"/>
                  </a:solidFill>
                  <a:prstDash val="solid"/>
                  <a:miter/>
                </a:ln>
              </p:spPr>
              <p:txBody>
                <a:bodyPr rtlCol="0" anchor="ctr"/>
                <a:lstStyle/>
                <a:p>
                  <a:endParaRPr lang="zh-CN" altLang="en-US"/>
                </a:p>
              </p:txBody>
            </p:sp>
            <p:sp>
              <p:nvSpPr>
                <p:cNvPr id="10755" name="任意多边形: 形状 10754"/>
                <p:cNvSpPr/>
                <p:nvPr/>
              </p:nvSpPr>
              <p:spPr>
                <a:xfrm rot="1149583">
                  <a:off x="5599682" y="4144898"/>
                  <a:ext cx="36480" cy="137920"/>
                </a:xfrm>
                <a:custGeom>
                  <a:avLst/>
                  <a:gdLst>
                    <a:gd name="connsiteX0" fmla="*/ 0 w 36480"/>
                    <a:gd name="connsiteY0" fmla="*/ 0 h 137920"/>
                    <a:gd name="connsiteX1" fmla="*/ 36480 w 36480"/>
                    <a:gd name="connsiteY1" fmla="*/ 0 h 137920"/>
                    <a:gd name="connsiteX2" fmla="*/ 36480 w 36480"/>
                    <a:gd name="connsiteY2" fmla="*/ 137921 h 137920"/>
                    <a:gd name="connsiteX3" fmla="*/ 0 w 36480"/>
                    <a:gd name="connsiteY3" fmla="*/ 137921 h 137920"/>
                  </a:gdLst>
                  <a:ahLst/>
                  <a:cxnLst>
                    <a:cxn ang="0">
                      <a:pos x="connsiteX0" y="connsiteY0"/>
                    </a:cxn>
                    <a:cxn ang="0">
                      <a:pos x="connsiteX1" y="connsiteY1"/>
                    </a:cxn>
                    <a:cxn ang="0">
                      <a:pos x="connsiteX2" y="connsiteY2"/>
                    </a:cxn>
                    <a:cxn ang="0">
                      <a:pos x="connsiteX3" y="connsiteY3"/>
                    </a:cxn>
                  </a:cxnLst>
                  <a:rect l="l" t="t" r="r" b="b"/>
                  <a:pathLst>
                    <a:path w="36480" h="137920">
                      <a:moveTo>
                        <a:pt x="0" y="0"/>
                      </a:moveTo>
                      <a:lnTo>
                        <a:pt x="36480" y="0"/>
                      </a:lnTo>
                      <a:lnTo>
                        <a:pt x="36480" y="137921"/>
                      </a:lnTo>
                      <a:lnTo>
                        <a:pt x="0" y="137921"/>
                      </a:lnTo>
                      <a:close/>
                    </a:path>
                  </a:pathLst>
                </a:custGeom>
                <a:noFill/>
                <a:ln w="19050" cap="flat">
                  <a:solidFill>
                    <a:srgbClr val="285649"/>
                  </a:solidFill>
                  <a:prstDash val="solid"/>
                  <a:miter/>
                </a:ln>
              </p:spPr>
              <p:txBody>
                <a:bodyPr rtlCol="0" anchor="ctr"/>
                <a:lstStyle/>
                <a:p>
                  <a:endParaRPr lang="zh-CN" altLang="en-US"/>
                </a:p>
              </p:txBody>
            </p:sp>
            <p:sp>
              <p:nvSpPr>
                <p:cNvPr id="10756" name="任意多边形: 形状 10755"/>
                <p:cNvSpPr/>
                <p:nvPr/>
              </p:nvSpPr>
              <p:spPr>
                <a:xfrm>
                  <a:off x="6029039" y="4898611"/>
                  <a:ext cx="108680" cy="9525"/>
                </a:xfrm>
                <a:custGeom>
                  <a:avLst/>
                  <a:gdLst>
                    <a:gd name="connsiteX0" fmla="*/ 0 w 108680"/>
                    <a:gd name="connsiteY0" fmla="*/ 0 h 9525"/>
                    <a:gd name="connsiteX1" fmla="*/ 108680 w 108680"/>
                    <a:gd name="connsiteY1" fmla="*/ 0 h 9525"/>
                  </a:gdLst>
                  <a:ahLst/>
                  <a:cxnLst>
                    <a:cxn ang="0">
                      <a:pos x="connsiteX0" y="connsiteY0"/>
                    </a:cxn>
                    <a:cxn ang="0">
                      <a:pos x="connsiteX1" y="connsiteY1"/>
                    </a:cxn>
                  </a:cxnLst>
                  <a:rect l="l" t="t" r="r" b="b"/>
                  <a:pathLst>
                    <a:path w="108680" h="9525">
                      <a:moveTo>
                        <a:pt x="0" y="0"/>
                      </a:moveTo>
                      <a:lnTo>
                        <a:pt x="108680" y="0"/>
                      </a:lnTo>
                    </a:path>
                  </a:pathLst>
                </a:custGeom>
                <a:ln w="19050" cap="flat">
                  <a:solidFill>
                    <a:srgbClr val="285649"/>
                  </a:solidFill>
                  <a:prstDash val="solid"/>
                  <a:miter/>
                </a:ln>
              </p:spPr>
              <p:txBody>
                <a:bodyPr rtlCol="0" anchor="ctr"/>
                <a:lstStyle/>
                <a:p>
                  <a:endParaRPr lang="zh-CN" altLang="en-US"/>
                </a:p>
              </p:txBody>
            </p:sp>
            <p:sp>
              <p:nvSpPr>
                <p:cNvPr id="10757" name="任意多边形: 形状 10756"/>
                <p:cNvSpPr/>
                <p:nvPr/>
              </p:nvSpPr>
              <p:spPr>
                <a:xfrm>
                  <a:off x="6357651" y="4898611"/>
                  <a:ext cx="108680" cy="9525"/>
                </a:xfrm>
                <a:custGeom>
                  <a:avLst/>
                  <a:gdLst>
                    <a:gd name="connsiteX0" fmla="*/ 0 w 108680"/>
                    <a:gd name="connsiteY0" fmla="*/ 0 h 9525"/>
                    <a:gd name="connsiteX1" fmla="*/ 108680 w 108680"/>
                    <a:gd name="connsiteY1" fmla="*/ 0 h 9525"/>
                  </a:gdLst>
                  <a:ahLst/>
                  <a:cxnLst>
                    <a:cxn ang="0">
                      <a:pos x="connsiteX0" y="connsiteY0"/>
                    </a:cxn>
                    <a:cxn ang="0">
                      <a:pos x="connsiteX1" y="connsiteY1"/>
                    </a:cxn>
                  </a:cxnLst>
                  <a:rect l="l" t="t" r="r" b="b"/>
                  <a:pathLst>
                    <a:path w="108680" h="9525">
                      <a:moveTo>
                        <a:pt x="0" y="0"/>
                      </a:moveTo>
                      <a:lnTo>
                        <a:pt x="108680" y="0"/>
                      </a:lnTo>
                    </a:path>
                  </a:pathLst>
                </a:custGeom>
                <a:ln w="19050" cap="flat">
                  <a:solidFill>
                    <a:srgbClr val="285649"/>
                  </a:solidFill>
                  <a:prstDash val="solid"/>
                  <a:miter/>
                </a:ln>
              </p:spPr>
              <p:txBody>
                <a:bodyPr rtlCol="0" anchor="ctr"/>
                <a:lstStyle/>
                <a:p>
                  <a:endParaRPr lang="zh-CN" altLang="en-US"/>
                </a:p>
              </p:txBody>
            </p:sp>
            <p:sp>
              <p:nvSpPr>
                <p:cNvPr id="10758" name="任意多边形: 形状 10757"/>
                <p:cNvSpPr/>
                <p:nvPr/>
              </p:nvSpPr>
              <p:spPr>
                <a:xfrm>
                  <a:off x="6083331" y="4711731"/>
                  <a:ext cx="9525" cy="186880"/>
                </a:xfrm>
                <a:custGeom>
                  <a:avLst/>
                  <a:gdLst>
                    <a:gd name="connsiteX0" fmla="*/ 0 w 9525"/>
                    <a:gd name="connsiteY0" fmla="*/ 0 h 186880"/>
                    <a:gd name="connsiteX1" fmla="*/ 0 w 9525"/>
                    <a:gd name="connsiteY1" fmla="*/ 186881 h 186880"/>
                  </a:gdLst>
                  <a:ahLst/>
                  <a:cxnLst>
                    <a:cxn ang="0">
                      <a:pos x="connsiteX0" y="connsiteY0"/>
                    </a:cxn>
                    <a:cxn ang="0">
                      <a:pos x="connsiteX1" y="connsiteY1"/>
                    </a:cxn>
                  </a:cxnLst>
                  <a:rect l="l" t="t" r="r" b="b"/>
                  <a:pathLst>
                    <a:path w="9525" h="186880">
                      <a:moveTo>
                        <a:pt x="0" y="0"/>
                      </a:moveTo>
                      <a:lnTo>
                        <a:pt x="0" y="186881"/>
                      </a:lnTo>
                    </a:path>
                  </a:pathLst>
                </a:custGeom>
                <a:ln w="19050" cap="flat">
                  <a:solidFill>
                    <a:srgbClr val="285649"/>
                  </a:solidFill>
                  <a:prstDash val="solid"/>
                  <a:miter/>
                </a:ln>
              </p:spPr>
              <p:txBody>
                <a:bodyPr rtlCol="0" anchor="ctr"/>
                <a:lstStyle/>
                <a:p>
                  <a:endParaRPr lang="zh-CN" altLang="en-US"/>
                </a:p>
              </p:txBody>
            </p:sp>
            <p:sp>
              <p:nvSpPr>
                <p:cNvPr id="10759" name="任意多边形: 形状 10758"/>
                <p:cNvSpPr/>
                <p:nvPr/>
              </p:nvSpPr>
              <p:spPr>
                <a:xfrm>
                  <a:off x="6411944" y="4711731"/>
                  <a:ext cx="9525" cy="186880"/>
                </a:xfrm>
                <a:custGeom>
                  <a:avLst/>
                  <a:gdLst>
                    <a:gd name="connsiteX0" fmla="*/ 0 w 9525"/>
                    <a:gd name="connsiteY0" fmla="*/ 0 h 186880"/>
                    <a:gd name="connsiteX1" fmla="*/ 0 w 9525"/>
                    <a:gd name="connsiteY1" fmla="*/ 186881 h 186880"/>
                  </a:gdLst>
                  <a:ahLst/>
                  <a:cxnLst>
                    <a:cxn ang="0">
                      <a:pos x="connsiteX0" y="connsiteY0"/>
                    </a:cxn>
                    <a:cxn ang="0">
                      <a:pos x="connsiteX1" y="connsiteY1"/>
                    </a:cxn>
                  </a:cxnLst>
                  <a:rect l="l" t="t" r="r" b="b"/>
                  <a:pathLst>
                    <a:path w="9525" h="186880">
                      <a:moveTo>
                        <a:pt x="0" y="0"/>
                      </a:moveTo>
                      <a:lnTo>
                        <a:pt x="0" y="186881"/>
                      </a:lnTo>
                    </a:path>
                  </a:pathLst>
                </a:custGeom>
                <a:ln w="19050" cap="flat">
                  <a:solidFill>
                    <a:srgbClr val="285649"/>
                  </a:solidFill>
                  <a:prstDash val="solid"/>
                  <a:miter/>
                </a:ln>
              </p:spPr>
              <p:txBody>
                <a:bodyPr rtlCol="0" anchor="ctr"/>
                <a:lstStyle/>
                <a:p>
                  <a:endParaRPr lang="zh-CN" altLang="en-US"/>
                </a:p>
              </p:txBody>
            </p:sp>
            <p:sp>
              <p:nvSpPr>
                <p:cNvPr id="10760" name="任意多边形: 形状 10759"/>
                <p:cNvSpPr/>
                <p:nvPr/>
              </p:nvSpPr>
              <p:spPr>
                <a:xfrm>
                  <a:off x="5416677" y="4441030"/>
                  <a:ext cx="1324356" cy="152400"/>
                </a:xfrm>
                <a:custGeom>
                  <a:avLst/>
                  <a:gdLst>
                    <a:gd name="connsiteX0" fmla="*/ 0 w 1324356"/>
                    <a:gd name="connsiteY0" fmla="*/ 0 h 152400"/>
                    <a:gd name="connsiteX1" fmla="*/ 1324356 w 1324356"/>
                    <a:gd name="connsiteY1" fmla="*/ 0 h 152400"/>
                    <a:gd name="connsiteX2" fmla="*/ 1324356 w 1324356"/>
                    <a:gd name="connsiteY2" fmla="*/ 152400 h 152400"/>
                    <a:gd name="connsiteX3" fmla="*/ 0 w 1324356"/>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1324356" h="152400">
                      <a:moveTo>
                        <a:pt x="0" y="0"/>
                      </a:moveTo>
                      <a:lnTo>
                        <a:pt x="1324356" y="0"/>
                      </a:lnTo>
                      <a:lnTo>
                        <a:pt x="1324356" y="152400"/>
                      </a:lnTo>
                      <a:lnTo>
                        <a:pt x="0" y="152400"/>
                      </a:lnTo>
                      <a:close/>
                    </a:path>
                  </a:pathLst>
                </a:custGeom>
                <a:solidFill>
                  <a:srgbClr val="FFFFFF"/>
                </a:solidFill>
                <a:ln w="19050" cap="flat">
                  <a:solidFill>
                    <a:srgbClr val="285649"/>
                  </a:solidFill>
                  <a:prstDash val="solid"/>
                  <a:miter/>
                </a:ln>
              </p:spPr>
              <p:txBody>
                <a:bodyPr rtlCol="0" anchor="ctr"/>
                <a:lstStyle/>
                <a:p>
                  <a:endParaRPr lang="zh-CN" altLang="en-US"/>
                </a:p>
              </p:txBody>
            </p:sp>
            <p:sp>
              <p:nvSpPr>
                <p:cNvPr id="10761" name="任意多边形: 形状 10760"/>
                <p:cNvSpPr/>
                <p:nvPr/>
              </p:nvSpPr>
              <p:spPr>
                <a:xfrm>
                  <a:off x="6057995" y="4496371"/>
                  <a:ext cx="46291" cy="46291"/>
                </a:xfrm>
                <a:custGeom>
                  <a:avLst/>
                  <a:gdLst>
                    <a:gd name="connsiteX0" fmla="*/ 46291 w 46291"/>
                    <a:gd name="connsiteY0" fmla="*/ 23146 h 46291"/>
                    <a:gd name="connsiteX1" fmla="*/ 23146 w 46291"/>
                    <a:gd name="connsiteY1" fmla="*/ 46291 h 46291"/>
                    <a:gd name="connsiteX2" fmla="*/ 0 w 46291"/>
                    <a:gd name="connsiteY2" fmla="*/ 23146 h 46291"/>
                    <a:gd name="connsiteX3" fmla="*/ 23146 w 46291"/>
                    <a:gd name="connsiteY3" fmla="*/ 0 h 46291"/>
                    <a:gd name="connsiteX4" fmla="*/ 46291 w 46291"/>
                    <a:gd name="connsiteY4" fmla="*/ 23146 h 46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1" h="46291">
                      <a:moveTo>
                        <a:pt x="46291" y="23146"/>
                      </a:moveTo>
                      <a:cubicBezTo>
                        <a:pt x="46291" y="35929"/>
                        <a:pt x="35929" y="46291"/>
                        <a:pt x="23146" y="46291"/>
                      </a:cubicBezTo>
                      <a:cubicBezTo>
                        <a:pt x="10363" y="46291"/>
                        <a:pt x="0" y="35929"/>
                        <a:pt x="0" y="23146"/>
                      </a:cubicBezTo>
                      <a:cubicBezTo>
                        <a:pt x="0" y="10363"/>
                        <a:pt x="10363" y="0"/>
                        <a:pt x="23146" y="0"/>
                      </a:cubicBezTo>
                      <a:cubicBezTo>
                        <a:pt x="35929" y="0"/>
                        <a:pt x="46291" y="10363"/>
                        <a:pt x="46291" y="23146"/>
                      </a:cubicBezTo>
                      <a:close/>
                    </a:path>
                  </a:pathLst>
                </a:custGeom>
                <a:solidFill>
                  <a:srgbClr val="BEEADD"/>
                </a:solidFill>
                <a:ln w="19050" cap="flat">
                  <a:solidFill>
                    <a:srgbClr val="285649"/>
                  </a:solidFill>
                  <a:prstDash val="solid"/>
                  <a:miter/>
                </a:ln>
              </p:spPr>
              <p:txBody>
                <a:bodyPr rtlCol="0" anchor="ctr"/>
                <a:lstStyle/>
                <a:p>
                  <a:endParaRPr lang="zh-CN" altLang="en-US"/>
                </a:p>
              </p:txBody>
            </p:sp>
          </p:grpSp>
          <p:sp>
            <p:nvSpPr>
              <p:cNvPr id="10762" name="图形 10741"/>
              <p:cNvSpPr/>
              <p:nvPr/>
            </p:nvSpPr>
            <p:spPr>
              <a:xfrm>
                <a:off x="13334" y="3474"/>
                <a:ext cx="3441" cy="23"/>
              </a:xfrm>
              <a:custGeom>
                <a:avLst/>
                <a:gdLst>
                  <a:gd name="connsiteX0" fmla="*/ 0 w 1386458"/>
                  <a:gd name="connsiteY0" fmla="*/ 0 h 9525"/>
                  <a:gd name="connsiteX1" fmla="*/ 284321 w 1386458"/>
                  <a:gd name="connsiteY1" fmla="*/ 0 h 9525"/>
                  <a:gd name="connsiteX2" fmla="*/ 1386459 w 1386458"/>
                  <a:gd name="connsiteY2" fmla="*/ 0 h 9525"/>
                </a:gdLst>
                <a:ahLst/>
                <a:cxnLst>
                  <a:cxn ang="0">
                    <a:pos x="connsiteX0" y="connsiteY0"/>
                  </a:cxn>
                  <a:cxn ang="0">
                    <a:pos x="connsiteX1" y="connsiteY1"/>
                  </a:cxn>
                  <a:cxn ang="0">
                    <a:pos x="connsiteX2" y="connsiteY2"/>
                  </a:cxn>
                </a:cxnLst>
                <a:rect l="l" t="t" r="r" b="b"/>
                <a:pathLst>
                  <a:path w="1386458" h="9525">
                    <a:moveTo>
                      <a:pt x="0" y="0"/>
                    </a:moveTo>
                    <a:lnTo>
                      <a:pt x="284321" y="0"/>
                    </a:lnTo>
                    <a:lnTo>
                      <a:pt x="1386459" y="0"/>
                    </a:lnTo>
                  </a:path>
                </a:pathLst>
              </a:custGeom>
              <a:noFill/>
              <a:ln w="19050" cap="flat">
                <a:solidFill>
                  <a:srgbClr val="285649"/>
                </a:solidFill>
                <a:prstDash val="solid"/>
                <a:miter/>
              </a:ln>
            </p:spPr>
            <p:txBody>
              <a:bodyPr rtlCol="0" anchor="ctr"/>
              <a:lstStyle/>
              <a:p>
                <a:endParaRPr lang="zh-CN" altLang="en-US"/>
              </a:p>
            </p:txBody>
          </p:sp>
          <p:sp>
            <p:nvSpPr>
              <p:cNvPr id="10763" name="图形 10741"/>
              <p:cNvSpPr/>
              <p:nvPr/>
            </p:nvSpPr>
            <p:spPr>
              <a:xfrm>
                <a:off x="14040" y="3474"/>
                <a:ext cx="24" cy="625"/>
              </a:xfrm>
              <a:custGeom>
                <a:avLst/>
                <a:gdLst>
                  <a:gd name="connsiteX0" fmla="*/ 0 w 9525"/>
                  <a:gd name="connsiteY0" fmla="*/ 262033 h 262032"/>
                  <a:gd name="connsiteX1" fmla="*/ 0 w 9525"/>
                  <a:gd name="connsiteY1" fmla="*/ 0 h 262032"/>
                </a:gdLst>
                <a:ahLst/>
                <a:cxnLst>
                  <a:cxn ang="0">
                    <a:pos x="connsiteX0" y="connsiteY0"/>
                  </a:cxn>
                  <a:cxn ang="0">
                    <a:pos x="connsiteX1" y="connsiteY1"/>
                  </a:cxn>
                </a:cxnLst>
                <a:rect l="l" t="t" r="r" b="b"/>
                <a:pathLst>
                  <a:path w="9525" h="262032">
                    <a:moveTo>
                      <a:pt x="0" y="262033"/>
                    </a:moveTo>
                    <a:lnTo>
                      <a:pt x="0" y="0"/>
                    </a:lnTo>
                  </a:path>
                </a:pathLst>
              </a:custGeom>
              <a:ln w="19050" cap="flat">
                <a:solidFill>
                  <a:srgbClr val="285649"/>
                </a:solidFill>
                <a:prstDash val="solid"/>
                <a:miter/>
              </a:ln>
            </p:spPr>
            <p:txBody>
              <a:bodyPr rtlCol="0" anchor="ctr"/>
              <a:lstStyle/>
              <a:p>
                <a:endParaRPr lang="zh-CN" altLang="en-US"/>
              </a:p>
            </p:txBody>
          </p:sp>
          <p:sp>
            <p:nvSpPr>
              <p:cNvPr id="10764" name="图形 10741"/>
              <p:cNvSpPr/>
              <p:nvPr/>
            </p:nvSpPr>
            <p:spPr>
              <a:xfrm>
                <a:off x="14753" y="3474"/>
                <a:ext cx="24" cy="1191"/>
              </a:xfrm>
              <a:custGeom>
                <a:avLst/>
                <a:gdLst>
                  <a:gd name="connsiteX0" fmla="*/ 0 w 9525"/>
                  <a:gd name="connsiteY0" fmla="*/ 499967 h 499967"/>
                  <a:gd name="connsiteX1" fmla="*/ 0 w 9525"/>
                  <a:gd name="connsiteY1" fmla="*/ 0 h 499967"/>
                </a:gdLst>
                <a:ahLst/>
                <a:cxnLst>
                  <a:cxn ang="0">
                    <a:pos x="connsiteX0" y="connsiteY0"/>
                  </a:cxn>
                  <a:cxn ang="0">
                    <a:pos x="connsiteX1" y="connsiteY1"/>
                  </a:cxn>
                </a:cxnLst>
                <a:rect l="l" t="t" r="r" b="b"/>
                <a:pathLst>
                  <a:path w="9525" h="499967">
                    <a:moveTo>
                      <a:pt x="0" y="499967"/>
                    </a:moveTo>
                    <a:lnTo>
                      <a:pt x="0" y="0"/>
                    </a:lnTo>
                  </a:path>
                </a:pathLst>
              </a:custGeom>
              <a:ln w="19050" cap="flat">
                <a:solidFill>
                  <a:srgbClr val="285649"/>
                </a:solidFill>
                <a:prstDash val="solid"/>
                <a:miter/>
              </a:ln>
            </p:spPr>
            <p:txBody>
              <a:bodyPr rtlCol="0" anchor="ctr"/>
              <a:lstStyle/>
              <a:p>
                <a:endParaRPr lang="zh-CN" altLang="en-US"/>
              </a:p>
            </p:txBody>
          </p:sp>
          <p:sp>
            <p:nvSpPr>
              <p:cNvPr id="10765" name="图形 10741"/>
              <p:cNvSpPr/>
              <p:nvPr/>
            </p:nvSpPr>
            <p:spPr>
              <a:xfrm>
                <a:off x="13867" y="4099"/>
                <a:ext cx="347" cy="534"/>
              </a:xfrm>
              <a:custGeom>
                <a:avLst/>
                <a:gdLst>
                  <a:gd name="connsiteX0" fmla="*/ 139351 w 139445"/>
                  <a:gd name="connsiteY0" fmla="*/ 224028 h 224028"/>
                  <a:gd name="connsiteX1" fmla="*/ 0 w 139445"/>
                  <a:gd name="connsiteY1" fmla="*/ 224028 h 224028"/>
                  <a:gd name="connsiteX2" fmla="*/ 0 w 139445"/>
                  <a:gd name="connsiteY2" fmla="*/ 69723 h 224028"/>
                  <a:gd name="connsiteX3" fmla="*/ 69723 w 139445"/>
                  <a:gd name="connsiteY3" fmla="*/ 0 h 224028"/>
                  <a:gd name="connsiteX4" fmla="*/ 69723 w 139445"/>
                  <a:gd name="connsiteY4" fmla="*/ 0 h 224028"/>
                  <a:gd name="connsiteX5" fmla="*/ 139446 w 139445"/>
                  <a:gd name="connsiteY5" fmla="*/ 69723 h 224028"/>
                  <a:gd name="connsiteX6" fmla="*/ 139446 w 139445"/>
                  <a:gd name="connsiteY6" fmla="*/ 224028 h 22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445" h="224028">
                    <a:moveTo>
                      <a:pt x="139351" y="224028"/>
                    </a:moveTo>
                    <a:lnTo>
                      <a:pt x="0" y="224028"/>
                    </a:lnTo>
                    <a:lnTo>
                      <a:pt x="0" y="69723"/>
                    </a:lnTo>
                    <a:cubicBezTo>
                      <a:pt x="0" y="31242"/>
                      <a:pt x="31242" y="0"/>
                      <a:pt x="69723" y="0"/>
                    </a:cubicBezTo>
                    <a:lnTo>
                      <a:pt x="69723" y="0"/>
                    </a:lnTo>
                    <a:cubicBezTo>
                      <a:pt x="108204" y="0"/>
                      <a:pt x="139446" y="31242"/>
                      <a:pt x="139446" y="69723"/>
                    </a:cubicBezTo>
                    <a:lnTo>
                      <a:pt x="139446" y="224028"/>
                    </a:lnTo>
                    <a:close/>
                  </a:path>
                </a:pathLst>
              </a:custGeom>
              <a:gradFill>
                <a:gsLst>
                  <a:gs pos="23000">
                    <a:srgbClr val="EFF4F0"/>
                  </a:gs>
                  <a:gs pos="0">
                    <a:srgbClr val="F4E21B"/>
                  </a:gs>
                  <a:gs pos="50000">
                    <a:srgbClr val="F3F18C"/>
                  </a:gs>
                </a:gsLst>
                <a:lin ang="5400000" scaled="0"/>
              </a:gradFill>
              <a:ln w="19050" cap="flat">
                <a:solidFill>
                  <a:srgbClr val="285649"/>
                </a:solidFill>
                <a:prstDash val="solid"/>
                <a:miter/>
              </a:ln>
            </p:spPr>
            <p:txBody>
              <a:bodyPr rtlCol="0" anchor="ctr"/>
              <a:lstStyle/>
              <a:p>
                <a:endParaRPr lang="zh-CN" altLang="en-US"/>
              </a:p>
            </p:txBody>
          </p:sp>
          <p:sp>
            <p:nvSpPr>
              <p:cNvPr id="10766" name="图形 10741"/>
              <p:cNvSpPr/>
              <p:nvPr/>
            </p:nvSpPr>
            <p:spPr>
              <a:xfrm>
                <a:off x="14511" y="4667"/>
                <a:ext cx="481" cy="586"/>
              </a:xfrm>
              <a:custGeom>
                <a:avLst/>
                <a:gdLst>
                  <a:gd name="connsiteX0" fmla="*/ 193739 w 193738"/>
                  <a:gd name="connsiteY0" fmla="*/ 245745 h 245744"/>
                  <a:gd name="connsiteX1" fmla="*/ 0 w 193738"/>
                  <a:gd name="connsiteY1" fmla="*/ 245745 h 245744"/>
                  <a:gd name="connsiteX2" fmla="*/ 0 w 193738"/>
                  <a:gd name="connsiteY2" fmla="*/ 96869 h 245744"/>
                  <a:gd name="connsiteX3" fmla="*/ 96869 w 193738"/>
                  <a:gd name="connsiteY3" fmla="*/ 0 h 245744"/>
                  <a:gd name="connsiteX4" fmla="*/ 96869 w 193738"/>
                  <a:gd name="connsiteY4" fmla="*/ 0 h 245744"/>
                  <a:gd name="connsiteX5" fmla="*/ 193739 w 193738"/>
                  <a:gd name="connsiteY5" fmla="*/ 96869 h 245744"/>
                  <a:gd name="connsiteX6" fmla="*/ 193739 w 193738"/>
                  <a:gd name="connsiteY6" fmla="*/ 245745 h 245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738" h="245744">
                    <a:moveTo>
                      <a:pt x="193739" y="245745"/>
                    </a:moveTo>
                    <a:lnTo>
                      <a:pt x="0" y="245745"/>
                    </a:lnTo>
                    <a:lnTo>
                      <a:pt x="0" y="96869"/>
                    </a:lnTo>
                    <a:cubicBezTo>
                      <a:pt x="0" y="43339"/>
                      <a:pt x="43339" y="0"/>
                      <a:pt x="96869" y="0"/>
                    </a:cubicBezTo>
                    <a:lnTo>
                      <a:pt x="96869" y="0"/>
                    </a:lnTo>
                    <a:cubicBezTo>
                      <a:pt x="150400" y="0"/>
                      <a:pt x="193739" y="43339"/>
                      <a:pt x="193739" y="96869"/>
                    </a:cubicBezTo>
                    <a:lnTo>
                      <a:pt x="193739" y="245745"/>
                    </a:lnTo>
                    <a:close/>
                  </a:path>
                </a:pathLst>
              </a:custGeom>
              <a:gradFill>
                <a:gsLst>
                  <a:gs pos="100000">
                    <a:srgbClr val="F8F3B1"/>
                  </a:gs>
                  <a:gs pos="0">
                    <a:srgbClr val="FBBE97"/>
                  </a:gs>
                </a:gsLst>
                <a:lin ang="5400000" scaled="1"/>
              </a:gradFill>
              <a:ln w="19050" cap="flat">
                <a:solidFill>
                  <a:srgbClr val="285649"/>
                </a:solidFill>
                <a:prstDash val="solid"/>
                <a:miter/>
              </a:ln>
            </p:spPr>
            <p:txBody>
              <a:bodyPr rtlCol="0" anchor="ctr"/>
              <a:lstStyle/>
              <a:p>
                <a:endParaRPr lang="zh-CN" altLang="en-US"/>
              </a:p>
            </p:txBody>
          </p:sp>
          <p:sp>
            <p:nvSpPr>
              <p:cNvPr id="34" name="文本框 33"/>
              <p:cNvSpPr txBox="1"/>
              <p:nvPr/>
            </p:nvSpPr>
            <p:spPr>
              <a:xfrm>
                <a:off x="5437" y="3982"/>
                <a:ext cx="8217" cy="4896"/>
              </a:xfrm>
              <a:prstGeom prst="rect">
                <a:avLst/>
              </a:prstGeom>
              <a:noFill/>
            </p:spPr>
            <p:txBody>
              <a:bodyPr wrap="square" rtlCol="0" anchor="ctr" anchorCtr="0">
                <a:noAutofit/>
              </a:bodyPr>
              <a:lstStyle/>
              <a:p>
                <a:pPr algn="l">
                  <a:lnSpc>
                    <a:spcPct val="140000"/>
                  </a:lnSpc>
                  <a:spcBef>
                    <a:spcPts val="0"/>
                  </a:spcBef>
                  <a:spcAft>
                    <a:spcPts val="0"/>
                  </a:spcAft>
                  <a:buClrTx/>
                  <a:buSzTx/>
                  <a:buFontTx/>
                </a:pPr>
                <a:r>
                  <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3.1 </a:t>
                </a:r>
                <a:r>
                  <a:rPr lang="en-US" altLang="zh-CN" sz="2400" spc="100" dirty="0" err="1">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项目概述</a:t>
                </a:r>
                <a:endPar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spcBef>
                    <a:spcPts val="0"/>
                  </a:spcBef>
                  <a:spcAft>
                    <a:spcPts val="0"/>
                  </a:spcAft>
                  <a:buClrTx/>
                  <a:buSzTx/>
                  <a:buFontTx/>
                </a:pPr>
                <a:r>
                  <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3.2 </a:t>
                </a:r>
                <a:r>
                  <a:rPr lang="en-US" altLang="zh-CN" sz="2400" spc="100" dirty="0" err="1">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项目技术知识</a:t>
                </a:r>
                <a:endPar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spcBef>
                    <a:spcPts val="0"/>
                  </a:spcBef>
                  <a:spcAft>
                    <a:spcPts val="0"/>
                  </a:spcAft>
                  <a:buClrTx/>
                  <a:buSzTx/>
                  <a:buFontTx/>
                </a:pPr>
                <a:r>
                  <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3.3 </a:t>
                </a:r>
                <a:r>
                  <a:rPr lang="en-US" altLang="zh-CN" sz="2400" spc="100" dirty="0" err="1">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项目环境部署</a:t>
                </a:r>
                <a:endPar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spcBef>
                    <a:spcPts val="0"/>
                  </a:spcBef>
                  <a:spcAft>
                    <a:spcPts val="0"/>
                  </a:spcAft>
                  <a:buClrTx/>
                  <a:buSzTx/>
                  <a:buFontTx/>
                </a:pPr>
                <a:r>
                  <a:rPr lang="en-US" altLang="zh-CN" sz="2400" b="1" spc="100" dirty="0">
                    <a:ln w="6350">
                      <a:noFill/>
                    </a:ln>
                    <a:solidFill>
                      <a:srgbClr val="156F97"/>
                    </a:solidFill>
                    <a:uFillTx/>
                    <a:latin typeface="微软雅黑" panose="020B0503020204020204" pitchFamily="34" charset="-122"/>
                    <a:ea typeface="微软雅黑" panose="020B0503020204020204" pitchFamily="34" charset="-122"/>
                    <a:cs typeface="微软雅黑" panose="020B0503020204020204" pitchFamily="34" charset="-122"/>
                  </a:rPr>
                  <a:t>3.4 </a:t>
                </a:r>
                <a:r>
                  <a:rPr lang="en-US" altLang="zh-CN" sz="2400" b="1" spc="100" dirty="0" err="1">
                    <a:ln w="6350">
                      <a:noFill/>
                    </a:ln>
                    <a:solidFill>
                      <a:srgbClr val="156F97"/>
                    </a:solidFill>
                    <a:uFillTx/>
                    <a:latin typeface="微软雅黑" panose="020B0503020204020204" pitchFamily="34" charset="-122"/>
                    <a:ea typeface="微软雅黑" panose="020B0503020204020204" pitchFamily="34" charset="-122"/>
                    <a:cs typeface="微软雅黑" panose="020B0503020204020204" pitchFamily="34" charset="-122"/>
                  </a:rPr>
                  <a:t>项目实践</a:t>
                </a:r>
                <a:endParaRPr lang="en-US" altLang="zh-CN" sz="2400" b="1" spc="100" dirty="0">
                  <a:ln w="6350">
                    <a:noFill/>
                  </a:ln>
                  <a:solidFill>
                    <a:srgbClr val="156F97"/>
                  </a:solidFill>
                  <a:uFillTx/>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spcBef>
                    <a:spcPts val="0"/>
                  </a:spcBef>
                  <a:spcAft>
                    <a:spcPts val="0"/>
                  </a:spcAft>
                </a:pPr>
                <a:r>
                  <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3.5 </a:t>
                </a:r>
                <a:r>
                  <a:rPr lang="zh-CN" altLang="en-US"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项目小结</a:t>
                </a:r>
              </a:p>
              <a:p>
                <a:pPr algn="l">
                  <a:lnSpc>
                    <a:spcPct val="140000"/>
                  </a:lnSpc>
                  <a:spcBef>
                    <a:spcPts val="0"/>
                  </a:spcBef>
                  <a:spcAft>
                    <a:spcPts val="0"/>
                  </a:spcAft>
                </a:pPr>
                <a:r>
                  <a:rPr lang="en-US" altLang="zh-CN"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3.6 </a:t>
                </a:r>
                <a:r>
                  <a:rPr lang="zh-CN" altLang="en-US" sz="2400" spc="100" dirty="0">
                    <a:ln w="6350">
                      <a:noFill/>
                    </a:ln>
                    <a:solidFill>
                      <a:srgbClr val="285649"/>
                    </a:solidFill>
                    <a:uFillTx/>
                    <a:latin typeface="微软雅黑" panose="020B0503020204020204" pitchFamily="34" charset="-122"/>
                    <a:ea typeface="微软雅黑" panose="020B0503020204020204" pitchFamily="34" charset="-122"/>
                    <a:cs typeface="微软雅黑" panose="020B0503020204020204" pitchFamily="34" charset="-122"/>
                  </a:rPr>
                  <a:t>项目拓展训练</a:t>
                </a:r>
              </a:p>
            </p:txBody>
          </p:sp>
        </p:grpSp>
        <p:grpSp>
          <p:nvGrpSpPr>
            <p:cNvPr id="134" name="Group 265"/>
            <p:cNvGrpSpPr/>
            <p:nvPr/>
          </p:nvGrpSpPr>
          <p:grpSpPr bwMode="auto">
            <a:xfrm>
              <a:off x="10654" y="8728"/>
              <a:ext cx="753" cy="567"/>
              <a:chOff x="0" y="0"/>
              <a:chExt cx="6746875" cy="6419850"/>
            </a:xfrm>
            <a:solidFill>
              <a:srgbClr val="3CA5A8">
                <a:lumMod val="75000"/>
              </a:srgbClr>
            </a:solidFill>
          </p:grpSpPr>
          <p:sp>
            <p:nvSpPr>
              <p:cNvPr id="135" name="Freeform 5"/>
              <p:cNvSpPr>
                <a:spLocks noEditPoints="1" noChangeArrowheads="1"/>
              </p:cNvSpPr>
              <p:nvPr/>
            </p:nvSpPr>
            <p:spPr bwMode="auto">
              <a:xfrm>
                <a:off x="0" y="0"/>
                <a:ext cx="6746875" cy="6419850"/>
              </a:xfrm>
              <a:custGeom>
                <a:avLst/>
                <a:gdLst>
                  <a:gd name="T0" fmla="*/ 6179627 w 1796"/>
                  <a:gd name="T1" fmla="*/ 0 h 1709"/>
                  <a:gd name="T2" fmla="*/ 567248 w 1796"/>
                  <a:gd name="T3" fmla="*/ 0 h 1709"/>
                  <a:gd name="T4" fmla="*/ 0 w 1796"/>
                  <a:gd name="T5" fmla="*/ 567231 h 1709"/>
                  <a:gd name="T6" fmla="*/ 0 w 1796"/>
                  <a:gd name="T7" fmla="*/ 4909739 h 1709"/>
                  <a:gd name="T8" fmla="*/ 567248 w 1796"/>
                  <a:gd name="T9" fmla="*/ 5476970 h 1709"/>
                  <a:gd name="T10" fmla="*/ 2276507 w 1796"/>
                  <a:gd name="T11" fmla="*/ 5476970 h 1709"/>
                  <a:gd name="T12" fmla="*/ 1975978 w 1796"/>
                  <a:gd name="T13" fmla="*/ 5803785 h 1709"/>
                  <a:gd name="T14" fmla="*/ 1814444 w 1796"/>
                  <a:gd name="T15" fmla="*/ 5972827 h 1709"/>
                  <a:gd name="T16" fmla="*/ 1799417 w 1796"/>
                  <a:gd name="T17" fmla="*/ 6232025 h 1709"/>
                  <a:gd name="T18" fmla="*/ 2227671 w 1796"/>
                  <a:gd name="T19" fmla="*/ 6419850 h 1709"/>
                  <a:gd name="T20" fmla="*/ 4519204 w 1796"/>
                  <a:gd name="T21" fmla="*/ 6419850 h 1709"/>
                  <a:gd name="T22" fmla="*/ 4943701 w 1796"/>
                  <a:gd name="T23" fmla="*/ 6232025 h 1709"/>
                  <a:gd name="T24" fmla="*/ 4928675 w 1796"/>
                  <a:gd name="T25" fmla="*/ 5972827 h 1709"/>
                  <a:gd name="T26" fmla="*/ 4770897 w 1796"/>
                  <a:gd name="T27" fmla="*/ 5803785 h 1709"/>
                  <a:gd name="T28" fmla="*/ 4470368 w 1796"/>
                  <a:gd name="T29" fmla="*/ 5476970 h 1709"/>
                  <a:gd name="T30" fmla="*/ 6179627 w 1796"/>
                  <a:gd name="T31" fmla="*/ 5476970 h 1709"/>
                  <a:gd name="T32" fmla="*/ 6746875 w 1796"/>
                  <a:gd name="T33" fmla="*/ 4909739 h 1709"/>
                  <a:gd name="T34" fmla="*/ 6746875 w 1796"/>
                  <a:gd name="T35" fmla="*/ 567231 h 1709"/>
                  <a:gd name="T36" fmla="*/ 6179627 w 1796"/>
                  <a:gd name="T37" fmla="*/ 0 h 1709"/>
                  <a:gd name="T38" fmla="*/ 4624389 w 1796"/>
                  <a:gd name="T39" fmla="*/ 5954045 h 1709"/>
                  <a:gd name="T40" fmla="*/ 4759627 w 1796"/>
                  <a:gd name="T41" fmla="*/ 6093035 h 1709"/>
                  <a:gd name="T42" fmla="*/ 4752114 w 1796"/>
                  <a:gd name="T43" fmla="*/ 6141869 h 1709"/>
                  <a:gd name="T44" fmla="*/ 4519204 w 1796"/>
                  <a:gd name="T45" fmla="*/ 6209486 h 1709"/>
                  <a:gd name="T46" fmla="*/ 2227671 w 1796"/>
                  <a:gd name="T47" fmla="*/ 6209486 h 1709"/>
                  <a:gd name="T48" fmla="*/ 1991004 w 1796"/>
                  <a:gd name="T49" fmla="*/ 6141869 h 1709"/>
                  <a:gd name="T50" fmla="*/ 1983491 w 1796"/>
                  <a:gd name="T51" fmla="*/ 6096791 h 1709"/>
                  <a:gd name="T52" fmla="*/ 1983491 w 1796"/>
                  <a:gd name="T53" fmla="*/ 6096791 h 1709"/>
                  <a:gd name="T54" fmla="*/ 2122486 w 1796"/>
                  <a:gd name="T55" fmla="*/ 5954045 h 1709"/>
                  <a:gd name="T56" fmla="*/ 2524443 w 1796"/>
                  <a:gd name="T57" fmla="*/ 5476970 h 1709"/>
                  <a:gd name="T58" fmla="*/ 4222432 w 1796"/>
                  <a:gd name="T59" fmla="*/ 5476970 h 1709"/>
                  <a:gd name="T60" fmla="*/ 4624389 w 1796"/>
                  <a:gd name="T61" fmla="*/ 5954045 h 1709"/>
                  <a:gd name="T62" fmla="*/ 6326134 w 1796"/>
                  <a:gd name="T63" fmla="*/ 4909739 h 1709"/>
                  <a:gd name="T64" fmla="*/ 6179627 w 1796"/>
                  <a:gd name="T65" fmla="*/ 5056242 h 1709"/>
                  <a:gd name="T66" fmla="*/ 567248 w 1796"/>
                  <a:gd name="T67" fmla="*/ 5056242 h 1709"/>
                  <a:gd name="T68" fmla="*/ 420741 w 1796"/>
                  <a:gd name="T69" fmla="*/ 4909739 h 1709"/>
                  <a:gd name="T70" fmla="*/ 420741 w 1796"/>
                  <a:gd name="T71" fmla="*/ 567231 h 1709"/>
                  <a:gd name="T72" fmla="*/ 567248 w 1796"/>
                  <a:gd name="T73" fmla="*/ 420727 h 1709"/>
                  <a:gd name="T74" fmla="*/ 6179627 w 1796"/>
                  <a:gd name="T75" fmla="*/ 420727 h 1709"/>
                  <a:gd name="T76" fmla="*/ 6326134 w 1796"/>
                  <a:gd name="T77" fmla="*/ 567231 h 1709"/>
                  <a:gd name="T78" fmla="*/ 6326134 w 1796"/>
                  <a:gd name="T79" fmla="*/ 4909739 h 17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796"/>
                  <a:gd name="T121" fmla="*/ 0 h 1709"/>
                  <a:gd name="T122" fmla="*/ 1796 w 1796"/>
                  <a:gd name="T123" fmla="*/ 1709 h 17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796" h="1709">
                    <a:moveTo>
                      <a:pt x="1645" y="0"/>
                    </a:moveTo>
                    <a:cubicBezTo>
                      <a:pt x="151" y="0"/>
                      <a:pt x="151" y="0"/>
                      <a:pt x="151" y="0"/>
                    </a:cubicBezTo>
                    <a:cubicBezTo>
                      <a:pt x="68" y="0"/>
                      <a:pt x="0" y="67"/>
                      <a:pt x="0" y="151"/>
                    </a:cubicBezTo>
                    <a:cubicBezTo>
                      <a:pt x="0" y="1307"/>
                      <a:pt x="0" y="1307"/>
                      <a:pt x="0" y="1307"/>
                    </a:cubicBezTo>
                    <a:cubicBezTo>
                      <a:pt x="0" y="1390"/>
                      <a:pt x="68" y="1458"/>
                      <a:pt x="151" y="1458"/>
                    </a:cubicBezTo>
                    <a:cubicBezTo>
                      <a:pt x="606" y="1458"/>
                      <a:pt x="606" y="1458"/>
                      <a:pt x="606" y="1458"/>
                    </a:cubicBezTo>
                    <a:cubicBezTo>
                      <a:pt x="582" y="1488"/>
                      <a:pt x="544" y="1527"/>
                      <a:pt x="526" y="1545"/>
                    </a:cubicBezTo>
                    <a:cubicBezTo>
                      <a:pt x="506" y="1564"/>
                      <a:pt x="491" y="1579"/>
                      <a:pt x="483" y="1590"/>
                    </a:cubicBezTo>
                    <a:cubicBezTo>
                      <a:pt x="472" y="1605"/>
                      <a:pt x="467" y="1634"/>
                      <a:pt x="479" y="1659"/>
                    </a:cubicBezTo>
                    <a:cubicBezTo>
                      <a:pt x="491" y="1682"/>
                      <a:pt x="520" y="1709"/>
                      <a:pt x="593" y="1709"/>
                    </a:cubicBezTo>
                    <a:cubicBezTo>
                      <a:pt x="1203" y="1709"/>
                      <a:pt x="1203" y="1709"/>
                      <a:pt x="1203" y="1709"/>
                    </a:cubicBezTo>
                    <a:cubicBezTo>
                      <a:pt x="1276" y="1709"/>
                      <a:pt x="1305" y="1682"/>
                      <a:pt x="1316" y="1659"/>
                    </a:cubicBezTo>
                    <a:cubicBezTo>
                      <a:pt x="1329" y="1634"/>
                      <a:pt x="1324" y="1605"/>
                      <a:pt x="1312" y="1590"/>
                    </a:cubicBezTo>
                    <a:cubicBezTo>
                      <a:pt x="1304" y="1579"/>
                      <a:pt x="1289" y="1564"/>
                      <a:pt x="1270" y="1545"/>
                    </a:cubicBezTo>
                    <a:cubicBezTo>
                      <a:pt x="1252" y="1527"/>
                      <a:pt x="1213" y="1488"/>
                      <a:pt x="1190" y="1458"/>
                    </a:cubicBezTo>
                    <a:cubicBezTo>
                      <a:pt x="1645" y="1458"/>
                      <a:pt x="1645" y="1458"/>
                      <a:pt x="1645" y="1458"/>
                    </a:cubicBezTo>
                    <a:cubicBezTo>
                      <a:pt x="1728" y="1458"/>
                      <a:pt x="1796" y="1390"/>
                      <a:pt x="1796" y="1307"/>
                    </a:cubicBezTo>
                    <a:cubicBezTo>
                      <a:pt x="1796" y="151"/>
                      <a:pt x="1796" y="151"/>
                      <a:pt x="1796" y="151"/>
                    </a:cubicBezTo>
                    <a:cubicBezTo>
                      <a:pt x="1796" y="67"/>
                      <a:pt x="1728" y="0"/>
                      <a:pt x="1645" y="0"/>
                    </a:cubicBezTo>
                    <a:close/>
                    <a:moveTo>
                      <a:pt x="1231" y="1585"/>
                    </a:moveTo>
                    <a:cubicBezTo>
                      <a:pt x="1247" y="1601"/>
                      <a:pt x="1262" y="1616"/>
                      <a:pt x="1267" y="1622"/>
                    </a:cubicBezTo>
                    <a:cubicBezTo>
                      <a:pt x="1267" y="1622"/>
                      <a:pt x="1269" y="1629"/>
                      <a:pt x="1265" y="1635"/>
                    </a:cubicBezTo>
                    <a:cubicBezTo>
                      <a:pt x="1258" y="1646"/>
                      <a:pt x="1235" y="1653"/>
                      <a:pt x="1203" y="1653"/>
                    </a:cubicBezTo>
                    <a:cubicBezTo>
                      <a:pt x="593" y="1653"/>
                      <a:pt x="593" y="1653"/>
                      <a:pt x="593" y="1653"/>
                    </a:cubicBezTo>
                    <a:cubicBezTo>
                      <a:pt x="561" y="1653"/>
                      <a:pt x="538" y="1646"/>
                      <a:pt x="530" y="1635"/>
                    </a:cubicBezTo>
                    <a:cubicBezTo>
                      <a:pt x="527" y="1629"/>
                      <a:pt x="528" y="1623"/>
                      <a:pt x="528" y="1623"/>
                    </a:cubicBezTo>
                    <a:cubicBezTo>
                      <a:pt x="528" y="1623"/>
                      <a:pt x="528" y="1623"/>
                      <a:pt x="528" y="1623"/>
                    </a:cubicBezTo>
                    <a:cubicBezTo>
                      <a:pt x="534" y="1616"/>
                      <a:pt x="549" y="1601"/>
                      <a:pt x="565" y="1585"/>
                    </a:cubicBezTo>
                    <a:cubicBezTo>
                      <a:pt x="614" y="1536"/>
                      <a:pt x="654" y="1494"/>
                      <a:pt x="672" y="1458"/>
                    </a:cubicBezTo>
                    <a:cubicBezTo>
                      <a:pt x="1124" y="1458"/>
                      <a:pt x="1124" y="1458"/>
                      <a:pt x="1124" y="1458"/>
                    </a:cubicBezTo>
                    <a:cubicBezTo>
                      <a:pt x="1142" y="1494"/>
                      <a:pt x="1182" y="1536"/>
                      <a:pt x="1231" y="1585"/>
                    </a:cubicBezTo>
                    <a:close/>
                    <a:moveTo>
                      <a:pt x="1684" y="1307"/>
                    </a:moveTo>
                    <a:cubicBezTo>
                      <a:pt x="1684" y="1328"/>
                      <a:pt x="1666" y="1346"/>
                      <a:pt x="1645" y="1346"/>
                    </a:cubicBezTo>
                    <a:cubicBezTo>
                      <a:pt x="151" y="1346"/>
                      <a:pt x="151" y="1346"/>
                      <a:pt x="151" y="1346"/>
                    </a:cubicBezTo>
                    <a:cubicBezTo>
                      <a:pt x="129" y="1346"/>
                      <a:pt x="112" y="1328"/>
                      <a:pt x="112" y="1307"/>
                    </a:cubicBezTo>
                    <a:cubicBezTo>
                      <a:pt x="112" y="151"/>
                      <a:pt x="112" y="151"/>
                      <a:pt x="112" y="151"/>
                    </a:cubicBezTo>
                    <a:cubicBezTo>
                      <a:pt x="112" y="129"/>
                      <a:pt x="129" y="112"/>
                      <a:pt x="151" y="112"/>
                    </a:cubicBezTo>
                    <a:cubicBezTo>
                      <a:pt x="1645" y="112"/>
                      <a:pt x="1645" y="112"/>
                      <a:pt x="1645" y="112"/>
                    </a:cubicBezTo>
                    <a:cubicBezTo>
                      <a:pt x="1666" y="112"/>
                      <a:pt x="1684" y="129"/>
                      <a:pt x="1684" y="151"/>
                    </a:cubicBezTo>
                    <a:lnTo>
                      <a:pt x="1684" y="1307"/>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36" name="Freeform 6"/>
              <p:cNvSpPr>
                <a:spLocks noEditPoints="1" noChangeArrowheads="1"/>
              </p:cNvSpPr>
              <p:nvPr/>
            </p:nvSpPr>
            <p:spPr bwMode="auto">
              <a:xfrm>
                <a:off x="841375" y="841375"/>
                <a:ext cx="5064125" cy="3376613"/>
              </a:xfrm>
              <a:custGeom>
                <a:avLst/>
                <a:gdLst>
                  <a:gd name="T0" fmla="*/ 4703475 w 1348"/>
                  <a:gd name="T1" fmla="*/ 0 h 899"/>
                  <a:gd name="T2" fmla="*/ 360650 w 1348"/>
                  <a:gd name="T3" fmla="*/ 0 h 899"/>
                  <a:gd name="T4" fmla="*/ 0 w 1348"/>
                  <a:gd name="T5" fmla="*/ 356817 h 899"/>
                  <a:gd name="T6" fmla="*/ 0 w 1348"/>
                  <a:gd name="T7" fmla="*/ 3016040 h 899"/>
                  <a:gd name="T8" fmla="*/ 360650 w 1348"/>
                  <a:gd name="T9" fmla="*/ 3376613 h 899"/>
                  <a:gd name="T10" fmla="*/ 4703475 w 1348"/>
                  <a:gd name="T11" fmla="*/ 3376613 h 899"/>
                  <a:gd name="T12" fmla="*/ 5064125 w 1348"/>
                  <a:gd name="T13" fmla="*/ 3016040 h 899"/>
                  <a:gd name="T14" fmla="*/ 5064125 w 1348"/>
                  <a:gd name="T15" fmla="*/ 356817 h 899"/>
                  <a:gd name="T16" fmla="*/ 4703475 w 1348"/>
                  <a:gd name="T17" fmla="*/ 0 h 899"/>
                  <a:gd name="T18" fmla="*/ 4849989 w 1348"/>
                  <a:gd name="T19" fmla="*/ 3016040 h 899"/>
                  <a:gd name="T20" fmla="*/ 4703475 w 1348"/>
                  <a:gd name="T21" fmla="*/ 3166279 h 899"/>
                  <a:gd name="T22" fmla="*/ 360650 w 1348"/>
                  <a:gd name="T23" fmla="*/ 3166279 h 899"/>
                  <a:gd name="T24" fmla="*/ 210379 w 1348"/>
                  <a:gd name="T25" fmla="*/ 3016040 h 899"/>
                  <a:gd name="T26" fmla="*/ 210379 w 1348"/>
                  <a:gd name="T27" fmla="*/ 356817 h 899"/>
                  <a:gd name="T28" fmla="*/ 360650 w 1348"/>
                  <a:gd name="T29" fmla="*/ 210334 h 899"/>
                  <a:gd name="T30" fmla="*/ 4703475 w 1348"/>
                  <a:gd name="T31" fmla="*/ 210334 h 899"/>
                  <a:gd name="T32" fmla="*/ 4849989 w 1348"/>
                  <a:gd name="T33" fmla="*/ 356817 h 899"/>
                  <a:gd name="T34" fmla="*/ 4849989 w 1348"/>
                  <a:gd name="T35" fmla="*/ 3016040 h 8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48"/>
                  <a:gd name="T55" fmla="*/ 0 h 899"/>
                  <a:gd name="T56" fmla="*/ 1348 w 1348"/>
                  <a:gd name="T57" fmla="*/ 899 h 8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48" h="899">
                    <a:moveTo>
                      <a:pt x="1252" y="0"/>
                    </a:moveTo>
                    <a:cubicBezTo>
                      <a:pt x="96" y="0"/>
                      <a:pt x="96" y="0"/>
                      <a:pt x="96" y="0"/>
                    </a:cubicBezTo>
                    <a:cubicBezTo>
                      <a:pt x="43" y="0"/>
                      <a:pt x="0" y="43"/>
                      <a:pt x="0" y="95"/>
                    </a:cubicBezTo>
                    <a:cubicBezTo>
                      <a:pt x="0" y="803"/>
                      <a:pt x="0" y="803"/>
                      <a:pt x="0" y="803"/>
                    </a:cubicBezTo>
                    <a:cubicBezTo>
                      <a:pt x="0" y="856"/>
                      <a:pt x="43" y="899"/>
                      <a:pt x="96" y="899"/>
                    </a:cubicBezTo>
                    <a:cubicBezTo>
                      <a:pt x="1252" y="899"/>
                      <a:pt x="1252" y="899"/>
                      <a:pt x="1252" y="899"/>
                    </a:cubicBezTo>
                    <a:cubicBezTo>
                      <a:pt x="1305" y="899"/>
                      <a:pt x="1348" y="856"/>
                      <a:pt x="1348" y="803"/>
                    </a:cubicBezTo>
                    <a:cubicBezTo>
                      <a:pt x="1348" y="95"/>
                      <a:pt x="1348" y="95"/>
                      <a:pt x="1348" y="95"/>
                    </a:cubicBezTo>
                    <a:cubicBezTo>
                      <a:pt x="1348" y="43"/>
                      <a:pt x="1305" y="0"/>
                      <a:pt x="1252" y="0"/>
                    </a:cubicBezTo>
                    <a:close/>
                    <a:moveTo>
                      <a:pt x="1291" y="803"/>
                    </a:moveTo>
                    <a:cubicBezTo>
                      <a:pt x="1291" y="825"/>
                      <a:pt x="1274" y="843"/>
                      <a:pt x="1252" y="843"/>
                    </a:cubicBezTo>
                    <a:cubicBezTo>
                      <a:pt x="96" y="843"/>
                      <a:pt x="96" y="843"/>
                      <a:pt x="96" y="843"/>
                    </a:cubicBezTo>
                    <a:cubicBezTo>
                      <a:pt x="74" y="843"/>
                      <a:pt x="56" y="825"/>
                      <a:pt x="56" y="803"/>
                    </a:cubicBezTo>
                    <a:cubicBezTo>
                      <a:pt x="56" y="95"/>
                      <a:pt x="56" y="95"/>
                      <a:pt x="56" y="95"/>
                    </a:cubicBezTo>
                    <a:cubicBezTo>
                      <a:pt x="56" y="74"/>
                      <a:pt x="74" y="56"/>
                      <a:pt x="96" y="56"/>
                    </a:cubicBezTo>
                    <a:cubicBezTo>
                      <a:pt x="1252" y="56"/>
                      <a:pt x="1252" y="56"/>
                      <a:pt x="1252" y="56"/>
                    </a:cubicBezTo>
                    <a:cubicBezTo>
                      <a:pt x="1274" y="56"/>
                      <a:pt x="1291" y="74"/>
                      <a:pt x="1291" y="95"/>
                    </a:cubicBezTo>
                    <a:lnTo>
                      <a:pt x="1291" y="803"/>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37" name="Freeform 7"/>
              <p:cNvSpPr>
                <a:spLocks noEditPoints="1" noChangeArrowheads="1"/>
              </p:cNvSpPr>
              <p:nvPr/>
            </p:nvSpPr>
            <p:spPr bwMode="auto">
              <a:xfrm>
                <a:off x="3057525" y="4316413"/>
                <a:ext cx="631825" cy="630238"/>
              </a:xfrm>
              <a:custGeom>
                <a:avLst/>
                <a:gdLst>
                  <a:gd name="T0" fmla="*/ 315913 w 168"/>
                  <a:gd name="T1" fmla="*/ 0 h 168"/>
                  <a:gd name="T2" fmla="*/ 0 w 168"/>
                  <a:gd name="T3" fmla="*/ 315119 h 168"/>
                  <a:gd name="T4" fmla="*/ 315913 w 168"/>
                  <a:gd name="T5" fmla="*/ 630238 h 168"/>
                  <a:gd name="T6" fmla="*/ 631825 w 168"/>
                  <a:gd name="T7" fmla="*/ 315119 h 168"/>
                  <a:gd name="T8" fmla="*/ 315913 w 168"/>
                  <a:gd name="T9" fmla="*/ 0 h 168"/>
                  <a:gd name="T10" fmla="*/ 315913 w 168"/>
                  <a:gd name="T11" fmla="*/ 420159 h 168"/>
                  <a:gd name="T12" fmla="*/ 210608 w 168"/>
                  <a:gd name="T13" fmla="*/ 315119 h 168"/>
                  <a:gd name="T14" fmla="*/ 315913 w 168"/>
                  <a:gd name="T15" fmla="*/ 210079 h 168"/>
                  <a:gd name="T16" fmla="*/ 421217 w 168"/>
                  <a:gd name="T17" fmla="*/ 315119 h 168"/>
                  <a:gd name="T18" fmla="*/ 315913 w 168"/>
                  <a:gd name="T19" fmla="*/ 420159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8"/>
                  <a:gd name="T31" fmla="*/ 0 h 168"/>
                  <a:gd name="T32" fmla="*/ 168 w 168"/>
                  <a:gd name="T33" fmla="*/ 168 h 1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8" h="168">
                    <a:moveTo>
                      <a:pt x="84" y="0"/>
                    </a:moveTo>
                    <a:cubicBezTo>
                      <a:pt x="38" y="0"/>
                      <a:pt x="0" y="38"/>
                      <a:pt x="0" y="84"/>
                    </a:cubicBezTo>
                    <a:cubicBezTo>
                      <a:pt x="0" y="131"/>
                      <a:pt x="38" y="168"/>
                      <a:pt x="84" y="168"/>
                    </a:cubicBezTo>
                    <a:cubicBezTo>
                      <a:pt x="130" y="168"/>
                      <a:pt x="168" y="131"/>
                      <a:pt x="168" y="84"/>
                    </a:cubicBezTo>
                    <a:cubicBezTo>
                      <a:pt x="168" y="38"/>
                      <a:pt x="130" y="0"/>
                      <a:pt x="84" y="0"/>
                    </a:cubicBezTo>
                    <a:close/>
                    <a:moveTo>
                      <a:pt x="84" y="112"/>
                    </a:moveTo>
                    <a:cubicBezTo>
                      <a:pt x="68" y="112"/>
                      <a:pt x="56" y="100"/>
                      <a:pt x="56" y="84"/>
                    </a:cubicBezTo>
                    <a:cubicBezTo>
                      <a:pt x="56" y="69"/>
                      <a:pt x="68" y="56"/>
                      <a:pt x="84" y="56"/>
                    </a:cubicBezTo>
                    <a:cubicBezTo>
                      <a:pt x="99" y="56"/>
                      <a:pt x="112" y="69"/>
                      <a:pt x="112" y="84"/>
                    </a:cubicBezTo>
                    <a:cubicBezTo>
                      <a:pt x="112" y="100"/>
                      <a:pt x="99" y="112"/>
                      <a:pt x="84" y="112"/>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38" name="Freeform 8"/>
              <p:cNvSpPr>
                <a:spLocks noChangeArrowheads="1"/>
              </p:cNvSpPr>
              <p:nvPr/>
            </p:nvSpPr>
            <p:spPr bwMode="auto">
              <a:xfrm>
                <a:off x="2527300" y="2528888"/>
                <a:ext cx="628650" cy="1262063"/>
              </a:xfrm>
              <a:custGeom>
                <a:avLst/>
                <a:gdLst>
                  <a:gd name="T0" fmla="*/ 470546 w 167"/>
                  <a:gd name="T1" fmla="*/ 0 h 336"/>
                  <a:gd name="T2" fmla="*/ 158104 w 167"/>
                  <a:gd name="T3" fmla="*/ 0 h 336"/>
                  <a:gd name="T4" fmla="*/ 0 w 167"/>
                  <a:gd name="T5" fmla="*/ 157758 h 336"/>
                  <a:gd name="T6" fmla="*/ 0 w 167"/>
                  <a:gd name="T7" fmla="*/ 1104305 h 336"/>
                  <a:gd name="T8" fmla="*/ 158104 w 167"/>
                  <a:gd name="T9" fmla="*/ 1262063 h 336"/>
                  <a:gd name="T10" fmla="*/ 470546 w 167"/>
                  <a:gd name="T11" fmla="*/ 1262063 h 336"/>
                  <a:gd name="T12" fmla="*/ 628650 w 167"/>
                  <a:gd name="T13" fmla="*/ 1104305 h 336"/>
                  <a:gd name="T14" fmla="*/ 628650 w 167"/>
                  <a:gd name="T15" fmla="*/ 157758 h 336"/>
                  <a:gd name="T16" fmla="*/ 470546 w 167"/>
                  <a:gd name="T17" fmla="*/ 0 h 3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
                  <a:gd name="T28" fmla="*/ 0 h 336"/>
                  <a:gd name="T29" fmla="*/ 167 w 167"/>
                  <a:gd name="T30" fmla="*/ 336 h 3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 h="336">
                    <a:moveTo>
                      <a:pt x="125" y="0"/>
                    </a:moveTo>
                    <a:cubicBezTo>
                      <a:pt x="42" y="0"/>
                      <a:pt x="42" y="0"/>
                      <a:pt x="42" y="0"/>
                    </a:cubicBezTo>
                    <a:cubicBezTo>
                      <a:pt x="19" y="0"/>
                      <a:pt x="0" y="18"/>
                      <a:pt x="0" y="42"/>
                    </a:cubicBezTo>
                    <a:cubicBezTo>
                      <a:pt x="0" y="294"/>
                      <a:pt x="0" y="294"/>
                      <a:pt x="0" y="294"/>
                    </a:cubicBezTo>
                    <a:cubicBezTo>
                      <a:pt x="0" y="317"/>
                      <a:pt x="19" y="336"/>
                      <a:pt x="42" y="336"/>
                    </a:cubicBezTo>
                    <a:cubicBezTo>
                      <a:pt x="125" y="336"/>
                      <a:pt x="125" y="336"/>
                      <a:pt x="125" y="336"/>
                    </a:cubicBezTo>
                    <a:cubicBezTo>
                      <a:pt x="148" y="336"/>
                      <a:pt x="167" y="317"/>
                      <a:pt x="167" y="294"/>
                    </a:cubicBezTo>
                    <a:cubicBezTo>
                      <a:pt x="167" y="42"/>
                      <a:pt x="167" y="42"/>
                      <a:pt x="167" y="42"/>
                    </a:cubicBezTo>
                    <a:cubicBezTo>
                      <a:pt x="167" y="18"/>
                      <a:pt x="148" y="0"/>
                      <a:pt x="125"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39" name="Freeform 9"/>
              <p:cNvSpPr>
                <a:spLocks noChangeArrowheads="1"/>
              </p:cNvSpPr>
              <p:nvPr/>
            </p:nvSpPr>
            <p:spPr bwMode="auto">
              <a:xfrm>
                <a:off x="4630738" y="1262063"/>
                <a:ext cx="635000" cy="2528888"/>
              </a:xfrm>
              <a:custGeom>
                <a:avLst/>
                <a:gdLst>
                  <a:gd name="T0" fmla="*/ 473432 w 169"/>
                  <a:gd name="T1" fmla="*/ 0 h 673"/>
                  <a:gd name="T2" fmla="*/ 157811 w 169"/>
                  <a:gd name="T3" fmla="*/ 0 h 673"/>
                  <a:gd name="T4" fmla="*/ 0 w 169"/>
                  <a:gd name="T5" fmla="*/ 154063 h 673"/>
                  <a:gd name="T6" fmla="*/ 0 w 169"/>
                  <a:gd name="T7" fmla="*/ 2374825 h 673"/>
                  <a:gd name="T8" fmla="*/ 157811 w 169"/>
                  <a:gd name="T9" fmla="*/ 2528888 h 673"/>
                  <a:gd name="T10" fmla="*/ 473432 w 169"/>
                  <a:gd name="T11" fmla="*/ 2528888 h 673"/>
                  <a:gd name="T12" fmla="*/ 635000 w 169"/>
                  <a:gd name="T13" fmla="*/ 2374825 h 673"/>
                  <a:gd name="T14" fmla="*/ 635000 w 169"/>
                  <a:gd name="T15" fmla="*/ 154063 h 673"/>
                  <a:gd name="T16" fmla="*/ 473432 w 169"/>
                  <a:gd name="T17" fmla="*/ 0 h 6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9"/>
                  <a:gd name="T28" fmla="*/ 0 h 673"/>
                  <a:gd name="T29" fmla="*/ 169 w 169"/>
                  <a:gd name="T30" fmla="*/ 673 h 6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9" h="673">
                    <a:moveTo>
                      <a:pt x="126" y="0"/>
                    </a:moveTo>
                    <a:cubicBezTo>
                      <a:pt x="42" y="0"/>
                      <a:pt x="42" y="0"/>
                      <a:pt x="42" y="0"/>
                    </a:cubicBezTo>
                    <a:cubicBezTo>
                      <a:pt x="19" y="0"/>
                      <a:pt x="0" y="19"/>
                      <a:pt x="0" y="41"/>
                    </a:cubicBezTo>
                    <a:cubicBezTo>
                      <a:pt x="0" y="632"/>
                      <a:pt x="0" y="632"/>
                      <a:pt x="0" y="632"/>
                    </a:cubicBezTo>
                    <a:cubicBezTo>
                      <a:pt x="0" y="655"/>
                      <a:pt x="19" y="673"/>
                      <a:pt x="42" y="673"/>
                    </a:cubicBezTo>
                    <a:cubicBezTo>
                      <a:pt x="126" y="673"/>
                      <a:pt x="126" y="673"/>
                      <a:pt x="126" y="673"/>
                    </a:cubicBezTo>
                    <a:cubicBezTo>
                      <a:pt x="150" y="673"/>
                      <a:pt x="169" y="655"/>
                      <a:pt x="169" y="632"/>
                    </a:cubicBezTo>
                    <a:cubicBezTo>
                      <a:pt x="169" y="41"/>
                      <a:pt x="169" y="41"/>
                      <a:pt x="169" y="41"/>
                    </a:cubicBezTo>
                    <a:cubicBezTo>
                      <a:pt x="169" y="19"/>
                      <a:pt x="150" y="0"/>
                      <a:pt x="126"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40" name="Freeform 10"/>
              <p:cNvSpPr>
                <a:spLocks noChangeArrowheads="1"/>
              </p:cNvSpPr>
              <p:nvPr/>
            </p:nvSpPr>
            <p:spPr bwMode="auto">
              <a:xfrm>
                <a:off x="3582988" y="2108200"/>
                <a:ext cx="627063" cy="1682750"/>
              </a:xfrm>
              <a:custGeom>
                <a:avLst/>
                <a:gdLst>
                  <a:gd name="T0" fmla="*/ 469359 w 167"/>
                  <a:gd name="T1" fmla="*/ 0 h 448"/>
                  <a:gd name="T2" fmla="*/ 153950 w 167"/>
                  <a:gd name="T3" fmla="*/ 0 h 448"/>
                  <a:gd name="T4" fmla="*/ 0 w 167"/>
                  <a:gd name="T5" fmla="*/ 150246 h 448"/>
                  <a:gd name="T6" fmla="*/ 0 w 167"/>
                  <a:gd name="T7" fmla="*/ 1528748 h 448"/>
                  <a:gd name="T8" fmla="*/ 153950 w 167"/>
                  <a:gd name="T9" fmla="*/ 1682750 h 448"/>
                  <a:gd name="T10" fmla="*/ 469359 w 167"/>
                  <a:gd name="T11" fmla="*/ 1682750 h 448"/>
                  <a:gd name="T12" fmla="*/ 627063 w 167"/>
                  <a:gd name="T13" fmla="*/ 1528748 h 448"/>
                  <a:gd name="T14" fmla="*/ 627063 w 167"/>
                  <a:gd name="T15" fmla="*/ 150246 h 448"/>
                  <a:gd name="T16" fmla="*/ 469359 w 167"/>
                  <a:gd name="T17" fmla="*/ 0 h 4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
                  <a:gd name="T28" fmla="*/ 0 h 448"/>
                  <a:gd name="T29" fmla="*/ 167 w 167"/>
                  <a:gd name="T30" fmla="*/ 448 h 4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 h="448">
                    <a:moveTo>
                      <a:pt x="125" y="0"/>
                    </a:moveTo>
                    <a:cubicBezTo>
                      <a:pt x="41" y="0"/>
                      <a:pt x="41" y="0"/>
                      <a:pt x="41" y="0"/>
                    </a:cubicBezTo>
                    <a:cubicBezTo>
                      <a:pt x="18" y="0"/>
                      <a:pt x="0" y="18"/>
                      <a:pt x="0" y="40"/>
                    </a:cubicBezTo>
                    <a:cubicBezTo>
                      <a:pt x="0" y="407"/>
                      <a:pt x="0" y="407"/>
                      <a:pt x="0" y="407"/>
                    </a:cubicBezTo>
                    <a:cubicBezTo>
                      <a:pt x="0" y="430"/>
                      <a:pt x="18" y="448"/>
                      <a:pt x="41" y="448"/>
                    </a:cubicBezTo>
                    <a:cubicBezTo>
                      <a:pt x="125" y="448"/>
                      <a:pt x="125" y="448"/>
                      <a:pt x="125" y="448"/>
                    </a:cubicBezTo>
                    <a:cubicBezTo>
                      <a:pt x="148" y="448"/>
                      <a:pt x="167" y="430"/>
                      <a:pt x="167" y="407"/>
                    </a:cubicBezTo>
                    <a:cubicBezTo>
                      <a:pt x="167" y="40"/>
                      <a:pt x="167" y="40"/>
                      <a:pt x="167" y="40"/>
                    </a:cubicBezTo>
                    <a:cubicBezTo>
                      <a:pt x="167" y="18"/>
                      <a:pt x="148" y="0"/>
                      <a:pt x="125"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141" name="Freeform 11"/>
              <p:cNvSpPr>
                <a:spLocks noChangeArrowheads="1"/>
              </p:cNvSpPr>
              <p:nvPr/>
            </p:nvSpPr>
            <p:spPr bwMode="auto">
              <a:xfrm>
                <a:off x="1473200" y="1682750"/>
                <a:ext cx="633413" cy="2108200"/>
              </a:xfrm>
              <a:custGeom>
                <a:avLst/>
                <a:gdLst>
                  <a:gd name="T0" fmla="*/ 475997 w 169"/>
                  <a:gd name="T1" fmla="*/ 0 h 561"/>
                  <a:gd name="T2" fmla="*/ 161164 w 169"/>
                  <a:gd name="T3" fmla="*/ 0 h 561"/>
                  <a:gd name="T4" fmla="*/ 0 w 169"/>
                  <a:gd name="T5" fmla="*/ 150317 h 561"/>
                  <a:gd name="T6" fmla="*/ 0 w 169"/>
                  <a:gd name="T7" fmla="*/ 1957883 h 561"/>
                  <a:gd name="T8" fmla="*/ 161164 w 169"/>
                  <a:gd name="T9" fmla="*/ 2108200 h 561"/>
                  <a:gd name="T10" fmla="*/ 475997 w 169"/>
                  <a:gd name="T11" fmla="*/ 2108200 h 561"/>
                  <a:gd name="T12" fmla="*/ 633413 w 169"/>
                  <a:gd name="T13" fmla="*/ 1957883 h 561"/>
                  <a:gd name="T14" fmla="*/ 633413 w 169"/>
                  <a:gd name="T15" fmla="*/ 150317 h 561"/>
                  <a:gd name="T16" fmla="*/ 475997 w 169"/>
                  <a:gd name="T17" fmla="*/ 0 h 5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9"/>
                  <a:gd name="T28" fmla="*/ 0 h 561"/>
                  <a:gd name="T29" fmla="*/ 169 w 169"/>
                  <a:gd name="T30" fmla="*/ 561 h 5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9" h="561">
                    <a:moveTo>
                      <a:pt x="127" y="0"/>
                    </a:moveTo>
                    <a:cubicBezTo>
                      <a:pt x="43" y="0"/>
                      <a:pt x="43" y="0"/>
                      <a:pt x="43" y="0"/>
                    </a:cubicBezTo>
                    <a:cubicBezTo>
                      <a:pt x="19" y="0"/>
                      <a:pt x="0" y="18"/>
                      <a:pt x="0" y="40"/>
                    </a:cubicBezTo>
                    <a:cubicBezTo>
                      <a:pt x="0" y="521"/>
                      <a:pt x="0" y="521"/>
                      <a:pt x="0" y="521"/>
                    </a:cubicBezTo>
                    <a:cubicBezTo>
                      <a:pt x="0" y="543"/>
                      <a:pt x="19" y="561"/>
                      <a:pt x="43" y="561"/>
                    </a:cubicBezTo>
                    <a:cubicBezTo>
                      <a:pt x="127" y="561"/>
                      <a:pt x="127" y="561"/>
                      <a:pt x="127" y="561"/>
                    </a:cubicBezTo>
                    <a:cubicBezTo>
                      <a:pt x="150" y="561"/>
                      <a:pt x="169" y="543"/>
                      <a:pt x="169" y="521"/>
                    </a:cubicBezTo>
                    <a:cubicBezTo>
                      <a:pt x="169" y="40"/>
                      <a:pt x="169" y="40"/>
                      <a:pt x="169" y="40"/>
                    </a:cubicBezTo>
                    <a:cubicBezTo>
                      <a:pt x="169" y="18"/>
                      <a:pt x="150" y="0"/>
                      <a:pt x="127" y="0"/>
                    </a:cubicBez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14" tIns="22857" rIns="45714" bIns="22857"/>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grpSp>
      </p:gr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 </a:t>
            </a:r>
            <a:r>
              <a:rPr lang="zh-CN" altLang="en-US" dirty="0"/>
              <a:t>项目实践</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2</a:t>
            </a:fld>
            <a:endParaRPr lang="zh-CN" altLang="en-US"/>
          </a:p>
        </p:txBody>
      </p:sp>
      <p:sp>
        <p:nvSpPr>
          <p:cNvPr id="4" name="内容占位符 2"/>
          <p:cNvSpPr txBox="1"/>
          <p:nvPr/>
        </p:nvSpPr>
        <p:spPr>
          <a:xfrm>
            <a:off x="821411" y="1583406"/>
            <a:ext cx="10080000" cy="39187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zh-CN" sz="1800" dirty="0">
                <a:latin typeface="+mn-ea"/>
              </a:rPr>
              <a:t>对商场零售交易数据进行统计及关联分析</a:t>
            </a:r>
            <a:endParaRPr lang="en-US" altLang="zh-CN" sz="1800" dirty="0">
              <a:latin typeface="+mn-ea"/>
            </a:endParaRPr>
          </a:p>
          <a:p>
            <a:pPr>
              <a:lnSpc>
                <a:spcPct val="150000"/>
              </a:lnSpc>
            </a:pPr>
            <a:r>
              <a:rPr lang="zh-CN" altLang="en-US" sz="1800" dirty="0">
                <a:latin typeface="+mn-ea"/>
              </a:rPr>
              <a:t>实现功能</a:t>
            </a:r>
            <a:endParaRPr lang="en-US" altLang="zh-CN" sz="1800" dirty="0">
              <a:latin typeface="+mn-ea"/>
            </a:endParaRPr>
          </a:p>
          <a:p>
            <a:pPr lvl="1">
              <a:lnSpc>
                <a:spcPct val="150000"/>
              </a:lnSpc>
            </a:pPr>
            <a:r>
              <a:rPr lang="zh-CN" altLang="zh-CN" sz="1800" dirty="0">
                <a:latin typeface="+mn-ea"/>
              </a:rPr>
              <a:t>采用</a:t>
            </a:r>
            <a:r>
              <a:rPr lang="en-US" altLang="zh-CN" sz="1800" dirty="0">
                <a:latin typeface="+mn-ea"/>
              </a:rPr>
              <a:t>Hive</a:t>
            </a:r>
            <a:r>
              <a:rPr lang="zh-CN" altLang="zh-CN" sz="1800" dirty="0">
                <a:latin typeface="+mn-ea"/>
              </a:rPr>
              <a:t>搭建企业的数据仓库</a:t>
            </a:r>
            <a:endParaRPr lang="en-US" altLang="zh-CN" sz="1800" dirty="0">
              <a:latin typeface="+mn-ea"/>
            </a:endParaRPr>
          </a:p>
          <a:p>
            <a:pPr lvl="1">
              <a:lnSpc>
                <a:spcPct val="150000"/>
              </a:lnSpc>
            </a:pPr>
            <a:r>
              <a:rPr lang="zh-CN" altLang="zh-CN" sz="1800" dirty="0">
                <a:latin typeface="+mn-ea"/>
              </a:rPr>
              <a:t>采用</a:t>
            </a:r>
            <a:r>
              <a:rPr lang="en-US" altLang="zh-CN" sz="1800" dirty="0">
                <a:latin typeface="+mn-ea"/>
              </a:rPr>
              <a:t>MySQL</a:t>
            </a:r>
            <a:r>
              <a:rPr lang="zh-CN" altLang="zh-CN" sz="1800" dirty="0">
                <a:latin typeface="+mn-ea"/>
              </a:rPr>
              <a:t>为</a:t>
            </a:r>
            <a:r>
              <a:rPr lang="en-US" altLang="zh-CN" sz="1800" dirty="0">
                <a:latin typeface="+mn-ea"/>
              </a:rPr>
              <a:t>Hive</a:t>
            </a:r>
            <a:r>
              <a:rPr lang="zh-CN" altLang="zh-CN" sz="1800" dirty="0">
                <a:latin typeface="+mn-ea"/>
              </a:rPr>
              <a:t>的元数据库</a:t>
            </a:r>
            <a:endParaRPr lang="en-US" altLang="zh-CN" sz="1800" dirty="0">
              <a:latin typeface="+mn-ea"/>
            </a:endParaRPr>
          </a:p>
          <a:p>
            <a:pPr lvl="1">
              <a:lnSpc>
                <a:spcPct val="150000"/>
              </a:lnSpc>
            </a:pPr>
            <a:r>
              <a:rPr lang="zh-CN" altLang="zh-CN" sz="1800" dirty="0">
                <a:latin typeface="+mn-ea"/>
              </a:rPr>
              <a:t>采用</a:t>
            </a:r>
            <a:r>
              <a:rPr lang="en-US" altLang="zh-CN" sz="1800" dirty="0" err="1">
                <a:latin typeface="+mn-ea"/>
              </a:rPr>
              <a:t>Sqoop</a:t>
            </a:r>
            <a:r>
              <a:rPr lang="zh-CN" altLang="zh-CN" sz="1800" dirty="0">
                <a:latin typeface="+mn-ea"/>
              </a:rPr>
              <a:t>为</a:t>
            </a:r>
            <a:r>
              <a:rPr lang="en-US" altLang="zh-CN" sz="1800" dirty="0">
                <a:latin typeface="+mn-ea"/>
              </a:rPr>
              <a:t>Hive</a:t>
            </a:r>
            <a:r>
              <a:rPr lang="zh-CN" altLang="zh-CN" sz="1800" dirty="0">
                <a:latin typeface="+mn-ea"/>
              </a:rPr>
              <a:t>和</a:t>
            </a:r>
            <a:r>
              <a:rPr lang="en-US" altLang="zh-CN" sz="1800" dirty="0">
                <a:latin typeface="+mn-ea"/>
              </a:rPr>
              <a:t>MySQL</a:t>
            </a:r>
            <a:r>
              <a:rPr lang="zh-CN" altLang="zh-CN" sz="1800" dirty="0">
                <a:latin typeface="+mn-ea"/>
              </a:rPr>
              <a:t>之间的数据传输工具</a:t>
            </a:r>
            <a:endParaRPr lang="en-US" altLang="zh-CN" sz="1800" dirty="0">
              <a:latin typeface="+mn-ea"/>
            </a:endParaRPr>
          </a:p>
          <a:p>
            <a:pPr lvl="1">
              <a:lnSpc>
                <a:spcPct val="150000"/>
              </a:lnSpc>
            </a:pPr>
            <a:r>
              <a:rPr lang="zh-CN" altLang="zh-CN" sz="1800" dirty="0">
                <a:latin typeface="+mn-ea"/>
              </a:rPr>
              <a:t>采用</a:t>
            </a:r>
            <a:r>
              <a:rPr lang="en-US" altLang="zh-CN" sz="1800" dirty="0">
                <a:latin typeface="+mn-ea"/>
              </a:rPr>
              <a:t>Spark</a:t>
            </a:r>
            <a:r>
              <a:rPr lang="zh-CN" altLang="zh-CN" sz="1800" dirty="0">
                <a:latin typeface="+mn-ea"/>
              </a:rPr>
              <a:t>用来进行零售数据中的用户购买行为的关联分析，对数据里隐含的潜在价值进行挖掘</a:t>
            </a:r>
            <a:endParaRPr lang="en-US" altLang="zh-CN" sz="1800" dirty="0">
              <a:latin typeface="+mn-ea"/>
            </a:endParaRPr>
          </a:p>
          <a:p>
            <a:pPr lvl="1">
              <a:lnSpc>
                <a:spcPct val="150000"/>
              </a:lnSpc>
            </a:pPr>
            <a:r>
              <a:rPr lang="zh-CN" altLang="zh-CN" sz="1800" dirty="0">
                <a:latin typeface="+mn-ea"/>
              </a:rPr>
              <a:t>利用</a:t>
            </a:r>
            <a:r>
              <a:rPr lang="en-US" altLang="zh-CN" sz="1800" dirty="0" err="1">
                <a:latin typeface="+mn-ea"/>
              </a:rPr>
              <a:t>ECharts</a:t>
            </a:r>
            <a:r>
              <a:rPr lang="zh-CN" altLang="zh-CN" sz="1800" dirty="0">
                <a:latin typeface="+mn-ea"/>
              </a:rPr>
              <a:t>进行数据可视化</a:t>
            </a:r>
            <a:endParaRPr lang="zh-CN" altLang="en-US" sz="1800" dirty="0">
              <a:latin typeface="+mn-ea"/>
            </a:endParaRPr>
          </a:p>
        </p:txBody>
      </p:sp>
      <p:sp>
        <p:nvSpPr>
          <p:cNvPr id="8" name="内容占位符 2"/>
          <p:cNvSpPr>
            <a:spLocks noGrp="1"/>
          </p:cNvSpPr>
          <p:nvPr/>
        </p:nvSpPr>
        <p:spPr>
          <a:xfrm>
            <a:off x="821411"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b="1" dirty="0"/>
              <a:t>项目概述</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 </a:t>
            </a:r>
            <a:r>
              <a:rPr lang="zh-CN" altLang="en-US" dirty="0">
                <a:latin typeface="+mn-ea"/>
                <a:ea typeface="+mn-ea"/>
              </a:rPr>
              <a:t>项目实践</a:t>
            </a:r>
          </a:p>
        </p:txBody>
      </p:sp>
      <p:sp>
        <p:nvSpPr>
          <p:cNvPr id="3" name="内容占位符 2"/>
          <p:cNvSpPr>
            <a:spLocks noGrp="1"/>
          </p:cNvSpPr>
          <p:nvPr>
            <p:ph idx="4294967295"/>
          </p:nvPr>
        </p:nvSpPr>
        <p:spPr>
          <a:xfrm>
            <a:off x="761997" y="1419860"/>
            <a:ext cx="10080000" cy="1071727"/>
          </a:xfrm>
          <a:prstGeom prst="rect">
            <a:avLst/>
          </a:prstGeom>
        </p:spPr>
        <p:txBody>
          <a:bodyPr>
            <a:noAutofit/>
          </a:bodyPr>
          <a:lstStyle/>
          <a:p>
            <a:pPr marL="0" indent="0">
              <a:lnSpc>
                <a:spcPct val="150000"/>
              </a:lnSpc>
              <a:buNone/>
            </a:pPr>
            <a:r>
              <a:rPr lang="zh-CN" altLang="zh-CN" sz="1800" dirty="0">
                <a:latin typeface="+mn-ea"/>
              </a:rPr>
              <a:t>土耳其零售商超的人造的交易数据</a:t>
            </a:r>
            <a:r>
              <a:rPr lang="zh-CN" altLang="en-US" sz="1800" dirty="0">
                <a:latin typeface="+mn-ea"/>
              </a:rPr>
              <a:t>，共</a:t>
            </a:r>
            <a:r>
              <a:rPr lang="en-US" altLang="zh-CN" sz="1800" dirty="0">
                <a:latin typeface="+mn-ea"/>
              </a:rPr>
              <a:t>611108</a:t>
            </a:r>
            <a:r>
              <a:rPr lang="zh-CN" altLang="en-US" sz="1800" dirty="0">
                <a:latin typeface="+mn-ea"/>
              </a:rPr>
              <a:t>条，包含</a:t>
            </a:r>
            <a:r>
              <a:rPr lang="en-US" altLang="zh-CN" sz="1800" dirty="0">
                <a:latin typeface="+mn-ea"/>
              </a:rPr>
              <a:t>26</a:t>
            </a:r>
            <a:r>
              <a:rPr lang="zh-CN" altLang="en-US" sz="1800" dirty="0">
                <a:latin typeface="+mn-ea"/>
              </a:rPr>
              <a:t>个字段</a:t>
            </a:r>
            <a:endParaRPr lang="en-US" altLang="zh-CN" sz="1800" dirty="0">
              <a:latin typeface="+mn-ea"/>
            </a:endParaRPr>
          </a:p>
          <a:p>
            <a:pPr marL="0" indent="0">
              <a:lnSpc>
                <a:spcPct val="150000"/>
              </a:lnSpc>
              <a:buNone/>
            </a:pPr>
            <a:r>
              <a:rPr lang="zh-CN" altLang="zh-CN" sz="1800" dirty="0"/>
              <a:t>可从本章节配套资源中获取</a:t>
            </a:r>
            <a:endParaRPr lang="en-US" altLang="zh-CN" sz="1800" dirty="0">
              <a:latin typeface="+mn-ea"/>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3</a:t>
            </a:fld>
            <a:endParaRPr lang="zh-CN" altLang="en-US">
              <a:latin typeface="+mn-ea"/>
            </a:endParaRPr>
          </a:p>
        </p:txBody>
      </p:sp>
      <p:sp>
        <p:nvSpPr>
          <p:cNvPr id="7" name="内容占位符 2"/>
          <p:cNvSpPr>
            <a:spLocks noGrp="1"/>
          </p:cNvSpPr>
          <p:nvPr/>
        </p:nvSpPr>
        <p:spPr>
          <a:xfrm>
            <a:off x="761998" y="2777449"/>
            <a:ext cx="9296401" cy="39438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buFont typeface="Wingdings" panose="05000000000000000000" charset="0"/>
              <a:buChar char="l"/>
            </a:pPr>
            <a:r>
              <a:rPr lang="zh-CN" altLang="zh-CN" sz="1800" dirty="0">
                <a:latin typeface="+mn-ea"/>
                <a:ea typeface="+mn-ea"/>
              </a:rPr>
              <a:t>土耳其</a:t>
            </a:r>
            <a:r>
              <a:rPr lang="en-US" altLang="zh-CN" sz="1800" dirty="0">
                <a:latin typeface="+mn-ea"/>
                <a:ea typeface="+mn-ea"/>
              </a:rPr>
              <a:t>81</a:t>
            </a:r>
            <a:r>
              <a:rPr lang="zh-CN" altLang="zh-CN" sz="1800" dirty="0">
                <a:latin typeface="+mn-ea"/>
                <a:ea typeface="+mn-ea"/>
              </a:rPr>
              <a:t>个超市门店的</a:t>
            </a:r>
            <a:r>
              <a:rPr lang="en-US" altLang="zh-CN" sz="1800" dirty="0">
                <a:latin typeface="+mn-ea"/>
                <a:ea typeface="+mn-ea"/>
              </a:rPr>
              <a:t>2017</a:t>
            </a:r>
            <a:r>
              <a:rPr lang="zh-CN" altLang="zh-CN" sz="1800" dirty="0">
                <a:latin typeface="+mn-ea"/>
                <a:ea typeface="+mn-ea"/>
              </a:rPr>
              <a:t>年</a:t>
            </a:r>
            <a:r>
              <a:rPr lang="en-US" altLang="zh-CN" sz="1800" dirty="0">
                <a:latin typeface="+mn-ea"/>
                <a:ea typeface="+mn-ea"/>
              </a:rPr>
              <a:t>1</a:t>
            </a:r>
            <a:r>
              <a:rPr lang="zh-CN" altLang="zh-CN" sz="1800" dirty="0">
                <a:latin typeface="+mn-ea"/>
                <a:ea typeface="+mn-ea"/>
              </a:rPr>
              <a:t>月</a:t>
            </a:r>
            <a:r>
              <a:rPr lang="zh-CN" altLang="en-US" sz="1800" dirty="0">
                <a:latin typeface="+mn-ea"/>
                <a:ea typeface="+mn-ea"/>
              </a:rPr>
              <a:t>至</a:t>
            </a:r>
            <a:r>
              <a:rPr lang="en-US" altLang="zh-CN" sz="1800" dirty="0">
                <a:latin typeface="+mn-ea"/>
                <a:ea typeface="+mn-ea"/>
              </a:rPr>
              <a:t>2017</a:t>
            </a:r>
            <a:r>
              <a:rPr lang="zh-CN" altLang="zh-CN" sz="1800" dirty="0">
                <a:latin typeface="+mn-ea"/>
                <a:ea typeface="+mn-ea"/>
              </a:rPr>
              <a:t>年</a:t>
            </a:r>
            <a:r>
              <a:rPr lang="en-US" altLang="zh-CN" sz="1800" dirty="0">
                <a:latin typeface="+mn-ea"/>
                <a:ea typeface="+mn-ea"/>
              </a:rPr>
              <a:t>3</a:t>
            </a:r>
            <a:r>
              <a:rPr lang="zh-CN" altLang="zh-CN" sz="1800" dirty="0">
                <a:latin typeface="+mn-ea"/>
                <a:ea typeface="+mn-ea"/>
              </a:rPr>
              <a:t>月</a:t>
            </a:r>
            <a:r>
              <a:rPr lang="zh-CN" altLang="en-US" sz="1800" dirty="0">
                <a:latin typeface="+mn-ea"/>
                <a:ea typeface="+mn-ea"/>
              </a:rPr>
              <a:t>共</a:t>
            </a:r>
            <a:r>
              <a:rPr lang="en-US" altLang="zh-CN" sz="1800" dirty="0">
                <a:latin typeface="+mn-ea"/>
                <a:ea typeface="+mn-ea"/>
              </a:rPr>
              <a:t>3</a:t>
            </a:r>
            <a:r>
              <a:rPr lang="zh-CN" altLang="en-US" sz="1800" dirty="0">
                <a:latin typeface="+mn-ea"/>
                <a:ea typeface="+mn-ea"/>
              </a:rPr>
              <a:t>个月的交易数据</a:t>
            </a:r>
            <a:endParaRPr lang="en-US" altLang="zh-CN" sz="1800" dirty="0">
              <a:latin typeface="+mn-ea"/>
              <a:ea typeface="+mn-ea"/>
            </a:endParaRPr>
          </a:p>
          <a:p>
            <a:pPr lvl="1">
              <a:lnSpc>
                <a:spcPct val="114000"/>
              </a:lnSpc>
              <a:buFont typeface="Wingdings" panose="05000000000000000000" charset="0"/>
              <a:buChar char="l"/>
            </a:pPr>
            <a:r>
              <a:rPr lang="en-US" altLang="zh-CN" sz="1800" dirty="0">
                <a:latin typeface="+mn-ea"/>
                <a:ea typeface="+mn-ea"/>
              </a:rPr>
              <a:t>52000</a:t>
            </a:r>
            <a:r>
              <a:rPr lang="zh-CN" altLang="en-US" sz="1800" dirty="0">
                <a:latin typeface="+mn-ea"/>
                <a:ea typeface="+mn-ea"/>
              </a:rPr>
              <a:t>余个顾客数据</a:t>
            </a:r>
            <a:endParaRPr lang="en-US" altLang="zh-CN" sz="1800" dirty="0">
              <a:latin typeface="+mn-ea"/>
              <a:ea typeface="+mn-ea"/>
            </a:endParaRPr>
          </a:p>
          <a:p>
            <a:pPr lvl="2">
              <a:lnSpc>
                <a:spcPct val="114000"/>
              </a:lnSpc>
              <a:buFont typeface="Wingdings" panose="05000000000000000000" charset="0"/>
              <a:buChar char="l"/>
            </a:pPr>
            <a:r>
              <a:rPr lang="zh-CN" altLang="en-US" sz="1400" dirty="0">
                <a:latin typeface="+mn-ea"/>
                <a:ea typeface="+mn-ea"/>
              </a:rPr>
              <a:t>会员卡号</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性别</a:t>
            </a:r>
            <a:endParaRPr lang="en-US" altLang="zh-CN" sz="1400" dirty="0">
              <a:latin typeface="+mn-ea"/>
              <a:ea typeface="+mn-ea"/>
            </a:endParaRPr>
          </a:p>
          <a:p>
            <a:pPr lvl="1">
              <a:lnSpc>
                <a:spcPct val="114000"/>
              </a:lnSpc>
              <a:buFont typeface="Wingdings" panose="05000000000000000000" charset="0"/>
              <a:buChar char="l"/>
            </a:pPr>
            <a:r>
              <a:rPr lang="en-US" altLang="zh-CN" sz="1800" dirty="0">
                <a:latin typeface="+mn-ea"/>
                <a:ea typeface="+mn-ea"/>
              </a:rPr>
              <a:t>9000</a:t>
            </a:r>
            <a:r>
              <a:rPr lang="zh-CN" altLang="en-US" sz="1800" dirty="0">
                <a:latin typeface="+mn-ea"/>
                <a:ea typeface="+mn-ea"/>
              </a:rPr>
              <a:t>余商品</a:t>
            </a:r>
            <a:endParaRPr lang="en-US" altLang="zh-CN" sz="1800" dirty="0">
              <a:latin typeface="+mn-ea"/>
              <a:ea typeface="+mn-ea"/>
            </a:endParaRPr>
          </a:p>
          <a:p>
            <a:pPr lvl="2">
              <a:lnSpc>
                <a:spcPct val="114000"/>
              </a:lnSpc>
              <a:buFont typeface="Wingdings" panose="05000000000000000000" charset="0"/>
              <a:buChar char="l"/>
            </a:pPr>
            <a:r>
              <a:rPr lang="zh-CN" altLang="en-US" sz="1400" dirty="0">
                <a:latin typeface="+mn-ea"/>
                <a:ea typeface="+mn-ea"/>
              </a:rPr>
              <a:t>商品编号</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商品名称</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一级分类</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二级分类</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三级分类</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品牌</a:t>
            </a:r>
            <a:endParaRPr lang="en-US" altLang="zh-CN" sz="1400" dirty="0">
              <a:latin typeface="+mn-ea"/>
              <a:ea typeface="+mn-ea"/>
            </a:endParaRPr>
          </a:p>
          <a:p>
            <a:pPr lvl="2">
              <a:lnSpc>
                <a:spcPct val="114000"/>
              </a:lnSpc>
              <a:buFont typeface="Wingdings" panose="05000000000000000000" charset="0"/>
              <a:buChar char="l"/>
            </a:pPr>
            <a:r>
              <a:rPr lang="zh-CN" altLang="en-US" sz="1400" dirty="0">
                <a:latin typeface="+mn-ea"/>
                <a:ea typeface="+mn-ea"/>
              </a:rPr>
              <a:t>品牌编号</a:t>
            </a:r>
          </a:p>
        </p:txBody>
      </p:sp>
      <p:sp>
        <p:nvSpPr>
          <p:cNvPr id="10" name="内容占位符 2"/>
          <p:cNvSpPr>
            <a:spLocks noGrp="1"/>
          </p:cNvSpPr>
          <p:nvPr/>
        </p:nvSpPr>
        <p:spPr>
          <a:xfrm>
            <a:off x="821411"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b="1" dirty="0">
                <a:latin typeface="+mn-ea"/>
                <a:ea typeface="+mn-ea"/>
              </a:rPr>
              <a:t>数据集</a:t>
            </a: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 </a:t>
            </a:r>
            <a:r>
              <a:rPr lang="zh-CN" altLang="en-US" dirty="0">
                <a:latin typeface="+mn-ea"/>
                <a:ea typeface="+mn-ea"/>
              </a:rPr>
              <a:t>项目实践</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4</a:t>
            </a:fld>
            <a:endParaRPr lang="zh-CN" altLang="en-US">
              <a:latin typeface="+mn-ea"/>
            </a:endParaRPr>
          </a:p>
        </p:txBody>
      </p:sp>
      <p:sp>
        <p:nvSpPr>
          <p:cNvPr id="100" name="graduate-cap_49944"/>
          <p:cNvSpPr/>
          <p:nvPr/>
        </p:nvSpPr>
        <p:spPr>
          <a:xfrm>
            <a:off x="174625" y="364362"/>
            <a:ext cx="393700" cy="262255"/>
          </a:xfrm>
          <a:custGeom>
            <a:avLst/>
            <a:gdLst>
              <a:gd name="connsiteX0" fmla="*/ 93338 w 608536"/>
              <a:gd name="connsiteY0" fmla="*/ 167235 h 375291"/>
              <a:gd name="connsiteX1" fmla="*/ 292893 w 608536"/>
              <a:gd name="connsiteY1" fmla="*/ 244637 h 375291"/>
              <a:gd name="connsiteX2" fmla="*/ 305814 w 608536"/>
              <a:gd name="connsiteY2" fmla="*/ 244637 h 375291"/>
              <a:gd name="connsiteX3" fmla="*/ 503933 w 608536"/>
              <a:gd name="connsiteY3" fmla="*/ 167235 h 375291"/>
              <a:gd name="connsiteX4" fmla="*/ 503933 w 608536"/>
              <a:gd name="connsiteY4" fmla="*/ 244637 h 375291"/>
              <a:gd name="connsiteX5" fmla="*/ 298636 w 608536"/>
              <a:gd name="connsiteY5" fmla="*/ 356439 h 375291"/>
              <a:gd name="connsiteX6" fmla="*/ 93338 w 608536"/>
              <a:gd name="connsiteY6" fmla="*/ 244637 h 375291"/>
              <a:gd name="connsiteX7" fmla="*/ 93338 w 608536"/>
              <a:gd name="connsiteY7" fmla="*/ 167235 h 375291"/>
              <a:gd name="connsiteX8" fmla="*/ 292786 w 608536"/>
              <a:gd name="connsiteY8" fmla="*/ 1075 h 375291"/>
              <a:gd name="connsiteX9" fmla="*/ 304268 w 608536"/>
              <a:gd name="connsiteY9" fmla="*/ 1075 h 375291"/>
              <a:gd name="connsiteX10" fmla="*/ 595619 w 608536"/>
              <a:gd name="connsiteY10" fmla="*/ 102873 h 375291"/>
              <a:gd name="connsiteX11" fmla="*/ 598490 w 608536"/>
              <a:gd name="connsiteY11" fmla="*/ 107174 h 375291"/>
              <a:gd name="connsiteX12" fmla="*/ 595619 w 608536"/>
              <a:gd name="connsiteY12" fmla="*/ 111476 h 375291"/>
              <a:gd name="connsiteX13" fmla="*/ 595619 w 608536"/>
              <a:gd name="connsiteY13" fmla="*/ 251986 h 375291"/>
              <a:gd name="connsiteX14" fmla="*/ 608536 w 608536"/>
              <a:gd name="connsiteY14" fmla="*/ 272059 h 375291"/>
              <a:gd name="connsiteX15" fmla="*/ 594184 w 608536"/>
              <a:gd name="connsiteY15" fmla="*/ 293566 h 375291"/>
              <a:gd name="connsiteX16" fmla="*/ 608536 w 608536"/>
              <a:gd name="connsiteY16" fmla="*/ 352351 h 375291"/>
              <a:gd name="connsiteX17" fmla="*/ 585573 w 608536"/>
              <a:gd name="connsiteY17" fmla="*/ 375291 h 375291"/>
              <a:gd name="connsiteX18" fmla="*/ 562609 w 608536"/>
              <a:gd name="connsiteY18" fmla="*/ 352351 h 375291"/>
              <a:gd name="connsiteX19" fmla="*/ 575526 w 608536"/>
              <a:gd name="connsiteY19" fmla="*/ 293566 h 375291"/>
              <a:gd name="connsiteX20" fmla="*/ 562609 w 608536"/>
              <a:gd name="connsiteY20" fmla="*/ 272059 h 375291"/>
              <a:gd name="connsiteX21" fmla="*/ 575526 w 608536"/>
              <a:gd name="connsiteY21" fmla="*/ 251986 h 375291"/>
              <a:gd name="connsiteX22" fmla="*/ 575526 w 608536"/>
              <a:gd name="connsiteY22" fmla="*/ 118645 h 375291"/>
              <a:gd name="connsiteX23" fmla="*/ 305703 w 608536"/>
              <a:gd name="connsiteY23" fmla="*/ 223310 h 375291"/>
              <a:gd name="connsiteX24" fmla="*/ 292786 w 608536"/>
              <a:gd name="connsiteY24" fmla="*/ 223310 h 375291"/>
              <a:gd name="connsiteX25" fmla="*/ 2870 w 608536"/>
              <a:gd name="connsiteY25" fmla="*/ 111476 h 375291"/>
              <a:gd name="connsiteX26" fmla="*/ 0 w 608536"/>
              <a:gd name="connsiteY26" fmla="*/ 107174 h 375291"/>
              <a:gd name="connsiteX27" fmla="*/ 2870 w 608536"/>
              <a:gd name="connsiteY27" fmla="*/ 102873 h 37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8536" h="375291">
                <a:moveTo>
                  <a:pt x="93338" y="167235"/>
                </a:moveTo>
                <a:lnTo>
                  <a:pt x="292893" y="244637"/>
                </a:lnTo>
                <a:cubicBezTo>
                  <a:pt x="297200" y="246070"/>
                  <a:pt x="301507" y="246070"/>
                  <a:pt x="305814" y="244637"/>
                </a:cubicBezTo>
                <a:lnTo>
                  <a:pt x="503933" y="167235"/>
                </a:lnTo>
                <a:cubicBezTo>
                  <a:pt x="503933" y="200202"/>
                  <a:pt x="503933" y="238903"/>
                  <a:pt x="503933" y="244637"/>
                </a:cubicBezTo>
                <a:cubicBezTo>
                  <a:pt x="503933" y="304838"/>
                  <a:pt x="413487" y="353572"/>
                  <a:pt x="298636" y="356439"/>
                </a:cubicBezTo>
                <a:cubicBezTo>
                  <a:pt x="185220" y="353572"/>
                  <a:pt x="93338" y="304838"/>
                  <a:pt x="93338" y="244637"/>
                </a:cubicBezTo>
                <a:cubicBezTo>
                  <a:pt x="93338" y="237470"/>
                  <a:pt x="93338" y="200202"/>
                  <a:pt x="93338" y="167235"/>
                </a:cubicBezTo>
                <a:close/>
                <a:moveTo>
                  <a:pt x="292786" y="1075"/>
                </a:moveTo>
                <a:cubicBezTo>
                  <a:pt x="297092" y="-359"/>
                  <a:pt x="301398" y="-359"/>
                  <a:pt x="304268" y="1075"/>
                </a:cubicBezTo>
                <a:lnTo>
                  <a:pt x="595619" y="102873"/>
                </a:lnTo>
                <a:cubicBezTo>
                  <a:pt x="597054" y="102873"/>
                  <a:pt x="598490" y="105741"/>
                  <a:pt x="598490" y="107174"/>
                </a:cubicBezTo>
                <a:cubicBezTo>
                  <a:pt x="598490" y="108608"/>
                  <a:pt x="597054" y="110042"/>
                  <a:pt x="595619" y="111476"/>
                </a:cubicBezTo>
                <a:lnTo>
                  <a:pt x="595619" y="251986"/>
                </a:lnTo>
                <a:cubicBezTo>
                  <a:pt x="602795" y="254854"/>
                  <a:pt x="608536" y="263456"/>
                  <a:pt x="608536" y="272059"/>
                </a:cubicBezTo>
                <a:cubicBezTo>
                  <a:pt x="608536" y="280662"/>
                  <a:pt x="602795" y="289264"/>
                  <a:pt x="594184" y="293566"/>
                </a:cubicBezTo>
                <a:cubicBezTo>
                  <a:pt x="602795" y="309337"/>
                  <a:pt x="608536" y="342314"/>
                  <a:pt x="608536" y="352351"/>
                </a:cubicBezTo>
                <a:cubicBezTo>
                  <a:pt x="608536" y="363821"/>
                  <a:pt x="597054" y="375291"/>
                  <a:pt x="585573" y="375291"/>
                </a:cubicBezTo>
                <a:cubicBezTo>
                  <a:pt x="572656" y="375291"/>
                  <a:pt x="562609" y="363821"/>
                  <a:pt x="562609" y="352351"/>
                </a:cubicBezTo>
                <a:cubicBezTo>
                  <a:pt x="562609" y="342314"/>
                  <a:pt x="568350" y="309337"/>
                  <a:pt x="575526" y="293566"/>
                </a:cubicBezTo>
                <a:cubicBezTo>
                  <a:pt x="568350" y="289264"/>
                  <a:pt x="562609" y="280662"/>
                  <a:pt x="562609" y="272059"/>
                </a:cubicBezTo>
                <a:cubicBezTo>
                  <a:pt x="562609" y="263456"/>
                  <a:pt x="566915" y="254854"/>
                  <a:pt x="575526" y="251986"/>
                </a:cubicBezTo>
                <a:lnTo>
                  <a:pt x="575526" y="118645"/>
                </a:lnTo>
                <a:lnTo>
                  <a:pt x="305703" y="223310"/>
                </a:lnTo>
                <a:cubicBezTo>
                  <a:pt x="301398" y="224744"/>
                  <a:pt x="297092" y="224744"/>
                  <a:pt x="292786" y="223310"/>
                </a:cubicBezTo>
                <a:lnTo>
                  <a:pt x="2870" y="111476"/>
                </a:lnTo>
                <a:cubicBezTo>
                  <a:pt x="1435" y="110042"/>
                  <a:pt x="0" y="108608"/>
                  <a:pt x="0" y="107174"/>
                </a:cubicBezTo>
                <a:cubicBezTo>
                  <a:pt x="0" y="105741"/>
                  <a:pt x="1435" y="102873"/>
                  <a:pt x="2870" y="102873"/>
                </a:cubicBezTo>
                <a:close/>
              </a:path>
            </a:pathLst>
          </a:custGeom>
          <a:solidFill>
            <a:schemeClr val="accent3">
              <a:lumMod val="20000"/>
              <a:lumOff val="80000"/>
            </a:schemeClr>
          </a:solidFill>
          <a:ln>
            <a:noFill/>
          </a:ln>
        </p:spPr>
        <p:txBody>
          <a:bodyPr rtlCol="0" anchor="ctr"/>
          <a:lstStyle/>
          <a:p>
            <a:pPr algn="ctr"/>
            <a:endParaRPr lang="en-US">
              <a:solidFill>
                <a:schemeClr val="tx1"/>
              </a:solidFill>
              <a:latin typeface="+mn-ea"/>
            </a:endParaRPr>
          </a:p>
        </p:txBody>
      </p:sp>
      <p:graphicFrame>
        <p:nvGraphicFramePr>
          <p:cNvPr id="6" name="表格 7"/>
          <p:cNvGraphicFramePr/>
          <p:nvPr>
            <p:custDataLst>
              <p:tags r:id="rId2"/>
            </p:custDataLst>
          </p:nvPr>
        </p:nvGraphicFramePr>
        <p:xfrm>
          <a:off x="568325" y="991742"/>
          <a:ext cx="10940504" cy="5364480"/>
        </p:xfrm>
        <a:graphic>
          <a:graphicData uri="http://schemas.openxmlformats.org/drawingml/2006/table">
            <a:tbl>
              <a:tblPr firstRow="1" bandRow="1">
                <a:tableStyleId>{5C22544A-7EE6-4342-B048-85BDC9FD1C3A}</a:tableStyleId>
              </a:tblPr>
              <a:tblGrid>
                <a:gridCol w="2735126">
                  <a:extLst>
                    <a:ext uri="{9D8B030D-6E8A-4147-A177-3AD203B41FA5}">
                      <a16:colId xmlns:a16="http://schemas.microsoft.com/office/drawing/2014/main" val="20000"/>
                    </a:ext>
                  </a:extLst>
                </a:gridCol>
                <a:gridCol w="2735126">
                  <a:extLst>
                    <a:ext uri="{9D8B030D-6E8A-4147-A177-3AD203B41FA5}">
                      <a16:colId xmlns:a16="http://schemas.microsoft.com/office/drawing/2014/main" val="20001"/>
                    </a:ext>
                  </a:extLst>
                </a:gridCol>
                <a:gridCol w="2735126">
                  <a:extLst>
                    <a:ext uri="{9D8B030D-6E8A-4147-A177-3AD203B41FA5}">
                      <a16:colId xmlns:a16="http://schemas.microsoft.com/office/drawing/2014/main" val="20002"/>
                    </a:ext>
                  </a:extLst>
                </a:gridCol>
                <a:gridCol w="2735126">
                  <a:extLst>
                    <a:ext uri="{9D8B030D-6E8A-4147-A177-3AD203B41FA5}">
                      <a16:colId xmlns:a16="http://schemas.microsoft.com/office/drawing/2014/main" val="20003"/>
                    </a:ext>
                  </a:extLst>
                </a:gridCol>
              </a:tblGrid>
              <a:tr h="319982">
                <a:tc>
                  <a:txBody>
                    <a:bodyPr/>
                    <a:lstStyle/>
                    <a:p>
                      <a:pPr>
                        <a:buNone/>
                      </a:pPr>
                      <a:r>
                        <a:rPr lang="zh-CN" altLang="en-US" sz="1600" dirty="0">
                          <a:latin typeface="微软雅黑" panose="020B0503020204020204" pitchFamily="34" charset="-122"/>
                          <a:ea typeface="微软雅黑" panose="020B0503020204020204" pitchFamily="34" charset="-122"/>
                        </a:rPr>
                        <a:t>字段名称</a:t>
                      </a:r>
                    </a:p>
                  </a:txBody>
                  <a:tcPr/>
                </a:tc>
                <a:tc>
                  <a:txBody>
                    <a:bodyPr/>
                    <a:lstStyle/>
                    <a:p>
                      <a:pPr>
                        <a:buNone/>
                      </a:pPr>
                      <a:r>
                        <a:rPr lang="zh-CN" altLang="en-US" sz="1600" dirty="0">
                          <a:latin typeface="微软雅黑" panose="020B0503020204020204" pitchFamily="34" charset="-122"/>
                          <a:ea typeface="微软雅黑" panose="020B0503020204020204" pitchFamily="34" charset="-122"/>
                        </a:rPr>
                        <a:t>字段含义</a:t>
                      </a:r>
                    </a:p>
                  </a:txBody>
                  <a:tcPr/>
                </a:tc>
                <a:tc>
                  <a:txBody>
                    <a:bodyPr/>
                    <a:lstStyle/>
                    <a:p>
                      <a:pPr>
                        <a:buNone/>
                      </a:pPr>
                      <a:r>
                        <a:rPr lang="zh-CN" altLang="en-US" sz="1600" dirty="0">
                          <a:latin typeface="微软雅黑" panose="020B0503020204020204" pitchFamily="34" charset="-122"/>
                          <a:ea typeface="微软雅黑" panose="020B0503020204020204" pitchFamily="34" charset="-122"/>
                        </a:rPr>
                        <a:t>字段名称</a:t>
                      </a:r>
                    </a:p>
                  </a:txBody>
                  <a:tcPr/>
                </a:tc>
                <a:tc>
                  <a:txBody>
                    <a:bodyPr/>
                    <a:lstStyle/>
                    <a:p>
                      <a:pPr>
                        <a:buNone/>
                      </a:pPr>
                      <a:r>
                        <a:rPr lang="zh-CN" altLang="en-US" sz="1600" dirty="0">
                          <a:latin typeface="微软雅黑" panose="020B0503020204020204" pitchFamily="34" charset="-122"/>
                          <a:ea typeface="微软雅黑" panose="020B0503020204020204" pitchFamily="34" charset="-122"/>
                        </a:rPr>
                        <a:t>字段含义</a:t>
                      </a:r>
                    </a:p>
                  </a:txBody>
                  <a:tcPr/>
                </a:tc>
                <a:extLst>
                  <a:ext uri="{0D108BD9-81ED-4DB2-BD59-A6C34878D82A}">
                    <a16:rowId xmlns:a16="http://schemas.microsoft.com/office/drawing/2014/main" val="10000"/>
                  </a:ext>
                </a:extLst>
              </a:tr>
              <a:tr h="319982">
                <a:tc>
                  <a:txBody>
                    <a:bodyPr/>
                    <a:lstStyle/>
                    <a:p>
                      <a:pPr>
                        <a:buNone/>
                      </a:pPr>
                      <a:r>
                        <a:rPr lang="en-US" altLang="zh-CN" sz="1800" kern="1200" dirty="0">
                          <a:solidFill>
                            <a:schemeClr val="dk1"/>
                          </a:solidFill>
                          <a:effectLst/>
                          <a:latin typeface="+mn-lt"/>
                          <a:ea typeface="+mn-ea"/>
                          <a:cs typeface="+mn-cs"/>
                        </a:rPr>
                        <a:t>ID</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数据</a:t>
                      </a:r>
                      <a:r>
                        <a:rPr lang="en-US" altLang="zh-CN" sz="1800" kern="1200" dirty="0">
                          <a:solidFill>
                            <a:schemeClr val="dk1"/>
                          </a:solidFill>
                          <a:effectLst/>
                          <a:latin typeface="+mn-lt"/>
                          <a:ea typeface="+mn-ea"/>
                          <a:cs typeface="+mn-cs"/>
                        </a:rPr>
                        <a:t>ID</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REGION</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分店所在城市的所属的八大区域之一</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319982">
                <a:tc>
                  <a:txBody>
                    <a:bodyPr/>
                    <a:lstStyle/>
                    <a:p>
                      <a:pPr>
                        <a:buNone/>
                      </a:pPr>
                      <a:r>
                        <a:rPr lang="en-US" altLang="zh-CN" sz="1800" kern="1200" dirty="0">
                          <a:solidFill>
                            <a:schemeClr val="dk1"/>
                          </a:solidFill>
                          <a:effectLst/>
                          <a:latin typeface="+mn-lt"/>
                          <a:ea typeface="+mn-ea"/>
                          <a:cs typeface="+mn-cs"/>
                        </a:rPr>
                        <a:t>ITEMCODE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商品编号</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LATITUDE</a:t>
                      </a:r>
                      <a:endParaRPr lang="en-US" altLang="zh-CN"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纬度</a:t>
                      </a:r>
                      <a:endParaRPr lang="en-US" altLang="zh-CN"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2"/>
                  </a:ext>
                </a:extLst>
              </a:tr>
              <a:tr h="319982">
                <a:tc>
                  <a:txBody>
                    <a:bodyPr/>
                    <a:lstStyle/>
                    <a:p>
                      <a:pPr>
                        <a:buNone/>
                      </a:pPr>
                      <a:r>
                        <a:rPr lang="en-US" altLang="zh-CN" sz="1800" kern="1200" dirty="0">
                          <a:solidFill>
                            <a:schemeClr val="dk1"/>
                          </a:solidFill>
                          <a:effectLst/>
                          <a:latin typeface="+mn-lt"/>
                          <a:ea typeface="+mn-ea"/>
                          <a:cs typeface="+mn-cs"/>
                        </a:rPr>
                        <a:t>ITEMNAME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商品名称</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LONGTITUDE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经度</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3"/>
                  </a:ext>
                </a:extLst>
              </a:tr>
              <a:tr h="319982">
                <a:tc>
                  <a:txBody>
                    <a:bodyPr/>
                    <a:lstStyle/>
                    <a:p>
                      <a:pPr>
                        <a:buNone/>
                      </a:pPr>
                      <a:r>
                        <a:rPr lang="en-US" altLang="zh-CN" sz="1800" kern="1200" dirty="0">
                          <a:solidFill>
                            <a:schemeClr val="dk1"/>
                          </a:solidFill>
                          <a:effectLst/>
                          <a:latin typeface="+mn-lt"/>
                          <a:ea typeface="+mn-ea"/>
                          <a:cs typeface="+mn-cs"/>
                        </a:rPr>
                        <a:t>FICHE NO</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会员卡号</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CLIENTCODE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收银台编号</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4"/>
                  </a:ext>
                </a:extLst>
              </a:tr>
              <a:tr h="319982">
                <a:tc>
                  <a:txBody>
                    <a:bodyPr/>
                    <a:lstStyle/>
                    <a:p>
                      <a:pPr>
                        <a:buNone/>
                      </a:pPr>
                      <a:r>
                        <a:rPr lang="en-US" altLang="zh-CN" sz="1800" kern="1200" dirty="0">
                          <a:solidFill>
                            <a:schemeClr val="dk1"/>
                          </a:solidFill>
                          <a:effectLst/>
                          <a:latin typeface="+mn-lt"/>
                          <a:ea typeface="+mn-ea"/>
                          <a:cs typeface="+mn-cs"/>
                        </a:rPr>
                        <a:t>DATE_</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日期</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BRANDCODE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商品品牌编号</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5"/>
                  </a:ext>
                </a:extLst>
              </a:tr>
              <a:tr h="319982">
                <a:tc>
                  <a:txBody>
                    <a:bodyPr/>
                    <a:lstStyle/>
                    <a:p>
                      <a:pPr>
                        <a:buNone/>
                      </a:pPr>
                      <a:r>
                        <a:rPr lang="en-US" altLang="zh-CN" sz="1800" kern="1200" dirty="0">
                          <a:solidFill>
                            <a:schemeClr val="dk1"/>
                          </a:solidFill>
                          <a:effectLst/>
                          <a:latin typeface="+mn-lt"/>
                          <a:ea typeface="+mn-ea"/>
                          <a:cs typeface="+mn-cs"/>
                        </a:rPr>
                        <a:t>AMOUNT</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数量</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BRAND</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商品品牌</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6"/>
                  </a:ext>
                </a:extLst>
              </a:tr>
              <a:tr h="319982">
                <a:tc>
                  <a:txBody>
                    <a:bodyPr/>
                    <a:lstStyle/>
                    <a:p>
                      <a:pPr>
                        <a:buNone/>
                      </a:pPr>
                      <a:r>
                        <a:rPr lang="en-US" altLang="zh-CN" sz="1800" kern="1200" dirty="0">
                          <a:solidFill>
                            <a:schemeClr val="dk1"/>
                          </a:solidFill>
                          <a:effectLst/>
                          <a:latin typeface="+mn-lt"/>
                          <a:ea typeface="+mn-ea"/>
                          <a:cs typeface="+mn-cs"/>
                        </a:rPr>
                        <a:t>PRICE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单价</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category_NAME1</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a:t>
                      </a:r>
                      <a:r>
                        <a:rPr lang="en-US" altLang="zh-CN" sz="1800" kern="1200" dirty="0">
                          <a:solidFill>
                            <a:schemeClr val="dk1"/>
                          </a:solidFill>
                          <a:effectLst/>
                          <a:latin typeface="+mn-lt"/>
                          <a:ea typeface="+mn-ea"/>
                          <a:cs typeface="+mn-cs"/>
                        </a:rPr>
                        <a:t>I</a:t>
                      </a:r>
                      <a:r>
                        <a:rPr lang="zh-CN" altLang="zh-CN" sz="1800" kern="1200" dirty="0">
                          <a:solidFill>
                            <a:schemeClr val="dk1"/>
                          </a:solidFill>
                          <a:effectLst/>
                          <a:latin typeface="+mn-lt"/>
                          <a:ea typeface="+mn-ea"/>
                          <a:cs typeface="+mn-cs"/>
                        </a:rPr>
                        <a:t>级分类</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7"/>
                  </a:ext>
                </a:extLst>
              </a:tr>
              <a:tr h="319982">
                <a:tc>
                  <a:txBody>
                    <a:bodyPr/>
                    <a:lstStyle/>
                    <a:p>
                      <a:pPr>
                        <a:buNone/>
                      </a:pPr>
                      <a:r>
                        <a:rPr lang="en-US" altLang="zh-CN" sz="1800" kern="1200" dirty="0">
                          <a:solidFill>
                            <a:schemeClr val="dk1"/>
                          </a:solidFill>
                          <a:effectLst/>
                          <a:latin typeface="+mn-lt"/>
                          <a:ea typeface="+mn-ea"/>
                          <a:cs typeface="+mn-cs"/>
                        </a:rPr>
                        <a:t>LINENETTOTAL</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总价</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category_NAME2</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a:t>
                      </a:r>
                      <a:r>
                        <a:rPr lang="en-US" altLang="zh-CN" sz="1800" kern="1200" dirty="0">
                          <a:solidFill>
                            <a:schemeClr val="dk1"/>
                          </a:solidFill>
                          <a:effectLst/>
                          <a:latin typeface="+mn-lt"/>
                          <a:ea typeface="+mn-ea"/>
                          <a:cs typeface="+mn-cs"/>
                        </a:rPr>
                        <a:t>II</a:t>
                      </a:r>
                      <a:r>
                        <a:rPr lang="zh-CN" altLang="zh-CN" sz="1800" kern="1200" dirty="0">
                          <a:solidFill>
                            <a:schemeClr val="dk1"/>
                          </a:solidFill>
                          <a:effectLst/>
                          <a:latin typeface="+mn-lt"/>
                          <a:ea typeface="+mn-ea"/>
                          <a:cs typeface="+mn-cs"/>
                        </a:rPr>
                        <a:t>级分类</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8"/>
                  </a:ext>
                </a:extLst>
              </a:tr>
              <a:tr h="319982">
                <a:tc>
                  <a:txBody>
                    <a:bodyPr/>
                    <a:lstStyle/>
                    <a:p>
                      <a:pPr>
                        <a:buNone/>
                      </a:pPr>
                      <a:r>
                        <a:rPr lang="en-US" altLang="zh-CN" sz="1800" kern="1200" dirty="0">
                          <a:solidFill>
                            <a:schemeClr val="dk1"/>
                          </a:solidFill>
                          <a:effectLst/>
                          <a:latin typeface="+mn-lt"/>
                          <a:ea typeface="+mn-ea"/>
                          <a:cs typeface="+mn-cs"/>
                        </a:rPr>
                        <a:t>LINENET</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优惠价格</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category_NAME3</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商品</a:t>
                      </a:r>
                      <a:r>
                        <a:rPr lang="en-US" altLang="zh-CN" sz="1800" kern="1200" dirty="0">
                          <a:solidFill>
                            <a:schemeClr val="dk1"/>
                          </a:solidFill>
                          <a:effectLst/>
                          <a:latin typeface="+mn-lt"/>
                          <a:ea typeface="+mn-ea"/>
                          <a:cs typeface="+mn-cs"/>
                        </a:rPr>
                        <a:t>III</a:t>
                      </a:r>
                      <a:r>
                        <a:rPr lang="zh-CN" altLang="zh-CN" sz="1800" kern="1200" dirty="0">
                          <a:solidFill>
                            <a:schemeClr val="dk1"/>
                          </a:solidFill>
                          <a:effectLst/>
                          <a:latin typeface="+mn-lt"/>
                          <a:ea typeface="+mn-ea"/>
                          <a:cs typeface="+mn-cs"/>
                        </a:rPr>
                        <a:t>级分类</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9"/>
                  </a:ext>
                </a:extLst>
              </a:tr>
              <a:tr h="319982">
                <a:tc>
                  <a:txBody>
                    <a:bodyPr/>
                    <a:lstStyle/>
                    <a:p>
                      <a:pPr>
                        <a:buNone/>
                      </a:pPr>
                      <a:r>
                        <a:rPr lang="en-US" altLang="zh-CN" sz="1800" kern="1200" dirty="0">
                          <a:solidFill>
                            <a:schemeClr val="dk1"/>
                          </a:solidFill>
                          <a:effectLst/>
                          <a:latin typeface="+mn-lt"/>
                          <a:ea typeface="+mn-ea"/>
                          <a:cs typeface="+mn-cs"/>
                        </a:rPr>
                        <a:t>BRANCHNR</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分店编号</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STARTDATE</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收银开始时间</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10"/>
                  </a:ext>
                </a:extLst>
              </a:tr>
              <a:tr h="319982">
                <a:tc>
                  <a:txBody>
                    <a:bodyPr/>
                    <a:lstStyle/>
                    <a:p>
                      <a:pPr>
                        <a:buNone/>
                      </a:pPr>
                      <a:r>
                        <a:rPr lang="en-US" altLang="zh-CN" sz="1800" kern="1200" dirty="0">
                          <a:solidFill>
                            <a:schemeClr val="dk1"/>
                          </a:solidFill>
                          <a:effectLst/>
                          <a:latin typeface="+mn-lt"/>
                          <a:ea typeface="+mn-ea"/>
                          <a:cs typeface="+mn-cs"/>
                        </a:rPr>
                        <a:t>BRANCH</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分店</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ENDDATA</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收银结束时间</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11"/>
                  </a:ext>
                </a:extLst>
              </a:tr>
              <a:tr h="319982">
                <a:tc>
                  <a:txBody>
                    <a:bodyPr/>
                    <a:lstStyle/>
                    <a:p>
                      <a:pPr>
                        <a:buNone/>
                      </a:pPr>
                      <a:r>
                        <a:rPr lang="en-US" altLang="zh-CN" sz="1800" kern="1200" dirty="0">
                          <a:solidFill>
                            <a:schemeClr val="dk1"/>
                          </a:solidFill>
                          <a:effectLst/>
                          <a:latin typeface="+mn-lt"/>
                          <a:ea typeface="+mn-ea"/>
                          <a:cs typeface="+mn-cs"/>
                        </a:rPr>
                        <a:t>SALESMAN</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售货员</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en-US" altLang="zh-CN" sz="1800" kern="1200" dirty="0">
                          <a:solidFill>
                            <a:schemeClr val="dk1"/>
                          </a:solidFill>
                          <a:effectLst/>
                          <a:latin typeface="+mn-lt"/>
                          <a:ea typeface="+mn-ea"/>
                          <a:cs typeface="+mn-cs"/>
                        </a:rPr>
                        <a:t>GMALENDMALER</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会员性别</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12"/>
                  </a:ext>
                </a:extLst>
              </a:tr>
              <a:tr h="319982">
                <a:tc>
                  <a:txBody>
                    <a:bodyPr/>
                    <a:lstStyle/>
                    <a:p>
                      <a:pPr>
                        <a:buNone/>
                      </a:pPr>
                      <a:r>
                        <a:rPr lang="en-US" altLang="zh-CN" sz="1800" kern="1200" dirty="0">
                          <a:solidFill>
                            <a:schemeClr val="dk1"/>
                          </a:solidFill>
                          <a:effectLst/>
                          <a:latin typeface="+mn-lt"/>
                          <a:ea typeface="+mn-ea"/>
                          <a:cs typeface="+mn-cs"/>
                        </a:rPr>
                        <a:t>CITY</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r>
                        <a:rPr lang="zh-CN" altLang="zh-CN" sz="1800" kern="1200" dirty="0">
                          <a:solidFill>
                            <a:schemeClr val="dk1"/>
                          </a:solidFill>
                          <a:effectLst/>
                          <a:latin typeface="+mn-lt"/>
                          <a:ea typeface="+mn-ea"/>
                          <a:cs typeface="+mn-cs"/>
                        </a:rPr>
                        <a:t>分店所在城市</a:t>
                      </a: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endParaRPr lang="zh-CN" altLang="en-US" sz="1600" dirty="0">
                        <a:latin typeface="微软雅黑" panose="020B0503020204020204" pitchFamily="34" charset="-122"/>
                        <a:ea typeface="微软雅黑" panose="020B0503020204020204" pitchFamily="34" charset="-122"/>
                      </a:endParaRPr>
                    </a:p>
                  </a:txBody>
                  <a:tcPr/>
                </a:tc>
                <a:tc>
                  <a:txBody>
                    <a:bodyPr/>
                    <a:lstStyle/>
                    <a:p>
                      <a:pPr>
                        <a:buNone/>
                      </a:pP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13"/>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5</a:t>
            </a:fld>
            <a:endParaRPr lang="zh-CN" altLang="en-US"/>
          </a:p>
        </p:txBody>
      </p:sp>
      <p:sp>
        <p:nvSpPr>
          <p:cNvPr id="7" name="内容占位符 2"/>
          <p:cNvSpPr>
            <a:spLocks noGrp="1"/>
          </p:cNvSpPr>
          <p:nvPr/>
        </p:nvSpPr>
        <p:spPr>
          <a:xfrm>
            <a:off x="821411"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1.</a:t>
            </a:r>
            <a:r>
              <a:rPr lang="zh-CN" altLang="en-US" sz="1800" b="1" dirty="0"/>
              <a:t>把数据集导入分布式文件系统</a:t>
            </a:r>
            <a:r>
              <a:rPr lang="en-US" altLang="zh-CN" sz="1800" b="1" dirty="0"/>
              <a:t>HDFS</a:t>
            </a:r>
            <a:r>
              <a:rPr lang="zh-CN" altLang="en-US" sz="1800" b="1" dirty="0"/>
              <a:t>中</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9" name="内容占位符 2"/>
          <p:cNvSpPr>
            <a:spLocks noGrp="1"/>
          </p:cNvSpPr>
          <p:nvPr>
            <p:ph idx="4294967295"/>
          </p:nvPr>
        </p:nvSpPr>
        <p:spPr>
          <a:xfrm>
            <a:off x="855344" y="1544955"/>
            <a:ext cx="10368455" cy="380919"/>
          </a:xfrm>
          <a:prstGeom prst="rect">
            <a:avLst/>
          </a:prstGeom>
        </p:spPr>
        <p:txBody>
          <a:bodyPr>
            <a:noAutofit/>
          </a:bodyPr>
          <a:lstStyle/>
          <a:p>
            <a:pPr marL="0" indent="0">
              <a:lnSpc>
                <a:spcPct val="100000"/>
              </a:lnSpc>
              <a:buNone/>
            </a:pPr>
            <a:r>
              <a:rPr lang="zh-CN" altLang="zh-CN" sz="1800" dirty="0"/>
              <a:t>首先需要将数据传输到服务器中，并修改编码格式为</a:t>
            </a:r>
            <a:r>
              <a:rPr lang="en-US" altLang="zh-CN" sz="1800" dirty="0"/>
              <a:t>utf8</a:t>
            </a:r>
            <a:r>
              <a:rPr lang="zh-CN" altLang="en-US" sz="1800" dirty="0"/>
              <a:t>，</a:t>
            </a:r>
            <a:r>
              <a:rPr lang="zh-CN" altLang="zh-CN" sz="1800" dirty="0"/>
              <a:t>格式修改后数据正常显示</a:t>
            </a:r>
            <a:endParaRPr lang="zh-CN" altLang="en-US" sz="1200" dirty="0"/>
          </a:p>
        </p:txBody>
      </p:sp>
      <p:sp>
        <p:nvSpPr>
          <p:cNvPr id="11" name="文本框 16"/>
          <p:cNvSpPr txBox="1"/>
          <p:nvPr/>
        </p:nvSpPr>
        <p:spPr>
          <a:xfrm>
            <a:off x="855344" y="2021203"/>
            <a:ext cx="7443830" cy="584775"/>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iconv</a:t>
            </a:r>
            <a:r>
              <a:rPr lang="en-US" altLang="zh-CN" sz="1600" dirty="0">
                <a:latin typeface="+mn-ea"/>
              </a:rPr>
              <a:t> -f </a:t>
            </a:r>
            <a:r>
              <a:rPr lang="en-US" altLang="zh-CN" sz="1600" dirty="0" err="1">
                <a:latin typeface="+mn-ea"/>
              </a:rPr>
              <a:t>gbk</a:t>
            </a:r>
            <a:r>
              <a:rPr lang="en-US" altLang="zh-CN" sz="1600" dirty="0">
                <a:latin typeface="+mn-ea"/>
              </a:rPr>
              <a:t> -t utf8 MarketSales_edit.csv &gt; MarketSales_transform1.csv</a:t>
            </a:r>
          </a:p>
          <a:p>
            <a:r>
              <a:rPr lang="en-US" altLang="zh-CN" sz="1600" dirty="0">
                <a:latin typeface="+mn-ea"/>
              </a:rPr>
              <a:t>head -5 MarketSales_transform1.csv</a:t>
            </a:r>
            <a:endParaRPr lang="zh-CN" altLang="zh-CN" sz="1600" dirty="0">
              <a:latin typeface="+mn-ea"/>
            </a:endParaRPr>
          </a:p>
        </p:txBody>
      </p:sp>
      <p:pic>
        <p:nvPicPr>
          <p:cNvPr id="12" name="Picture 11"/>
          <p:cNvPicPr>
            <a:picLocks noChangeAspect="1"/>
          </p:cNvPicPr>
          <p:nvPr/>
        </p:nvPicPr>
        <p:blipFill>
          <a:blip r:embed="rId3">
            <a:grayscl/>
          </a:blip>
          <a:stretch>
            <a:fillRect/>
          </a:stretch>
        </p:blipFill>
        <p:spPr>
          <a:xfrm>
            <a:off x="855344" y="2701308"/>
            <a:ext cx="8713607" cy="365491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latin typeface="+mn-ea"/>
              </a:rPr>
              <a:t>6</a:t>
            </a:fld>
            <a:endParaRPr lang="zh-CN" altLang="en-US">
              <a:latin typeface="+mn-ea"/>
            </a:endParaRPr>
          </a:p>
        </p:txBody>
      </p:sp>
      <p:sp>
        <p:nvSpPr>
          <p:cNvPr id="5" name="内容占位符 2"/>
          <p:cNvSpPr>
            <a:spLocks noGrp="1"/>
          </p:cNvSpPr>
          <p:nvPr>
            <p:ph idx="4294967295"/>
          </p:nvPr>
        </p:nvSpPr>
        <p:spPr>
          <a:xfrm>
            <a:off x="761999" y="1570355"/>
            <a:ext cx="10368455" cy="380919"/>
          </a:xfrm>
          <a:prstGeom prst="rect">
            <a:avLst/>
          </a:prstGeom>
        </p:spPr>
        <p:txBody>
          <a:bodyPr>
            <a:noAutofit/>
          </a:bodyPr>
          <a:lstStyle/>
          <a:p>
            <a:pPr marL="0" indent="0">
              <a:lnSpc>
                <a:spcPct val="100000"/>
              </a:lnSpc>
              <a:buNone/>
            </a:pPr>
            <a:r>
              <a:rPr lang="zh-CN" altLang="zh-CN" sz="1800" dirty="0">
                <a:latin typeface="+mn-ea"/>
              </a:rPr>
              <a:t>删除第一行字段名称</a:t>
            </a:r>
            <a:endParaRPr lang="zh-CN" altLang="en-US" sz="1200" dirty="0">
              <a:latin typeface="+mn-ea"/>
            </a:endParaRPr>
          </a:p>
        </p:txBody>
      </p:sp>
      <p:sp>
        <p:nvSpPr>
          <p:cNvPr id="6" name="文本框 16"/>
          <p:cNvSpPr txBox="1"/>
          <p:nvPr/>
        </p:nvSpPr>
        <p:spPr>
          <a:xfrm>
            <a:off x="761999" y="2056635"/>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sudo</a:t>
            </a:r>
            <a:r>
              <a:rPr lang="en-US" altLang="zh-CN" sz="1600" dirty="0">
                <a:latin typeface="+mn-ea"/>
              </a:rPr>
              <a:t> sed -</a:t>
            </a:r>
            <a:r>
              <a:rPr lang="en-US" altLang="zh-CN" sz="1600" dirty="0" err="1">
                <a:latin typeface="+mn-ea"/>
              </a:rPr>
              <a:t>i</a:t>
            </a:r>
            <a:r>
              <a:rPr lang="en-US" altLang="zh-CN" sz="1600" dirty="0">
                <a:latin typeface="+mn-ea"/>
              </a:rPr>
              <a:t> '1d' MarketSales_transform1.csv</a:t>
            </a:r>
          </a:p>
        </p:txBody>
      </p:sp>
      <p:sp>
        <p:nvSpPr>
          <p:cNvPr id="10" name="内容占位符 2"/>
          <p:cNvSpPr txBox="1"/>
          <p:nvPr/>
        </p:nvSpPr>
        <p:spPr>
          <a:xfrm>
            <a:off x="761998" y="3441794"/>
            <a:ext cx="10368455" cy="380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dirty="0">
                <a:latin typeface="+mn-ea"/>
                <a:ea typeface="+mn-ea"/>
              </a:rPr>
              <a:t>在</a:t>
            </a:r>
            <a:r>
              <a:rPr lang="en-US" altLang="zh-CN" dirty="0">
                <a:latin typeface="+mn-ea"/>
                <a:ea typeface="+mn-ea"/>
              </a:rPr>
              <a:t>HDFS</a:t>
            </a:r>
            <a:r>
              <a:rPr lang="zh-CN" altLang="zh-CN" dirty="0">
                <a:latin typeface="+mn-ea"/>
                <a:ea typeface="+mn-ea"/>
              </a:rPr>
              <a:t>的根目录下面创建一个新的目录</a:t>
            </a:r>
            <a:r>
              <a:rPr lang="en-US" altLang="zh-CN" dirty="0">
                <a:latin typeface="+mn-ea"/>
                <a:ea typeface="+mn-ea"/>
              </a:rPr>
              <a:t>supermarket</a:t>
            </a:r>
            <a:r>
              <a:rPr lang="zh-CN" altLang="zh-CN" dirty="0">
                <a:latin typeface="+mn-ea"/>
                <a:ea typeface="+mn-ea"/>
              </a:rPr>
              <a:t>，并在这个目录下创建一个子目录</a:t>
            </a:r>
            <a:r>
              <a:rPr lang="en-US" altLang="zh-CN" dirty="0">
                <a:latin typeface="+mn-ea"/>
                <a:ea typeface="+mn-ea"/>
              </a:rPr>
              <a:t>dataset</a:t>
            </a:r>
            <a:r>
              <a:rPr lang="zh-CN" altLang="zh-CN" dirty="0">
                <a:latin typeface="+mn-ea"/>
                <a:ea typeface="+mn-ea"/>
              </a:rPr>
              <a:t>。</a:t>
            </a:r>
            <a:endParaRPr lang="zh-CN" altLang="en-US" dirty="0">
              <a:latin typeface="+mn-ea"/>
              <a:ea typeface="+mn-ea"/>
            </a:endParaRPr>
          </a:p>
        </p:txBody>
      </p:sp>
      <p:sp>
        <p:nvSpPr>
          <p:cNvPr id="11" name="文本框 16"/>
          <p:cNvSpPr txBox="1"/>
          <p:nvPr/>
        </p:nvSpPr>
        <p:spPr>
          <a:xfrm>
            <a:off x="761998" y="3898141"/>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cd /</a:t>
            </a:r>
            <a:r>
              <a:rPr lang="en-US" altLang="zh-CN" sz="1600" dirty="0" err="1">
                <a:latin typeface="+mn-ea"/>
              </a:rPr>
              <a:t>usr</a:t>
            </a:r>
            <a:r>
              <a:rPr lang="en-US" altLang="zh-CN" sz="1600" dirty="0">
                <a:latin typeface="+mn-ea"/>
              </a:rPr>
              <a:t>/local/</a:t>
            </a:r>
            <a:r>
              <a:rPr lang="en-US" altLang="zh-CN" sz="1600" dirty="0" err="1">
                <a:latin typeface="+mn-ea"/>
              </a:rPr>
              <a:t>hadoop</a:t>
            </a:r>
            <a:endParaRPr lang="zh-CN" altLang="zh-CN" sz="1600" dirty="0">
              <a:latin typeface="+mn-ea"/>
            </a:endParaRPr>
          </a:p>
          <a:p>
            <a:pPr>
              <a:lnSpc>
                <a:spcPct val="150000"/>
              </a:lnSpc>
            </a:pPr>
            <a:r>
              <a:rPr lang="en-US" altLang="zh-CN" sz="1600" dirty="0">
                <a:latin typeface="+mn-ea"/>
              </a:rPr>
              <a:t>./bin/</a:t>
            </a:r>
            <a:r>
              <a:rPr lang="en-US" altLang="zh-CN" sz="1600" dirty="0" err="1">
                <a:latin typeface="+mn-ea"/>
              </a:rPr>
              <a:t>hdfs</a:t>
            </a:r>
            <a:r>
              <a:rPr lang="en-US" altLang="zh-CN" sz="1600" dirty="0">
                <a:latin typeface="+mn-ea"/>
              </a:rPr>
              <a:t> </a:t>
            </a:r>
            <a:r>
              <a:rPr lang="en-US" altLang="zh-CN" sz="1600" dirty="0" err="1">
                <a:latin typeface="+mn-ea"/>
              </a:rPr>
              <a:t>dfs</a:t>
            </a:r>
            <a:r>
              <a:rPr lang="en-US" altLang="zh-CN" sz="1600" dirty="0">
                <a:latin typeface="+mn-ea"/>
              </a:rPr>
              <a:t> -</a:t>
            </a:r>
            <a:r>
              <a:rPr lang="en-US" altLang="zh-CN" sz="1600" dirty="0" err="1">
                <a:latin typeface="+mn-ea"/>
              </a:rPr>
              <a:t>mkdir</a:t>
            </a:r>
            <a:r>
              <a:rPr lang="en-US" altLang="zh-CN" sz="1600" dirty="0">
                <a:latin typeface="+mn-ea"/>
              </a:rPr>
              <a:t> -p /supermarket/dataset/</a:t>
            </a:r>
            <a:r>
              <a:rPr lang="en-US" altLang="zh-CN" sz="1600" dirty="0" err="1">
                <a:latin typeface="+mn-ea"/>
              </a:rPr>
              <a:t>user_log</a:t>
            </a:r>
            <a:endParaRPr lang="zh-CN" altLang="zh-CN" sz="1600" dirty="0">
              <a:latin typeface="+mn-ea"/>
            </a:endParaRPr>
          </a:p>
        </p:txBody>
      </p:sp>
      <p:sp>
        <p:nvSpPr>
          <p:cNvPr id="12" name="内容占位符 2"/>
          <p:cNvSpPr txBox="1"/>
          <p:nvPr/>
        </p:nvSpPr>
        <p:spPr>
          <a:xfrm>
            <a:off x="761998" y="4635756"/>
            <a:ext cx="10080000" cy="8173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zh-CN" dirty="0">
                <a:latin typeface="+mn-ea"/>
                <a:ea typeface="+mn-ea"/>
              </a:rPr>
              <a:t>把</a:t>
            </a:r>
            <a:r>
              <a:rPr lang="en-US" altLang="zh-CN" dirty="0">
                <a:latin typeface="+mn-ea"/>
                <a:ea typeface="+mn-ea"/>
              </a:rPr>
              <a:t>Linux</a:t>
            </a:r>
            <a:r>
              <a:rPr lang="zh-CN" altLang="zh-CN" dirty="0">
                <a:latin typeface="+mn-ea"/>
                <a:ea typeface="+mn-ea"/>
              </a:rPr>
              <a:t>本地文件系统中的</a:t>
            </a:r>
            <a:r>
              <a:rPr lang="en-US" altLang="zh-CN" dirty="0">
                <a:latin typeface="+mn-ea"/>
                <a:ea typeface="+mn-ea"/>
              </a:rPr>
              <a:t>MarketSales_transform1.csv</a:t>
            </a:r>
            <a:r>
              <a:rPr lang="zh-CN" altLang="zh-CN" dirty="0">
                <a:latin typeface="+mn-ea"/>
                <a:ea typeface="+mn-ea"/>
              </a:rPr>
              <a:t>上传到分布式文件系统</a:t>
            </a:r>
            <a:r>
              <a:rPr lang="en-US" altLang="zh-CN" dirty="0">
                <a:latin typeface="+mn-ea"/>
                <a:ea typeface="+mn-ea"/>
              </a:rPr>
              <a:t>HDFS</a:t>
            </a:r>
            <a:r>
              <a:rPr lang="zh-CN" altLang="zh-CN" dirty="0">
                <a:latin typeface="+mn-ea"/>
                <a:ea typeface="+mn-ea"/>
              </a:rPr>
              <a:t>的“</a:t>
            </a:r>
            <a:r>
              <a:rPr lang="en-US" altLang="zh-CN" dirty="0">
                <a:latin typeface="+mn-ea"/>
                <a:ea typeface="+mn-ea"/>
              </a:rPr>
              <a:t>/supermarket/dataset</a:t>
            </a:r>
            <a:r>
              <a:rPr lang="zh-CN" altLang="zh-CN" dirty="0">
                <a:latin typeface="+mn-ea"/>
                <a:ea typeface="+mn-ea"/>
              </a:rPr>
              <a:t>”目录下。</a:t>
            </a:r>
            <a:endParaRPr lang="zh-CN" altLang="en-US" dirty="0">
              <a:latin typeface="+mn-ea"/>
              <a:ea typeface="+mn-ea"/>
            </a:endParaRPr>
          </a:p>
        </p:txBody>
      </p:sp>
      <p:sp>
        <p:nvSpPr>
          <p:cNvPr id="15" name="文本框 16"/>
          <p:cNvSpPr txBox="1"/>
          <p:nvPr/>
        </p:nvSpPr>
        <p:spPr>
          <a:xfrm>
            <a:off x="761998" y="5727790"/>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./bin/</a:t>
            </a:r>
            <a:r>
              <a:rPr lang="en-US" altLang="zh-CN" sz="1600" dirty="0" err="1">
                <a:latin typeface="+mn-ea"/>
              </a:rPr>
              <a:t>hdfs</a:t>
            </a:r>
            <a:r>
              <a:rPr lang="en-US" altLang="zh-CN" sz="1600" dirty="0">
                <a:latin typeface="+mn-ea"/>
              </a:rPr>
              <a:t> </a:t>
            </a:r>
            <a:r>
              <a:rPr lang="en-US" altLang="zh-CN" sz="1600" dirty="0" err="1">
                <a:latin typeface="+mn-ea"/>
              </a:rPr>
              <a:t>dfs</a:t>
            </a:r>
            <a:r>
              <a:rPr lang="en-US" altLang="zh-CN" sz="1600" dirty="0">
                <a:latin typeface="+mn-ea"/>
              </a:rPr>
              <a:t> -put  </a:t>
            </a:r>
            <a:r>
              <a:rPr lang="en-US" altLang="zh-CN" sz="1600" dirty="0">
                <a:solidFill>
                  <a:srgbClr val="FF0000"/>
                </a:solidFill>
                <a:latin typeface="+mn-ea"/>
              </a:rPr>
              <a:t>/home/</a:t>
            </a:r>
            <a:r>
              <a:rPr lang="en-US" altLang="zh-CN" sz="1600" dirty="0" err="1">
                <a:solidFill>
                  <a:srgbClr val="FF0000"/>
                </a:solidFill>
                <a:latin typeface="+mn-ea"/>
              </a:rPr>
              <a:t>hadoop</a:t>
            </a:r>
            <a:r>
              <a:rPr lang="en-US" altLang="zh-CN" sz="1600" dirty="0">
                <a:solidFill>
                  <a:srgbClr val="FF0000"/>
                </a:solidFill>
                <a:latin typeface="+mn-ea"/>
              </a:rPr>
              <a:t>/data/MarketSales_transform1.csv</a:t>
            </a:r>
            <a:r>
              <a:rPr lang="en-US" altLang="zh-CN" sz="1600" dirty="0">
                <a:latin typeface="+mn-ea"/>
              </a:rPr>
              <a:t> /supermarket/dataset/</a:t>
            </a:r>
            <a:r>
              <a:rPr lang="en-US" altLang="zh-CN" sz="1600" dirty="0" err="1">
                <a:latin typeface="+mn-ea"/>
              </a:rPr>
              <a:t>user_log</a:t>
            </a:r>
            <a:endParaRPr lang="zh-CN" altLang="zh-CN" sz="1600" dirty="0">
              <a:latin typeface="+mn-ea"/>
            </a:endParaRPr>
          </a:p>
        </p:txBody>
      </p:sp>
      <p:sp>
        <p:nvSpPr>
          <p:cNvPr id="13" name="内容占位符 2"/>
          <p:cNvSpPr>
            <a:spLocks noGrp="1"/>
          </p:cNvSpPr>
          <p:nvPr/>
        </p:nvSpPr>
        <p:spPr>
          <a:xfrm>
            <a:off x="821411"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1.</a:t>
            </a:r>
            <a:r>
              <a:rPr lang="zh-CN" altLang="en-US" sz="1800" b="1" dirty="0">
                <a:latin typeface="+mn-ea"/>
                <a:ea typeface="+mn-ea"/>
              </a:rPr>
              <a:t>把数据集导入分布式文件系统</a:t>
            </a:r>
            <a:r>
              <a:rPr lang="en-US" altLang="zh-CN" sz="1800" b="1" dirty="0">
                <a:latin typeface="+mn-ea"/>
                <a:ea typeface="+mn-ea"/>
              </a:rPr>
              <a:t>HDFS</a:t>
            </a:r>
            <a:r>
              <a:rPr lang="zh-CN" altLang="en-US" sz="1800" b="1" dirty="0">
                <a:latin typeface="+mn-ea"/>
                <a:ea typeface="+mn-ea"/>
              </a:rPr>
              <a:t>中</a:t>
            </a:r>
          </a:p>
        </p:txBody>
      </p:sp>
      <p:sp>
        <p:nvSpPr>
          <p:cNvPr id="14"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a:extLst>
              <a:ext uri="{FF2B5EF4-FFF2-40B4-BE49-F238E27FC236}">
                <a16:creationId xmlns:a16="http://schemas.microsoft.com/office/drawing/2014/main" id="{61E99973-0A02-4B3F-B916-373375072FBB}"/>
              </a:ext>
            </a:extLst>
          </p:cNvPr>
          <p:cNvSpPr txBox="1">
            <a:spLocks/>
          </p:cNvSpPr>
          <p:nvPr/>
        </p:nvSpPr>
        <p:spPr>
          <a:xfrm>
            <a:off x="761998" y="2496798"/>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sz="1800" dirty="0">
                <a:latin typeface="+mn-ea"/>
              </a:rPr>
              <a:t>启动</a:t>
            </a:r>
            <a:r>
              <a:rPr lang="en-US" altLang="zh-CN" sz="1800" dirty="0" err="1">
                <a:latin typeface="+mn-ea"/>
              </a:rPr>
              <a:t>hadoop</a:t>
            </a:r>
            <a:r>
              <a:rPr lang="zh-CN" altLang="en-US" sz="1800" dirty="0">
                <a:latin typeface="+mn-ea"/>
              </a:rPr>
              <a:t>。</a:t>
            </a:r>
            <a:endParaRPr lang="zh-CN" altLang="en-US" sz="1200" dirty="0">
              <a:latin typeface="+mn-ea"/>
            </a:endParaRPr>
          </a:p>
        </p:txBody>
      </p:sp>
      <p:sp>
        <p:nvSpPr>
          <p:cNvPr id="17" name="文本框 16">
            <a:extLst>
              <a:ext uri="{FF2B5EF4-FFF2-40B4-BE49-F238E27FC236}">
                <a16:creationId xmlns:a16="http://schemas.microsoft.com/office/drawing/2014/main" id="{B6538C80-FC69-4CC0-9973-4B1FDDF1340B}"/>
              </a:ext>
            </a:extLst>
          </p:cNvPr>
          <p:cNvSpPr txBox="1"/>
          <p:nvPr/>
        </p:nvSpPr>
        <p:spPr>
          <a:xfrm>
            <a:off x="761998" y="2902373"/>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/usr/local/hadoop/sbin/start-all.sh</a:t>
            </a:r>
            <a:endParaRPr lang="zh-CN" altLang="zh-CN" sz="1600"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7</a:t>
            </a:fld>
            <a:endParaRPr lang="zh-CN" altLang="en-US"/>
          </a:p>
        </p:txBody>
      </p:sp>
      <p:sp>
        <p:nvSpPr>
          <p:cNvPr id="6" name="内容占位符 2"/>
          <p:cNvSpPr txBox="1"/>
          <p:nvPr/>
        </p:nvSpPr>
        <p:spPr>
          <a:xfrm>
            <a:off x="761999" y="1680718"/>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查看是否保存成功。</a:t>
            </a:r>
            <a:endParaRPr lang="zh-CN" altLang="en-US" sz="1200" dirty="0"/>
          </a:p>
        </p:txBody>
      </p:sp>
      <p:sp>
        <p:nvSpPr>
          <p:cNvPr id="7" name="文本框 16"/>
          <p:cNvSpPr txBox="1"/>
          <p:nvPr/>
        </p:nvSpPr>
        <p:spPr>
          <a:xfrm>
            <a:off x="761999" y="2300224"/>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./bin/</a:t>
            </a:r>
            <a:r>
              <a:rPr lang="en-US" altLang="zh-CN" sz="1600" dirty="0" err="1">
                <a:latin typeface="+mn-ea"/>
              </a:rPr>
              <a:t>hdfs</a:t>
            </a:r>
            <a:r>
              <a:rPr lang="en-US" altLang="zh-CN" sz="1600" dirty="0">
                <a:latin typeface="+mn-ea"/>
              </a:rPr>
              <a:t> </a:t>
            </a:r>
            <a:r>
              <a:rPr lang="en-US" altLang="zh-CN" sz="1600" dirty="0" err="1">
                <a:latin typeface="+mn-ea"/>
              </a:rPr>
              <a:t>dfs</a:t>
            </a:r>
            <a:r>
              <a:rPr lang="en-US" altLang="zh-CN" sz="1600" dirty="0">
                <a:latin typeface="+mn-ea"/>
              </a:rPr>
              <a:t> -cat /supermarket/dataset/</a:t>
            </a:r>
            <a:r>
              <a:rPr lang="en-US" altLang="zh-CN" sz="1600" dirty="0" err="1">
                <a:latin typeface="+mn-ea"/>
              </a:rPr>
              <a:t>user_log</a:t>
            </a:r>
            <a:r>
              <a:rPr lang="en-US" altLang="zh-CN" sz="1600" dirty="0">
                <a:latin typeface="+mn-ea"/>
              </a:rPr>
              <a:t>/MarketSales_transform1.csv | head -3</a:t>
            </a:r>
            <a:endParaRPr lang="zh-CN" altLang="zh-CN" sz="1600" dirty="0">
              <a:latin typeface="+mn-ea"/>
            </a:endParaRPr>
          </a:p>
        </p:txBody>
      </p:sp>
      <p:pic>
        <p:nvPicPr>
          <p:cNvPr id="8" name="Picture 7"/>
          <p:cNvPicPr>
            <a:picLocks noChangeAspect="1"/>
          </p:cNvPicPr>
          <p:nvPr/>
        </p:nvPicPr>
        <p:blipFill>
          <a:blip r:embed="rId3">
            <a:grayscl/>
          </a:blip>
          <a:stretch>
            <a:fillRect/>
          </a:stretch>
        </p:blipFill>
        <p:spPr>
          <a:xfrm>
            <a:off x="761999" y="2877364"/>
            <a:ext cx="10625191" cy="3302724"/>
          </a:xfrm>
          <a:prstGeom prst="rect">
            <a:avLst/>
          </a:prstGeom>
        </p:spPr>
      </p:pic>
      <p:sp>
        <p:nvSpPr>
          <p:cNvPr id="11" name="内容占位符 2"/>
          <p:cNvSpPr>
            <a:spLocks noGrp="1"/>
          </p:cNvSpPr>
          <p:nvPr/>
        </p:nvSpPr>
        <p:spPr>
          <a:xfrm>
            <a:off x="821411"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1.</a:t>
            </a:r>
            <a:r>
              <a:rPr lang="zh-CN" altLang="en-US" sz="1800" b="1" dirty="0"/>
              <a:t>把数据集导入分布式文件系统</a:t>
            </a:r>
            <a:r>
              <a:rPr lang="en-US" altLang="zh-CN" sz="1800" b="1" dirty="0"/>
              <a:t>HDFS</a:t>
            </a:r>
            <a:r>
              <a:rPr lang="zh-CN" altLang="en-US" sz="1800" b="1" dirty="0"/>
              <a:t>中</a:t>
            </a:r>
          </a:p>
        </p:txBody>
      </p:sp>
      <p:sp>
        <p:nvSpPr>
          <p:cNvPr id="12"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8</a:t>
            </a:fld>
            <a:endParaRPr lang="zh-CN" altLang="en-US">
              <a:latin typeface="+mn-ea"/>
            </a:endParaRPr>
          </a:p>
        </p:txBody>
      </p:sp>
      <p:sp>
        <p:nvSpPr>
          <p:cNvPr id="4"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2.</a:t>
            </a:r>
            <a:r>
              <a:rPr lang="zh-CN" altLang="en-US" sz="1800" b="1" dirty="0">
                <a:latin typeface="+mn-ea"/>
                <a:ea typeface="+mn-ea"/>
              </a:rPr>
              <a:t>在数据仓库</a:t>
            </a:r>
            <a:r>
              <a:rPr lang="en-US" altLang="zh-CN" sz="1800" b="1" dirty="0">
                <a:latin typeface="+mn-ea"/>
                <a:ea typeface="+mn-ea"/>
              </a:rPr>
              <a:t>Hive</a:t>
            </a:r>
            <a:r>
              <a:rPr lang="zh-CN" altLang="en-US" sz="1800" b="1" dirty="0">
                <a:latin typeface="+mn-ea"/>
                <a:ea typeface="+mn-ea"/>
              </a:rPr>
              <a:t>上创建数据库</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6" name="内容占位符 2"/>
          <p:cNvSpPr txBox="1"/>
          <p:nvPr/>
        </p:nvSpPr>
        <p:spPr>
          <a:xfrm>
            <a:off x="855343" y="1570355"/>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latin typeface="+mn-ea"/>
              </a:rPr>
              <a:t>启动</a:t>
            </a:r>
            <a:r>
              <a:rPr lang="en-US" altLang="zh-CN" sz="1800" dirty="0">
                <a:latin typeface="+mn-ea"/>
              </a:rPr>
              <a:t>MySQL</a:t>
            </a:r>
            <a:r>
              <a:rPr lang="zh-CN" altLang="zh-CN" sz="1800" dirty="0">
                <a:latin typeface="+mn-ea"/>
              </a:rPr>
              <a:t>和</a:t>
            </a:r>
            <a:r>
              <a:rPr lang="en-US" altLang="zh-CN" sz="1800" dirty="0">
                <a:latin typeface="+mn-ea"/>
              </a:rPr>
              <a:t>Hive</a:t>
            </a:r>
            <a:r>
              <a:rPr lang="zh-CN" altLang="zh-CN" sz="1800" dirty="0">
                <a:latin typeface="+mn-ea"/>
              </a:rPr>
              <a:t>。</a:t>
            </a:r>
            <a:endParaRPr lang="zh-CN" altLang="en-US" sz="1200" dirty="0">
              <a:latin typeface="+mn-ea"/>
            </a:endParaRPr>
          </a:p>
        </p:txBody>
      </p:sp>
      <p:sp>
        <p:nvSpPr>
          <p:cNvPr id="7" name="文本框 16"/>
          <p:cNvSpPr txBox="1"/>
          <p:nvPr/>
        </p:nvSpPr>
        <p:spPr>
          <a:xfrm>
            <a:off x="855343" y="1925874"/>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service </a:t>
            </a:r>
            <a:r>
              <a:rPr lang="en-US" altLang="zh-CN" sz="1600" dirty="0" err="1">
                <a:latin typeface="+mn-ea"/>
              </a:rPr>
              <a:t>mysql</a:t>
            </a:r>
            <a:r>
              <a:rPr lang="en-US" altLang="zh-CN" sz="1600" dirty="0">
                <a:latin typeface="+mn-ea"/>
              </a:rPr>
              <a:t> start</a:t>
            </a:r>
            <a:endParaRPr lang="zh-CN" altLang="zh-CN" sz="1600" dirty="0">
              <a:latin typeface="+mn-ea"/>
            </a:endParaRPr>
          </a:p>
          <a:p>
            <a:pPr>
              <a:lnSpc>
                <a:spcPct val="150000"/>
              </a:lnSpc>
            </a:pPr>
            <a:r>
              <a:rPr lang="en-US" altLang="zh-CN" sz="1600" dirty="0">
                <a:latin typeface="+mn-ea"/>
              </a:rPr>
              <a:t>hive</a:t>
            </a:r>
            <a:endParaRPr lang="zh-CN" altLang="zh-CN" sz="1600" dirty="0">
              <a:latin typeface="+mn-ea"/>
            </a:endParaRPr>
          </a:p>
        </p:txBody>
      </p:sp>
      <p:sp>
        <p:nvSpPr>
          <p:cNvPr id="8" name="内容占位符 2"/>
          <p:cNvSpPr txBox="1"/>
          <p:nvPr/>
        </p:nvSpPr>
        <p:spPr>
          <a:xfrm>
            <a:off x="855343" y="2772288"/>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latin typeface="+mn-ea"/>
              </a:rPr>
              <a:t>Hive</a:t>
            </a:r>
            <a:r>
              <a:rPr lang="zh-CN" altLang="zh-CN" sz="1800" dirty="0">
                <a:latin typeface="+mn-ea"/>
              </a:rPr>
              <a:t>中创建数据库</a:t>
            </a:r>
            <a:r>
              <a:rPr lang="en-US" altLang="zh-CN" sz="1800" dirty="0">
                <a:latin typeface="+mn-ea"/>
              </a:rPr>
              <a:t>supermarket</a:t>
            </a:r>
            <a:r>
              <a:rPr lang="zh-CN" altLang="zh-CN" sz="1800" dirty="0">
                <a:latin typeface="+mn-ea"/>
              </a:rPr>
              <a:t>并创建外部表。</a:t>
            </a:r>
          </a:p>
        </p:txBody>
      </p:sp>
      <p:sp>
        <p:nvSpPr>
          <p:cNvPr id="9" name="文本框 16"/>
          <p:cNvSpPr txBox="1"/>
          <p:nvPr/>
        </p:nvSpPr>
        <p:spPr>
          <a:xfrm>
            <a:off x="855344" y="3153207"/>
            <a:ext cx="10080000" cy="3416320"/>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create database supermarket;</a:t>
            </a:r>
            <a:endParaRPr lang="zh-CN" altLang="zh-CN" sz="1600" dirty="0">
              <a:latin typeface="+mn-ea"/>
            </a:endParaRPr>
          </a:p>
          <a:p>
            <a:pPr>
              <a:lnSpc>
                <a:spcPct val="150000"/>
              </a:lnSpc>
            </a:pPr>
            <a:r>
              <a:rPr lang="en-US" altLang="zh-CN" sz="1600" dirty="0">
                <a:latin typeface="+mn-ea"/>
              </a:rPr>
              <a:t>use supermarket;</a:t>
            </a:r>
            <a:endParaRPr lang="zh-CN" altLang="zh-CN" sz="1600" dirty="0">
              <a:latin typeface="+mn-ea"/>
            </a:endParaRPr>
          </a:p>
          <a:p>
            <a:pPr>
              <a:lnSpc>
                <a:spcPct val="150000"/>
              </a:lnSpc>
            </a:pPr>
            <a:r>
              <a:rPr lang="en-US" altLang="zh-CN" sz="1600" dirty="0">
                <a:latin typeface="+mn-ea"/>
              </a:rPr>
              <a:t>create external table </a:t>
            </a:r>
            <a:r>
              <a:rPr lang="en-US" altLang="zh-CN" sz="1600" dirty="0" err="1">
                <a:latin typeface="+mn-ea"/>
              </a:rPr>
              <a:t>supermarket.user_log</a:t>
            </a:r>
            <a:r>
              <a:rPr lang="en-US" altLang="zh-CN" sz="1600" dirty="0">
                <a:latin typeface="+mn-ea"/>
              </a:rPr>
              <a:t>(id STRING, </a:t>
            </a:r>
            <a:r>
              <a:rPr lang="en-US" altLang="zh-CN" sz="1600" dirty="0" err="1">
                <a:latin typeface="+mn-ea"/>
              </a:rPr>
              <a:t>itemcode</a:t>
            </a:r>
            <a:r>
              <a:rPr lang="en-US" altLang="zh-CN" sz="1600" dirty="0">
                <a:latin typeface="+mn-ea"/>
              </a:rPr>
              <a:t> STRING, </a:t>
            </a:r>
            <a:r>
              <a:rPr lang="en-US" altLang="zh-CN" sz="1600" dirty="0" err="1">
                <a:latin typeface="+mn-ea"/>
              </a:rPr>
              <a:t>itemname</a:t>
            </a:r>
            <a:r>
              <a:rPr lang="en-US" altLang="zh-CN" sz="1600" dirty="0">
                <a:latin typeface="+mn-ea"/>
              </a:rPr>
              <a:t> STRING, </a:t>
            </a:r>
            <a:r>
              <a:rPr lang="en-US" altLang="zh-CN" sz="1600" dirty="0" err="1">
                <a:latin typeface="+mn-ea"/>
              </a:rPr>
              <a:t>ficheno</a:t>
            </a:r>
            <a:r>
              <a:rPr lang="en-US" altLang="zh-CN" sz="1600" dirty="0">
                <a:latin typeface="+mn-ea"/>
              </a:rPr>
              <a:t> STRING, </a:t>
            </a:r>
            <a:r>
              <a:rPr lang="en-US" altLang="zh-CN" sz="1600" dirty="0" err="1">
                <a:latin typeface="+mn-ea"/>
              </a:rPr>
              <a:t>merchant_date</a:t>
            </a:r>
            <a:r>
              <a:rPr lang="en-US" altLang="zh-CN" sz="1600" dirty="0">
                <a:latin typeface="+mn-ea"/>
              </a:rPr>
              <a:t> STRING, amount DOUBLE, price DOUBLE, </a:t>
            </a:r>
            <a:r>
              <a:rPr lang="en-US" altLang="zh-CN" sz="1600" dirty="0" err="1">
                <a:latin typeface="+mn-ea"/>
              </a:rPr>
              <a:t>linenettotal</a:t>
            </a:r>
            <a:r>
              <a:rPr lang="en-US" altLang="zh-CN" sz="1600" dirty="0">
                <a:latin typeface="+mn-ea"/>
              </a:rPr>
              <a:t> DOUBLE, </a:t>
            </a:r>
            <a:r>
              <a:rPr lang="en-US" altLang="zh-CN" sz="1600" dirty="0" err="1">
                <a:latin typeface="+mn-ea"/>
              </a:rPr>
              <a:t>linenet</a:t>
            </a:r>
            <a:r>
              <a:rPr lang="en-US" altLang="zh-CN" sz="1600" dirty="0">
                <a:latin typeface="+mn-ea"/>
              </a:rPr>
              <a:t> DOUBLE, </a:t>
            </a:r>
            <a:r>
              <a:rPr lang="en-US" altLang="zh-CN" sz="1600" dirty="0" err="1">
                <a:latin typeface="+mn-ea"/>
              </a:rPr>
              <a:t>branchnr</a:t>
            </a:r>
            <a:r>
              <a:rPr lang="en-US" altLang="zh-CN" sz="1600" dirty="0">
                <a:latin typeface="+mn-ea"/>
              </a:rPr>
              <a:t> STRING, branch STRING, salesman STRING, city STRING, region STRING, latitude DOUBLE, longitude DOUBLE, </a:t>
            </a:r>
            <a:r>
              <a:rPr lang="en-US" altLang="zh-CN" sz="1600" dirty="0" err="1">
                <a:latin typeface="+mn-ea"/>
              </a:rPr>
              <a:t>clientcode</a:t>
            </a:r>
            <a:r>
              <a:rPr lang="en-US" altLang="zh-CN" sz="1600" dirty="0">
                <a:latin typeface="+mn-ea"/>
              </a:rPr>
              <a:t> STRING, </a:t>
            </a:r>
            <a:r>
              <a:rPr lang="en-US" altLang="zh-CN" sz="1600" dirty="0" err="1">
                <a:latin typeface="+mn-ea"/>
              </a:rPr>
              <a:t>clientname</a:t>
            </a:r>
            <a:r>
              <a:rPr lang="en-US" altLang="zh-CN" sz="1600" dirty="0">
                <a:latin typeface="+mn-ea"/>
              </a:rPr>
              <a:t> STRING, </a:t>
            </a:r>
            <a:r>
              <a:rPr lang="en-US" altLang="zh-CN" sz="1600" dirty="0" err="1">
                <a:latin typeface="+mn-ea"/>
              </a:rPr>
              <a:t>brandcode</a:t>
            </a:r>
            <a:r>
              <a:rPr lang="en-US" altLang="zh-CN" sz="1600" dirty="0">
                <a:latin typeface="+mn-ea"/>
              </a:rPr>
              <a:t> STRING, brand STRING, </a:t>
            </a:r>
            <a:r>
              <a:rPr lang="en-US" altLang="zh-CN" sz="1600" dirty="0" err="1">
                <a:latin typeface="+mn-ea"/>
              </a:rPr>
              <a:t>category_I</a:t>
            </a:r>
            <a:r>
              <a:rPr lang="en-US" altLang="zh-CN" sz="1600" dirty="0">
                <a:latin typeface="+mn-ea"/>
              </a:rPr>
              <a:t> STRING, </a:t>
            </a:r>
            <a:r>
              <a:rPr lang="en-US" altLang="zh-CN" sz="1600" dirty="0" err="1">
                <a:latin typeface="+mn-ea"/>
              </a:rPr>
              <a:t>category_II</a:t>
            </a:r>
            <a:r>
              <a:rPr lang="en-US" altLang="zh-CN" sz="1600" dirty="0">
                <a:latin typeface="+mn-ea"/>
              </a:rPr>
              <a:t> STRING, </a:t>
            </a:r>
            <a:r>
              <a:rPr lang="en-US" altLang="zh-CN" sz="1600" dirty="0" err="1">
                <a:latin typeface="+mn-ea"/>
              </a:rPr>
              <a:t>category_III</a:t>
            </a:r>
            <a:r>
              <a:rPr lang="en-US" altLang="zh-CN" sz="1600" dirty="0">
                <a:latin typeface="+mn-ea"/>
              </a:rPr>
              <a:t> STRING, </a:t>
            </a:r>
            <a:r>
              <a:rPr lang="en-US" altLang="zh-CN" sz="1600" dirty="0" err="1">
                <a:latin typeface="+mn-ea"/>
              </a:rPr>
              <a:t>startdate</a:t>
            </a:r>
            <a:r>
              <a:rPr lang="en-US" altLang="zh-CN" sz="1600" dirty="0">
                <a:latin typeface="+mn-ea"/>
              </a:rPr>
              <a:t> STRING, </a:t>
            </a:r>
            <a:r>
              <a:rPr lang="en-US" altLang="zh-CN" sz="1600" dirty="0" err="1">
                <a:latin typeface="+mn-ea"/>
              </a:rPr>
              <a:t>enddate</a:t>
            </a:r>
            <a:r>
              <a:rPr lang="en-US" altLang="zh-CN" sz="1600" dirty="0">
                <a:latin typeface="+mn-ea"/>
              </a:rPr>
              <a:t> STRING, sex STRING) ROW FORMAT DELIMITED FIELDS TERMINATED BY ',' STORED AS TEXTFILE LOCATION '/supermarket/dataset/</a:t>
            </a:r>
            <a:r>
              <a:rPr lang="en-US" altLang="zh-CN" sz="1600" dirty="0" err="1">
                <a:latin typeface="+mn-ea"/>
              </a:rPr>
              <a:t>user_log</a:t>
            </a:r>
            <a:r>
              <a:rPr lang="en-US" altLang="zh-CN" sz="1600" dirty="0">
                <a:latin typeface="+mn-ea"/>
              </a:rPr>
              <a:t>';</a:t>
            </a:r>
            <a:endParaRPr lang="zh-CN" altLang="zh-CN" sz="1600"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9</a:t>
            </a:fld>
            <a:endParaRPr lang="zh-CN" altLang="en-US"/>
          </a:p>
        </p:txBody>
      </p:sp>
      <p:sp>
        <p:nvSpPr>
          <p:cNvPr id="5" name="内容占位符 2"/>
          <p:cNvSpPr txBox="1"/>
          <p:nvPr/>
        </p:nvSpPr>
        <p:spPr>
          <a:xfrm>
            <a:off x="855345" y="1632706"/>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zh-CN" altLang="en-US" sz="1800" dirty="0"/>
              <a:t>创建外部表成功</a:t>
            </a:r>
            <a:endParaRPr lang="zh-CN" altLang="en-US" sz="1200" dirty="0"/>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a:t>
            </a:r>
            <a:r>
              <a:rPr lang="zh-CN" altLang="en-US" sz="1800" b="1" dirty="0"/>
              <a:t>在数据仓库</a:t>
            </a:r>
            <a:r>
              <a:rPr lang="en-US" altLang="zh-CN" sz="1800" b="1" dirty="0"/>
              <a:t>Hive</a:t>
            </a:r>
            <a:r>
              <a:rPr lang="zh-CN" altLang="en-US" sz="1800" b="1" dirty="0"/>
              <a:t>上创建数据库</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10" name="Picture 9"/>
          <p:cNvPicPr/>
          <p:nvPr/>
        </p:nvPicPr>
        <p:blipFill>
          <a:blip r:embed="rId3"/>
          <a:stretch>
            <a:fillRect/>
          </a:stretch>
        </p:blipFill>
        <p:spPr>
          <a:xfrm>
            <a:off x="855345" y="2225836"/>
            <a:ext cx="10080000" cy="228310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10</a:t>
            </a:fld>
            <a:endParaRPr lang="zh-CN" altLang="en-US"/>
          </a:p>
        </p:txBody>
      </p:sp>
      <p:sp>
        <p:nvSpPr>
          <p:cNvPr id="4"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a:t>
            </a:r>
            <a:r>
              <a:rPr lang="zh-CN" altLang="en-US" sz="1800" b="1" dirty="0"/>
              <a:t>使用</a:t>
            </a:r>
            <a:r>
              <a:rPr lang="en-US" altLang="zh-CN" sz="1800" b="1" dirty="0"/>
              <a:t>Hive</a:t>
            </a:r>
            <a:r>
              <a:rPr lang="zh-CN" altLang="en-US" sz="1800" b="1" dirty="0"/>
              <a:t>查询分析</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5343" y="1536739"/>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查询总数据量。</a:t>
            </a:r>
            <a:endParaRPr lang="zh-CN" altLang="en-US" sz="1200" dirty="0"/>
          </a:p>
        </p:txBody>
      </p:sp>
      <p:sp>
        <p:nvSpPr>
          <p:cNvPr id="7" name="文本框 16"/>
          <p:cNvSpPr txBox="1"/>
          <p:nvPr/>
        </p:nvSpPr>
        <p:spPr>
          <a:xfrm>
            <a:off x="855343" y="2033903"/>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select count(*) from </a:t>
            </a:r>
            <a:r>
              <a:rPr lang="en-US" altLang="zh-CN" sz="1600" dirty="0" err="1">
                <a:latin typeface="+mn-ea"/>
              </a:rPr>
              <a:t>user_log</a:t>
            </a:r>
            <a:r>
              <a:rPr lang="en-US" altLang="zh-CN" sz="1600" dirty="0">
                <a:latin typeface="+mn-ea"/>
              </a:rPr>
              <a:t>;</a:t>
            </a:r>
            <a:endParaRPr lang="zh-CN" altLang="zh-CN" sz="1600" dirty="0">
              <a:latin typeface="+mn-ea"/>
            </a:endParaRPr>
          </a:p>
        </p:txBody>
      </p:sp>
      <p:pic>
        <p:nvPicPr>
          <p:cNvPr id="10" name="Picture 9"/>
          <p:cNvPicPr/>
          <p:nvPr/>
        </p:nvPicPr>
        <p:blipFill>
          <a:blip r:embed="rId3"/>
          <a:stretch>
            <a:fillRect/>
          </a:stretch>
        </p:blipFill>
        <p:spPr>
          <a:xfrm>
            <a:off x="855342" y="2488702"/>
            <a:ext cx="6909723" cy="411705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11</a:t>
            </a:fld>
            <a:endParaRPr lang="zh-CN" altLang="en-US"/>
          </a:p>
        </p:txBody>
      </p:sp>
      <p:sp>
        <p:nvSpPr>
          <p:cNvPr id="4" name="内容占位符 2"/>
          <p:cNvSpPr txBox="1"/>
          <p:nvPr/>
        </p:nvSpPr>
        <p:spPr>
          <a:xfrm>
            <a:off x="855343" y="1469301"/>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t>查询超市大类。</a:t>
            </a:r>
          </a:p>
        </p:txBody>
      </p:sp>
      <p:sp>
        <p:nvSpPr>
          <p:cNvPr id="5" name="文本框 16"/>
          <p:cNvSpPr txBox="1"/>
          <p:nvPr/>
        </p:nvSpPr>
        <p:spPr>
          <a:xfrm>
            <a:off x="855343" y="1899026"/>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select distinct </a:t>
            </a:r>
            <a:r>
              <a:rPr lang="en-US" altLang="zh-CN" sz="1600" dirty="0" err="1">
                <a:latin typeface="+mn-ea"/>
              </a:rPr>
              <a:t>category_I</a:t>
            </a:r>
            <a:r>
              <a:rPr lang="en-US" altLang="zh-CN" sz="1600" dirty="0">
                <a:latin typeface="+mn-ea"/>
              </a:rPr>
              <a:t> from </a:t>
            </a:r>
            <a:r>
              <a:rPr lang="en-US" altLang="zh-CN" sz="1600" dirty="0" err="1">
                <a:latin typeface="+mn-ea"/>
              </a:rPr>
              <a:t>user_log</a:t>
            </a:r>
            <a:r>
              <a:rPr lang="en-US" altLang="zh-CN" sz="1600" dirty="0">
                <a:latin typeface="+mn-ea"/>
              </a:rPr>
              <a:t>;</a:t>
            </a:r>
            <a:endParaRPr lang="zh-CN" altLang="zh-CN" sz="1600" dirty="0">
              <a:latin typeface="+mn-ea"/>
            </a:endParaRPr>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a:t>
            </a:r>
            <a:r>
              <a:rPr lang="zh-CN" altLang="en-US" sz="1800" b="1" dirty="0"/>
              <a:t>使用</a:t>
            </a:r>
            <a:r>
              <a:rPr lang="en-US" altLang="zh-CN" sz="1800" b="1" dirty="0"/>
              <a:t>Hive</a:t>
            </a:r>
            <a:r>
              <a:rPr lang="zh-CN" altLang="en-US" sz="1800" b="1" dirty="0"/>
              <a:t>查询分析</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10" name="Picture 9"/>
          <p:cNvPicPr/>
          <p:nvPr/>
        </p:nvPicPr>
        <p:blipFill>
          <a:blip r:embed="rId3"/>
          <a:stretch>
            <a:fillRect/>
          </a:stretch>
        </p:blipFill>
        <p:spPr>
          <a:xfrm>
            <a:off x="5069191" y="920442"/>
            <a:ext cx="5956957" cy="5714333"/>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12</a:t>
            </a:fld>
            <a:endParaRPr lang="zh-CN" altLang="en-US"/>
          </a:p>
        </p:txBody>
      </p:sp>
      <p:sp>
        <p:nvSpPr>
          <p:cNvPr id="4" name="内容占位符 2"/>
          <p:cNvSpPr txBox="1"/>
          <p:nvPr/>
        </p:nvSpPr>
        <p:spPr>
          <a:xfrm>
            <a:off x="855343" y="1544955"/>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t>查询会员数量。</a:t>
            </a:r>
          </a:p>
        </p:txBody>
      </p:sp>
      <p:sp>
        <p:nvSpPr>
          <p:cNvPr id="5" name="文本框 16"/>
          <p:cNvSpPr txBox="1"/>
          <p:nvPr/>
        </p:nvSpPr>
        <p:spPr>
          <a:xfrm>
            <a:off x="855343" y="2050334"/>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select count(distinct </a:t>
            </a:r>
            <a:r>
              <a:rPr lang="en-US" altLang="zh-CN" sz="1600" dirty="0" err="1">
                <a:latin typeface="+mn-ea"/>
              </a:rPr>
              <a:t>ficheno</a:t>
            </a:r>
            <a:r>
              <a:rPr lang="en-US" altLang="zh-CN" sz="1600" dirty="0">
                <a:latin typeface="+mn-ea"/>
              </a:rPr>
              <a:t>) from </a:t>
            </a:r>
            <a:r>
              <a:rPr lang="en-US" altLang="zh-CN" sz="1600" dirty="0" err="1">
                <a:latin typeface="+mn-ea"/>
              </a:rPr>
              <a:t>user_log</a:t>
            </a:r>
            <a:r>
              <a:rPr lang="en-US" altLang="zh-CN" sz="1600" dirty="0">
                <a:latin typeface="+mn-ea"/>
              </a:rPr>
              <a:t>;</a:t>
            </a:r>
            <a:endParaRPr lang="zh-CN" altLang="zh-CN" sz="1600" dirty="0">
              <a:latin typeface="+mn-ea"/>
            </a:endParaRPr>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a:t>
            </a:r>
            <a:r>
              <a:rPr lang="zh-CN" altLang="en-US" sz="1800" b="1" dirty="0"/>
              <a:t>使用</a:t>
            </a:r>
            <a:r>
              <a:rPr lang="en-US" altLang="zh-CN" sz="1800" b="1" dirty="0"/>
              <a:t>Hive</a:t>
            </a:r>
            <a:r>
              <a:rPr lang="zh-CN" altLang="en-US" sz="1800" b="1" dirty="0"/>
              <a:t>查询分析</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9" name="Picture 8"/>
          <p:cNvPicPr/>
          <p:nvPr/>
        </p:nvPicPr>
        <p:blipFill>
          <a:blip r:embed="rId3"/>
          <a:stretch>
            <a:fillRect/>
          </a:stretch>
        </p:blipFill>
        <p:spPr>
          <a:xfrm>
            <a:off x="855342" y="2513348"/>
            <a:ext cx="7106243" cy="410666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4" name="内容占位符 2"/>
          <p:cNvSpPr txBox="1"/>
          <p:nvPr/>
        </p:nvSpPr>
        <p:spPr>
          <a:xfrm>
            <a:off x="855343" y="1472136"/>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t>带条件的查询</a:t>
            </a:r>
          </a:p>
        </p:txBody>
      </p:sp>
      <p:sp>
        <p:nvSpPr>
          <p:cNvPr id="5" name="文本框 16"/>
          <p:cNvSpPr txBox="1"/>
          <p:nvPr/>
        </p:nvSpPr>
        <p:spPr>
          <a:xfrm>
            <a:off x="855343" y="1904697"/>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distinct </a:t>
            </a:r>
            <a:r>
              <a:rPr lang="en-US" altLang="zh-CN" sz="1600" dirty="0" err="1">
                <a:latin typeface="+mn-ea"/>
              </a:rPr>
              <a:t>category_II</a:t>
            </a:r>
            <a:r>
              <a:rPr lang="en-US" altLang="zh-CN" sz="1600" dirty="0">
                <a:latin typeface="+mn-ea"/>
              </a:rPr>
              <a:t> from </a:t>
            </a:r>
            <a:r>
              <a:rPr lang="en-US" altLang="zh-CN" sz="1600" dirty="0" err="1">
                <a:latin typeface="+mn-ea"/>
              </a:rPr>
              <a:t>user_log</a:t>
            </a:r>
            <a:r>
              <a:rPr lang="en-US" altLang="zh-CN" sz="1600" dirty="0">
                <a:latin typeface="+mn-ea"/>
              </a:rPr>
              <a:t> where </a:t>
            </a:r>
            <a:r>
              <a:rPr lang="en-US" altLang="zh-CN" sz="1600" dirty="0" err="1">
                <a:latin typeface="+mn-ea"/>
              </a:rPr>
              <a:t>category_I</a:t>
            </a:r>
            <a:r>
              <a:rPr lang="en-US" altLang="zh-CN" sz="1600" dirty="0">
                <a:latin typeface="+mn-ea"/>
              </a:rPr>
              <a:t>='FOOD';</a:t>
            </a:r>
          </a:p>
          <a:p>
            <a:pPr>
              <a:lnSpc>
                <a:spcPct val="150000"/>
              </a:lnSpc>
            </a:pPr>
            <a:r>
              <a:rPr lang="en-US" altLang="zh-CN" sz="1600" dirty="0">
                <a:latin typeface="+mn-ea"/>
              </a:rPr>
              <a:t>select distinct </a:t>
            </a:r>
            <a:r>
              <a:rPr lang="en-US" altLang="zh-CN" sz="1600" dirty="0" err="1">
                <a:latin typeface="+mn-ea"/>
              </a:rPr>
              <a:t>category_II</a:t>
            </a:r>
            <a:r>
              <a:rPr lang="en-US" altLang="zh-CN" sz="1600" dirty="0">
                <a:latin typeface="+mn-ea"/>
              </a:rPr>
              <a:t> from </a:t>
            </a:r>
            <a:r>
              <a:rPr lang="en-US" altLang="zh-CN" sz="1600" dirty="0" err="1">
                <a:latin typeface="+mn-ea"/>
              </a:rPr>
              <a:t>user_log</a:t>
            </a:r>
            <a:r>
              <a:rPr lang="en-US" altLang="zh-CN" sz="1600" dirty="0">
                <a:latin typeface="+mn-ea"/>
              </a:rPr>
              <a:t> where </a:t>
            </a:r>
            <a:r>
              <a:rPr lang="en-US" altLang="zh-CN" sz="1600" dirty="0" err="1">
                <a:latin typeface="+mn-ea"/>
              </a:rPr>
              <a:t>category_I</a:t>
            </a:r>
            <a:r>
              <a:rPr lang="en-US" altLang="zh-CN" sz="1600" dirty="0">
                <a:latin typeface="+mn-ea"/>
              </a:rPr>
              <a:t>='DRINK';</a:t>
            </a:r>
            <a:endParaRPr lang="zh-CN" altLang="zh-CN" sz="1600" dirty="0">
              <a:latin typeface="+mn-ea"/>
            </a:endParaRPr>
          </a:p>
        </p:txBody>
      </p:sp>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a:t>
            </a:r>
            <a:r>
              <a:rPr lang="zh-CN" altLang="en-US" sz="1800" b="1" dirty="0"/>
              <a:t>使用</a:t>
            </a:r>
            <a:r>
              <a:rPr lang="en-US" altLang="zh-CN" sz="1800" b="1" dirty="0"/>
              <a:t>Hive</a:t>
            </a:r>
            <a:r>
              <a:rPr lang="zh-CN" altLang="en-US" sz="1800" b="1" dirty="0"/>
              <a:t>查询分析</a:t>
            </a: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14" name="Picture 13"/>
          <p:cNvPicPr/>
          <p:nvPr/>
        </p:nvPicPr>
        <p:blipFill>
          <a:blip r:embed="rId3"/>
          <a:stretch>
            <a:fillRect/>
          </a:stretch>
        </p:blipFill>
        <p:spPr>
          <a:xfrm>
            <a:off x="855343" y="2840862"/>
            <a:ext cx="4105910" cy="3880485"/>
          </a:xfrm>
          <a:prstGeom prst="rect">
            <a:avLst/>
          </a:prstGeom>
        </p:spPr>
      </p:pic>
      <p:pic>
        <p:nvPicPr>
          <p:cNvPr id="15" name="Picture 14"/>
          <p:cNvPicPr/>
          <p:nvPr/>
        </p:nvPicPr>
        <p:blipFill>
          <a:blip r:embed="rId4"/>
          <a:stretch>
            <a:fillRect/>
          </a:stretch>
        </p:blipFill>
        <p:spPr>
          <a:xfrm>
            <a:off x="5208368" y="2840862"/>
            <a:ext cx="5687122" cy="388048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3.4.1</a:t>
            </a:r>
            <a:r>
              <a:rPr lang="zh-CN" altLang="zh-CN" dirty="0"/>
              <a:t>基于</a:t>
            </a:r>
            <a:r>
              <a:rPr lang="en-US" altLang="zh-CN" dirty="0" err="1"/>
              <a:t>Hive+MySQL+Sqoop</a:t>
            </a:r>
            <a:r>
              <a:rPr lang="zh-CN" altLang="zh-CN" dirty="0"/>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14</a:t>
            </a:fld>
            <a:endParaRPr lang="zh-CN" altLang="en-US"/>
          </a:p>
        </p:txBody>
      </p:sp>
      <p:sp>
        <p:nvSpPr>
          <p:cNvPr id="4"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4.</a:t>
            </a:r>
            <a:r>
              <a:rPr lang="zh-CN" altLang="en-US" sz="1800" b="1" dirty="0"/>
              <a:t>用</a:t>
            </a:r>
            <a:r>
              <a:rPr lang="en-US" altLang="zh-CN" sz="1800" b="1" dirty="0" err="1"/>
              <a:t>Sqoop</a:t>
            </a:r>
            <a:r>
              <a:rPr lang="zh-CN" altLang="en-US" sz="1800" b="1" dirty="0"/>
              <a:t>将数据从</a:t>
            </a:r>
            <a:r>
              <a:rPr lang="en-US" altLang="zh-CN" sz="1800" b="1" dirty="0"/>
              <a:t>Hive</a:t>
            </a:r>
            <a:r>
              <a:rPr lang="zh-CN" altLang="en-US" sz="1800" b="1" dirty="0"/>
              <a:t>导入</a:t>
            </a:r>
            <a:r>
              <a:rPr lang="en-US" altLang="zh-CN" sz="1800" b="1" dirty="0"/>
              <a:t>MySQL</a:t>
            </a:r>
            <a:endParaRPr lang="zh-CN" altLang="en-US" sz="1800" b="1" dirty="0"/>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5343" y="1570355"/>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创建临时表。</a:t>
            </a:r>
            <a:endParaRPr lang="zh-CN" altLang="en-US" sz="1200" dirty="0"/>
          </a:p>
        </p:txBody>
      </p:sp>
      <p:sp>
        <p:nvSpPr>
          <p:cNvPr id="7" name="文本框 16"/>
          <p:cNvSpPr txBox="1"/>
          <p:nvPr/>
        </p:nvSpPr>
        <p:spPr>
          <a:xfrm>
            <a:off x="855343" y="2135838"/>
            <a:ext cx="10080000" cy="2308324"/>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create table </a:t>
            </a:r>
            <a:r>
              <a:rPr lang="en-US" altLang="zh-CN" sz="1600" dirty="0" err="1">
                <a:latin typeface="+mn-ea"/>
              </a:rPr>
              <a:t>supermarket.inner_user_log</a:t>
            </a:r>
            <a:r>
              <a:rPr lang="en-US" altLang="zh-CN" sz="1600" dirty="0">
                <a:latin typeface="+mn-ea"/>
              </a:rPr>
              <a:t>(id STRING, </a:t>
            </a:r>
            <a:r>
              <a:rPr lang="en-US" altLang="zh-CN" sz="1600" dirty="0" err="1">
                <a:latin typeface="+mn-ea"/>
              </a:rPr>
              <a:t>itemcode</a:t>
            </a:r>
            <a:r>
              <a:rPr lang="en-US" altLang="zh-CN" sz="1600" dirty="0">
                <a:latin typeface="+mn-ea"/>
              </a:rPr>
              <a:t> STRING, </a:t>
            </a:r>
            <a:r>
              <a:rPr lang="en-US" altLang="zh-CN" sz="1600" dirty="0" err="1">
                <a:latin typeface="+mn-ea"/>
              </a:rPr>
              <a:t>itemname</a:t>
            </a:r>
            <a:r>
              <a:rPr lang="en-US" altLang="zh-CN" sz="1600" dirty="0">
                <a:latin typeface="+mn-ea"/>
              </a:rPr>
              <a:t> STRING, </a:t>
            </a:r>
            <a:r>
              <a:rPr lang="en-US" altLang="zh-CN" sz="1600" dirty="0" err="1">
                <a:latin typeface="+mn-ea"/>
              </a:rPr>
              <a:t>ficheno</a:t>
            </a:r>
            <a:r>
              <a:rPr lang="en-US" altLang="zh-CN" sz="1600" dirty="0">
                <a:latin typeface="+mn-ea"/>
              </a:rPr>
              <a:t> STRING, </a:t>
            </a:r>
            <a:r>
              <a:rPr lang="en-US" altLang="zh-CN" sz="1600" dirty="0" err="1">
                <a:latin typeface="+mn-ea"/>
              </a:rPr>
              <a:t>merchant_date</a:t>
            </a:r>
            <a:r>
              <a:rPr lang="en-US" altLang="zh-CN" sz="1600" dirty="0">
                <a:latin typeface="+mn-ea"/>
              </a:rPr>
              <a:t> STRING, amount DOUBLE, price DOUBLE, </a:t>
            </a:r>
            <a:r>
              <a:rPr lang="en-US" altLang="zh-CN" sz="1600" dirty="0" err="1">
                <a:latin typeface="+mn-ea"/>
              </a:rPr>
              <a:t>linenettotal</a:t>
            </a:r>
            <a:r>
              <a:rPr lang="en-US" altLang="zh-CN" sz="1600" dirty="0">
                <a:latin typeface="+mn-ea"/>
              </a:rPr>
              <a:t> DOUBLE, </a:t>
            </a:r>
            <a:r>
              <a:rPr lang="en-US" altLang="zh-CN" sz="1600" dirty="0" err="1">
                <a:latin typeface="+mn-ea"/>
              </a:rPr>
              <a:t>linenet</a:t>
            </a:r>
            <a:r>
              <a:rPr lang="en-US" altLang="zh-CN" sz="1600" dirty="0">
                <a:latin typeface="+mn-ea"/>
              </a:rPr>
              <a:t> DOUBLE, </a:t>
            </a:r>
            <a:r>
              <a:rPr lang="en-US" altLang="zh-CN" sz="1600" dirty="0" err="1">
                <a:latin typeface="+mn-ea"/>
              </a:rPr>
              <a:t>branchnr</a:t>
            </a:r>
            <a:r>
              <a:rPr lang="en-US" altLang="zh-CN" sz="1600" dirty="0">
                <a:latin typeface="+mn-ea"/>
              </a:rPr>
              <a:t> STRING, branch STRING, salesman STRING, city STRING, region STRING, latitude DOUBLE, longitude DOUBLE, </a:t>
            </a:r>
            <a:r>
              <a:rPr lang="en-US" altLang="zh-CN" sz="1600" dirty="0" err="1">
                <a:latin typeface="+mn-ea"/>
              </a:rPr>
              <a:t>clientcode</a:t>
            </a:r>
            <a:r>
              <a:rPr lang="en-US" altLang="zh-CN" sz="1600" dirty="0">
                <a:latin typeface="+mn-ea"/>
              </a:rPr>
              <a:t> STRING, </a:t>
            </a:r>
            <a:r>
              <a:rPr lang="en-US" altLang="zh-CN" sz="1600" dirty="0" err="1">
                <a:latin typeface="+mn-ea"/>
              </a:rPr>
              <a:t>clientname</a:t>
            </a:r>
            <a:r>
              <a:rPr lang="en-US" altLang="zh-CN" sz="1600" dirty="0">
                <a:latin typeface="+mn-ea"/>
              </a:rPr>
              <a:t> STRING, </a:t>
            </a:r>
            <a:r>
              <a:rPr lang="en-US" altLang="zh-CN" sz="1600" dirty="0" err="1">
                <a:latin typeface="+mn-ea"/>
              </a:rPr>
              <a:t>brandcode</a:t>
            </a:r>
            <a:r>
              <a:rPr lang="en-US" altLang="zh-CN" sz="1600" dirty="0">
                <a:latin typeface="+mn-ea"/>
              </a:rPr>
              <a:t> STRING, brand STRING, </a:t>
            </a:r>
            <a:r>
              <a:rPr lang="en-US" altLang="zh-CN" sz="1600" dirty="0" err="1">
                <a:latin typeface="+mn-ea"/>
              </a:rPr>
              <a:t>category_I</a:t>
            </a:r>
            <a:r>
              <a:rPr lang="en-US" altLang="zh-CN" sz="1600" dirty="0">
                <a:latin typeface="+mn-ea"/>
              </a:rPr>
              <a:t> STRING, </a:t>
            </a:r>
            <a:r>
              <a:rPr lang="en-US" altLang="zh-CN" sz="1600" dirty="0" err="1">
                <a:latin typeface="+mn-ea"/>
              </a:rPr>
              <a:t>category_II</a:t>
            </a:r>
            <a:r>
              <a:rPr lang="en-US" altLang="zh-CN" sz="1600" dirty="0">
                <a:latin typeface="+mn-ea"/>
              </a:rPr>
              <a:t> STRING, </a:t>
            </a:r>
            <a:r>
              <a:rPr lang="en-US" altLang="zh-CN" sz="1600" dirty="0" err="1">
                <a:latin typeface="+mn-ea"/>
              </a:rPr>
              <a:t>category_III</a:t>
            </a:r>
            <a:r>
              <a:rPr lang="en-US" altLang="zh-CN" sz="1600" dirty="0">
                <a:latin typeface="+mn-ea"/>
              </a:rPr>
              <a:t> STRING, </a:t>
            </a:r>
            <a:r>
              <a:rPr lang="en-US" altLang="zh-CN" sz="1600" dirty="0" err="1">
                <a:latin typeface="+mn-ea"/>
              </a:rPr>
              <a:t>startdate</a:t>
            </a:r>
            <a:r>
              <a:rPr lang="en-US" altLang="zh-CN" sz="1600" dirty="0">
                <a:latin typeface="+mn-ea"/>
              </a:rPr>
              <a:t> STRING, </a:t>
            </a:r>
            <a:r>
              <a:rPr lang="en-US" altLang="zh-CN" sz="1600" dirty="0" err="1">
                <a:latin typeface="+mn-ea"/>
              </a:rPr>
              <a:t>enddate</a:t>
            </a:r>
            <a:r>
              <a:rPr lang="en-US" altLang="zh-CN" sz="1600" dirty="0">
                <a:latin typeface="+mn-ea"/>
              </a:rPr>
              <a:t> STRING, sex STRING) ROW FORMAT DELIMITED FIELDS TERMINATED BY ',' STORED AS TEXTFILE;</a:t>
            </a:r>
            <a:endParaRPr lang="zh-CN" altLang="zh-CN" sz="1600"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15</a:t>
            </a:fld>
            <a:endParaRPr lang="zh-CN" altLang="en-US">
              <a:latin typeface="+mn-ea"/>
            </a:endParaRPr>
          </a:p>
        </p:txBody>
      </p:sp>
      <p:sp>
        <p:nvSpPr>
          <p:cNvPr id="4" name="内容占位符 2"/>
          <p:cNvSpPr txBox="1"/>
          <p:nvPr/>
        </p:nvSpPr>
        <p:spPr>
          <a:xfrm>
            <a:off x="855343" y="1595012"/>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将</a:t>
            </a:r>
            <a:r>
              <a:rPr lang="en-US" altLang="zh-CN" sz="1800" dirty="0" err="1">
                <a:latin typeface="+mn-ea"/>
              </a:rPr>
              <a:t>user_log</a:t>
            </a:r>
            <a:r>
              <a:rPr lang="zh-CN" altLang="zh-CN" sz="1800" dirty="0">
                <a:latin typeface="+mn-ea"/>
              </a:rPr>
              <a:t>表中的数据插入到</a:t>
            </a:r>
            <a:r>
              <a:rPr lang="en-US" altLang="zh-CN" sz="1800" dirty="0" err="1">
                <a:latin typeface="+mn-ea"/>
              </a:rPr>
              <a:t>inner_user_log</a:t>
            </a:r>
            <a:r>
              <a:rPr lang="zh-CN" altLang="zh-CN" sz="1800" dirty="0">
                <a:latin typeface="+mn-ea"/>
              </a:rPr>
              <a:t>。</a:t>
            </a:r>
          </a:p>
        </p:txBody>
      </p:sp>
      <p:sp>
        <p:nvSpPr>
          <p:cNvPr id="5" name="文本框 16"/>
          <p:cNvSpPr txBox="1"/>
          <p:nvPr/>
        </p:nvSpPr>
        <p:spPr>
          <a:xfrm>
            <a:off x="855343" y="2150448"/>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INSERT OVERWRITE TABLE </a:t>
            </a:r>
            <a:r>
              <a:rPr lang="en-US" altLang="zh-CN" sz="1600" dirty="0" err="1">
                <a:latin typeface="+mn-ea"/>
              </a:rPr>
              <a:t>supermarket.inner_user_log</a:t>
            </a:r>
            <a:r>
              <a:rPr lang="en-US" altLang="zh-CN" sz="1600" dirty="0">
                <a:latin typeface="+mn-ea"/>
              </a:rPr>
              <a:t> select * from supermarket. </a:t>
            </a:r>
            <a:r>
              <a:rPr lang="en-US" altLang="zh-CN" sz="1600" dirty="0" err="1">
                <a:latin typeface="+mn-ea"/>
              </a:rPr>
              <a:t>user_log</a:t>
            </a:r>
            <a:r>
              <a:rPr lang="en-US" altLang="zh-CN" sz="1600" dirty="0">
                <a:latin typeface="+mn-ea"/>
              </a:rPr>
              <a:t>;</a:t>
            </a:r>
            <a:endParaRPr lang="zh-CN" altLang="zh-CN" sz="1600" dirty="0">
              <a:latin typeface="+mn-ea"/>
            </a:endParaRPr>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pic>
        <p:nvPicPr>
          <p:cNvPr id="9" name="Picture 8"/>
          <p:cNvPicPr/>
          <p:nvPr/>
        </p:nvPicPr>
        <p:blipFill>
          <a:blip r:embed="rId3"/>
          <a:stretch>
            <a:fillRect/>
          </a:stretch>
        </p:blipFill>
        <p:spPr>
          <a:xfrm>
            <a:off x="855342" y="2663519"/>
            <a:ext cx="10083079" cy="326431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16</a:t>
            </a:fld>
            <a:endParaRPr lang="zh-CN" altLang="en-US">
              <a:latin typeface="+mn-ea"/>
            </a:endParaRPr>
          </a:p>
        </p:txBody>
      </p:sp>
      <p:sp>
        <p:nvSpPr>
          <p:cNvPr id="4" name="内容占位符 2"/>
          <p:cNvSpPr txBox="1"/>
          <p:nvPr/>
        </p:nvSpPr>
        <p:spPr>
          <a:xfrm>
            <a:off x="855343" y="1517619"/>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使用</a:t>
            </a:r>
            <a:r>
              <a:rPr lang="en-US" altLang="zh-CN" sz="1800" dirty="0" err="1">
                <a:latin typeface="+mn-ea"/>
              </a:rPr>
              <a:t>Sqoop</a:t>
            </a:r>
            <a:r>
              <a:rPr lang="zh-CN" altLang="zh-CN" sz="1800" dirty="0">
                <a:latin typeface="+mn-ea"/>
              </a:rPr>
              <a:t>将数据从</a:t>
            </a:r>
            <a:r>
              <a:rPr lang="en-US" altLang="zh-CN" sz="1800" dirty="0">
                <a:latin typeface="+mn-ea"/>
              </a:rPr>
              <a:t>Hive</a:t>
            </a:r>
            <a:r>
              <a:rPr lang="zh-CN" altLang="zh-CN" sz="1800" dirty="0">
                <a:latin typeface="+mn-ea"/>
              </a:rPr>
              <a:t>导入</a:t>
            </a:r>
            <a:r>
              <a:rPr lang="en-US" altLang="zh-CN" sz="1800" dirty="0">
                <a:latin typeface="+mn-ea"/>
              </a:rPr>
              <a:t>MySQL</a:t>
            </a:r>
            <a:r>
              <a:rPr lang="zh-CN" altLang="zh-CN" sz="1800" dirty="0">
                <a:latin typeface="+mn-ea"/>
              </a:rPr>
              <a:t>时，需要首先登录</a:t>
            </a:r>
            <a:r>
              <a:rPr lang="en-US" altLang="zh-CN" sz="1800" dirty="0">
                <a:latin typeface="+mn-ea"/>
              </a:rPr>
              <a:t>MySQL</a:t>
            </a:r>
            <a:r>
              <a:rPr lang="zh-CN" altLang="zh-CN" sz="1800" dirty="0">
                <a:latin typeface="+mn-ea"/>
              </a:rPr>
              <a:t>。</a:t>
            </a:r>
          </a:p>
        </p:txBody>
      </p:sp>
      <p:sp>
        <p:nvSpPr>
          <p:cNvPr id="5" name="文本框 16"/>
          <p:cNvSpPr txBox="1"/>
          <p:nvPr/>
        </p:nvSpPr>
        <p:spPr>
          <a:xfrm>
            <a:off x="855343" y="1954023"/>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mysql</a:t>
            </a:r>
            <a:r>
              <a:rPr lang="en-US" altLang="zh-CN" sz="1600" dirty="0">
                <a:latin typeface="+mn-ea"/>
              </a:rPr>
              <a:t> -u root -p123456</a:t>
            </a:r>
            <a:endParaRPr lang="zh-CN" altLang="zh-CN" sz="1600" dirty="0">
              <a:latin typeface="+mn-ea"/>
            </a:endParaRPr>
          </a:p>
        </p:txBody>
      </p:sp>
      <p:sp>
        <p:nvSpPr>
          <p:cNvPr id="6" name="内容占位符 2"/>
          <p:cNvSpPr txBox="1"/>
          <p:nvPr/>
        </p:nvSpPr>
        <p:spPr>
          <a:xfrm>
            <a:off x="855343" y="2348062"/>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创建数据库。</a:t>
            </a:r>
          </a:p>
        </p:txBody>
      </p:sp>
      <p:sp>
        <p:nvSpPr>
          <p:cNvPr id="7" name="文本框 16"/>
          <p:cNvSpPr txBox="1"/>
          <p:nvPr/>
        </p:nvSpPr>
        <p:spPr>
          <a:xfrm>
            <a:off x="855343" y="2784466"/>
            <a:ext cx="10080000" cy="707886"/>
          </a:xfrm>
          <a:prstGeom prst="rect">
            <a:avLst/>
          </a:prstGeom>
          <a:solidFill>
            <a:schemeClr val="accent3">
              <a:lumMod val="20000"/>
              <a:lumOff val="80000"/>
            </a:schemeClr>
          </a:solidFill>
        </p:spPr>
        <p:txBody>
          <a:bodyPr wrap="square" rtlCol="0">
            <a:spAutoFit/>
          </a:bodyPr>
          <a:lstStyle/>
          <a:p>
            <a:pPr>
              <a:lnSpc>
                <a:spcPct val="125000"/>
              </a:lnSpc>
            </a:pPr>
            <a:r>
              <a:rPr lang="en-US" altLang="zh-CN" sz="1600" dirty="0">
                <a:latin typeface="+mn-ea"/>
              </a:rPr>
              <a:t>create database supermarket;</a:t>
            </a:r>
            <a:endParaRPr lang="zh-CN" altLang="zh-CN" sz="1600" dirty="0">
              <a:latin typeface="+mn-ea"/>
            </a:endParaRPr>
          </a:p>
          <a:p>
            <a:pPr>
              <a:lnSpc>
                <a:spcPct val="125000"/>
              </a:lnSpc>
            </a:pPr>
            <a:r>
              <a:rPr lang="en-US" altLang="zh-CN" sz="1600" dirty="0">
                <a:latin typeface="+mn-ea"/>
              </a:rPr>
              <a:t>use supermarket;</a:t>
            </a:r>
            <a:endParaRPr lang="zh-CN" altLang="zh-CN" sz="1600" dirty="0">
              <a:latin typeface="+mn-ea"/>
            </a:endParaRPr>
          </a:p>
        </p:txBody>
      </p:sp>
      <p:sp>
        <p:nvSpPr>
          <p:cNvPr id="8" name="内容占位符 2"/>
          <p:cNvSpPr txBox="1"/>
          <p:nvPr/>
        </p:nvSpPr>
        <p:spPr>
          <a:xfrm>
            <a:off x="855343" y="3547837"/>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创建表。</a:t>
            </a:r>
          </a:p>
        </p:txBody>
      </p:sp>
      <p:sp>
        <p:nvSpPr>
          <p:cNvPr id="9" name="文本框 16"/>
          <p:cNvSpPr txBox="1"/>
          <p:nvPr/>
        </p:nvSpPr>
        <p:spPr>
          <a:xfrm>
            <a:off x="855343" y="3984239"/>
            <a:ext cx="10080000" cy="2554545"/>
          </a:xfrm>
          <a:prstGeom prst="rect">
            <a:avLst/>
          </a:prstGeom>
          <a:solidFill>
            <a:schemeClr val="accent3">
              <a:lumMod val="20000"/>
              <a:lumOff val="80000"/>
            </a:schemeClr>
          </a:solidFill>
        </p:spPr>
        <p:txBody>
          <a:bodyPr wrap="square" rtlCol="0">
            <a:spAutoFit/>
          </a:bodyPr>
          <a:lstStyle>
            <a:defPPr>
              <a:defRPr lang="zh-CN"/>
            </a:defPPr>
            <a:lvl1pPr>
              <a:lnSpc>
                <a:spcPct val="125000"/>
              </a:lnSpc>
              <a:defRPr sz="1600">
                <a:latin typeface="+mn-ea"/>
              </a:defRPr>
            </a:lvl1pPr>
          </a:lstStyle>
          <a:p>
            <a:r>
              <a:rPr lang="en-US" altLang="zh-CN" dirty="0"/>
              <a:t>create table `supermarket`.`</a:t>
            </a:r>
            <a:r>
              <a:rPr lang="en-US" altLang="zh-CN" dirty="0" err="1"/>
              <a:t>user_log</a:t>
            </a:r>
            <a:r>
              <a:rPr lang="en-US" altLang="zh-CN" dirty="0"/>
              <a:t>` (`id` varchar(100), `</a:t>
            </a:r>
            <a:r>
              <a:rPr lang="en-US" altLang="zh-CN" dirty="0" err="1"/>
              <a:t>itemcode</a:t>
            </a:r>
            <a:r>
              <a:rPr lang="en-US" altLang="zh-CN" dirty="0"/>
              <a:t>` varchar(100), `</a:t>
            </a:r>
            <a:r>
              <a:rPr lang="en-US" altLang="zh-CN" dirty="0" err="1"/>
              <a:t>itemname</a:t>
            </a:r>
            <a:r>
              <a:rPr lang="en-US" altLang="zh-CN" dirty="0"/>
              <a:t>` varchar(100), `</a:t>
            </a:r>
            <a:r>
              <a:rPr lang="en-US" altLang="zh-CN" dirty="0" err="1"/>
              <a:t>ficheno</a:t>
            </a:r>
            <a:r>
              <a:rPr lang="en-US" altLang="zh-CN" dirty="0"/>
              <a:t>` varchar(100), `</a:t>
            </a:r>
            <a:r>
              <a:rPr lang="en-US" altLang="zh-CN" dirty="0" err="1"/>
              <a:t>merchant_date</a:t>
            </a:r>
            <a:r>
              <a:rPr lang="en-US" altLang="zh-CN" dirty="0"/>
              <a:t>` varchar(100), `amount` varchar(20), `price` varchar(20), `</a:t>
            </a:r>
            <a:r>
              <a:rPr lang="en-US" altLang="zh-CN" dirty="0" err="1"/>
              <a:t>linenettotal</a:t>
            </a:r>
            <a:r>
              <a:rPr lang="en-US" altLang="zh-CN" dirty="0"/>
              <a:t>` varchar(20), `</a:t>
            </a:r>
            <a:r>
              <a:rPr lang="en-US" altLang="zh-CN" dirty="0" err="1"/>
              <a:t>linenet</a:t>
            </a:r>
            <a:r>
              <a:rPr lang="en-US" altLang="zh-CN" dirty="0"/>
              <a:t>` varchar(20), `</a:t>
            </a:r>
            <a:r>
              <a:rPr lang="en-US" altLang="zh-CN" dirty="0" err="1"/>
              <a:t>branchnr</a:t>
            </a:r>
            <a:r>
              <a:rPr lang="en-US" altLang="zh-CN" dirty="0"/>
              <a:t>` varchar(20), `branch` varchar(100), `salesman` varchar(100), `city` varchar(100), `region` varchar(100), `latitude` varchar(20), `longitude` varchar(20), `</a:t>
            </a:r>
            <a:r>
              <a:rPr lang="en-US" altLang="zh-CN" dirty="0" err="1"/>
              <a:t>clientcode</a:t>
            </a:r>
            <a:r>
              <a:rPr lang="en-US" altLang="zh-CN" dirty="0"/>
              <a:t>` varchar(20), `</a:t>
            </a:r>
            <a:r>
              <a:rPr lang="en-US" altLang="zh-CN" dirty="0" err="1"/>
              <a:t>clientname</a:t>
            </a:r>
            <a:r>
              <a:rPr lang="en-US" altLang="zh-CN" dirty="0"/>
              <a:t>` varchar(100), `</a:t>
            </a:r>
            <a:r>
              <a:rPr lang="en-US" altLang="zh-CN" dirty="0" err="1"/>
              <a:t>brandcode</a:t>
            </a:r>
            <a:r>
              <a:rPr lang="en-US" altLang="zh-CN" dirty="0"/>
              <a:t>` varchar(20), `brand` varchar(100), `</a:t>
            </a:r>
            <a:r>
              <a:rPr lang="en-US" altLang="zh-CN" dirty="0" err="1"/>
              <a:t>category_I</a:t>
            </a:r>
            <a:r>
              <a:rPr lang="en-US" altLang="zh-CN" dirty="0"/>
              <a:t>` varchar(100), `</a:t>
            </a:r>
            <a:r>
              <a:rPr lang="en-US" altLang="zh-CN" dirty="0" err="1"/>
              <a:t>category_II</a:t>
            </a:r>
            <a:r>
              <a:rPr lang="en-US" altLang="zh-CN" dirty="0"/>
              <a:t>` varchar(100), `</a:t>
            </a:r>
            <a:r>
              <a:rPr lang="en-US" altLang="zh-CN" dirty="0" err="1"/>
              <a:t>category_III</a:t>
            </a:r>
            <a:r>
              <a:rPr lang="en-US" altLang="zh-CN" dirty="0"/>
              <a:t>` varchar(100), `</a:t>
            </a:r>
            <a:r>
              <a:rPr lang="en-US" altLang="zh-CN" dirty="0" err="1"/>
              <a:t>startdate</a:t>
            </a:r>
            <a:r>
              <a:rPr lang="en-US" altLang="zh-CN" dirty="0"/>
              <a:t>` varchar(100), `</a:t>
            </a:r>
            <a:r>
              <a:rPr lang="en-US" altLang="zh-CN" dirty="0" err="1"/>
              <a:t>enddate</a:t>
            </a:r>
            <a:r>
              <a:rPr lang="en-US" altLang="zh-CN" dirty="0"/>
              <a:t>` varchar(100), `sex` varchar(20)) engine=</a:t>
            </a:r>
            <a:r>
              <a:rPr lang="en-US" altLang="zh-CN" dirty="0" err="1"/>
              <a:t>InnoDB</a:t>
            </a:r>
            <a:r>
              <a:rPr lang="en-US" altLang="zh-CN" dirty="0"/>
              <a:t> default charset=utf8;</a:t>
            </a:r>
            <a:endParaRPr lang="zh-CN" altLang="zh-CN" dirty="0"/>
          </a:p>
        </p:txBody>
      </p:sp>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17</a:t>
            </a:fld>
            <a:endParaRPr lang="zh-CN" altLang="en-US">
              <a:latin typeface="+mn-ea"/>
            </a:endParaRPr>
          </a:p>
        </p:txBody>
      </p:sp>
      <p:sp>
        <p:nvSpPr>
          <p:cNvPr id="4" name="内容占位符 2"/>
          <p:cNvSpPr txBox="1"/>
          <p:nvPr/>
        </p:nvSpPr>
        <p:spPr>
          <a:xfrm>
            <a:off x="855343" y="1517690"/>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退出</a:t>
            </a:r>
            <a:r>
              <a:rPr lang="en-US" altLang="zh-CN" sz="1800" dirty="0">
                <a:latin typeface="+mn-ea"/>
              </a:rPr>
              <a:t>MySQL</a:t>
            </a:r>
            <a:r>
              <a:rPr lang="zh-CN" altLang="zh-CN" sz="1800" dirty="0">
                <a:latin typeface="+mn-ea"/>
              </a:rPr>
              <a:t>，导入数据。</a:t>
            </a:r>
          </a:p>
        </p:txBody>
      </p:sp>
      <p:sp>
        <p:nvSpPr>
          <p:cNvPr id="5" name="文本框 16"/>
          <p:cNvSpPr txBox="1"/>
          <p:nvPr/>
        </p:nvSpPr>
        <p:spPr>
          <a:xfrm>
            <a:off x="855343" y="1995804"/>
            <a:ext cx="10080000" cy="1569660"/>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cd /</a:t>
            </a:r>
            <a:r>
              <a:rPr lang="en-US" altLang="zh-CN" sz="1600" dirty="0" err="1">
                <a:latin typeface="+mn-ea"/>
              </a:rPr>
              <a:t>usr</a:t>
            </a:r>
            <a:r>
              <a:rPr lang="en-US" altLang="zh-CN" sz="1600" dirty="0">
                <a:latin typeface="+mn-ea"/>
              </a:rPr>
              <a:t>/local/</a:t>
            </a:r>
            <a:r>
              <a:rPr lang="en-US" altLang="zh-CN" sz="1600" dirty="0" err="1">
                <a:latin typeface="+mn-ea"/>
              </a:rPr>
              <a:t>sqoop</a:t>
            </a:r>
            <a:endParaRPr lang="zh-CN" altLang="zh-CN" sz="1600" dirty="0">
              <a:latin typeface="+mn-ea"/>
            </a:endParaRPr>
          </a:p>
          <a:p>
            <a:pPr>
              <a:lnSpc>
                <a:spcPct val="150000"/>
              </a:lnSpc>
            </a:pPr>
            <a:r>
              <a:rPr lang="en-US" altLang="zh-CN" sz="1600" dirty="0">
                <a:latin typeface="+mn-ea"/>
              </a:rPr>
              <a:t>bin/</a:t>
            </a:r>
            <a:r>
              <a:rPr lang="en-US" altLang="zh-CN" sz="1600" dirty="0" err="1">
                <a:latin typeface="+mn-ea"/>
              </a:rPr>
              <a:t>sqoop</a:t>
            </a:r>
            <a:r>
              <a:rPr lang="en-US" altLang="zh-CN" sz="1600" dirty="0">
                <a:latin typeface="+mn-ea"/>
              </a:rPr>
              <a:t> export --connect </a:t>
            </a:r>
            <a:r>
              <a:rPr lang="en-US" altLang="zh-CN" sz="1600" dirty="0" err="1">
                <a:latin typeface="+mn-ea"/>
              </a:rPr>
              <a:t>jdbc:mysql</a:t>
            </a:r>
            <a:r>
              <a:rPr lang="en-US" altLang="zh-CN" sz="1600" dirty="0">
                <a:latin typeface="+mn-ea"/>
              </a:rPr>
              <a:t>://localhost:3306/supermarket --username root --password 123456 --table </a:t>
            </a:r>
            <a:r>
              <a:rPr lang="en-US" altLang="zh-CN" sz="1600" dirty="0" err="1">
                <a:latin typeface="+mn-ea"/>
              </a:rPr>
              <a:t>user_log</a:t>
            </a:r>
            <a:r>
              <a:rPr lang="en-US" altLang="zh-CN" sz="1600" dirty="0">
                <a:latin typeface="+mn-ea"/>
              </a:rPr>
              <a:t> --export-</a:t>
            </a:r>
            <a:r>
              <a:rPr lang="en-US" altLang="zh-CN" sz="1600" dirty="0" err="1">
                <a:latin typeface="+mn-ea"/>
              </a:rPr>
              <a:t>dir</a:t>
            </a:r>
            <a:r>
              <a:rPr lang="en-US" altLang="zh-CN" sz="1600" dirty="0">
                <a:latin typeface="+mn-ea"/>
              </a:rPr>
              <a:t> '/user/hive/warehouse/</a:t>
            </a:r>
            <a:r>
              <a:rPr lang="en-US" altLang="zh-CN" sz="1600" dirty="0" err="1">
                <a:latin typeface="+mn-ea"/>
              </a:rPr>
              <a:t>supermarket.db</a:t>
            </a:r>
            <a:r>
              <a:rPr lang="en-US" altLang="zh-CN" sz="1600" dirty="0">
                <a:latin typeface="+mn-ea"/>
              </a:rPr>
              <a:t>/</a:t>
            </a:r>
            <a:r>
              <a:rPr lang="en-US" altLang="zh-CN" sz="1600" dirty="0" err="1">
                <a:latin typeface="+mn-ea"/>
              </a:rPr>
              <a:t>inner_user_log</a:t>
            </a:r>
            <a:r>
              <a:rPr lang="en-US" altLang="zh-CN" sz="1600" dirty="0">
                <a:latin typeface="+mn-ea"/>
              </a:rPr>
              <a:t>' --fields-terminated-by ',';</a:t>
            </a:r>
            <a:endParaRPr lang="zh-CN" altLang="zh-CN" sz="1600" dirty="0">
              <a:latin typeface="+mn-ea"/>
            </a:endParaRPr>
          </a:p>
        </p:txBody>
      </p:sp>
      <p:sp>
        <p:nvSpPr>
          <p:cNvPr id="8" name="内容占位符 2"/>
          <p:cNvSpPr txBox="1"/>
          <p:nvPr/>
        </p:nvSpPr>
        <p:spPr>
          <a:xfrm>
            <a:off x="855343" y="3788457"/>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再次进入</a:t>
            </a:r>
            <a:r>
              <a:rPr lang="en-US" altLang="zh-CN" sz="1800" dirty="0">
                <a:latin typeface="+mn-ea"/>
              </a:rPr>
              <a:t>MySQL</a:t>
            </a:r>
            <a:r>
              <a:rPr lang="zh-CN" altLang="zh-CN" sz="1800" dirty="0">
                <a:latin typeface="+mn-ea"/>
              </a:rPr>
              <a:t>，查看数据是否导入成功。</a:t>
            </a:r>
          </a:p>
        </p:txBody>
      </p:sp>
      <p:sp>
        <p:nvSpPr>
          <p:cNvPr id="9" name="文本框 16"/>
          <p:cNvSpPr txBox="1"/>
          <p:nvPr/>
        </p:nvSpPr>
        <p:spPr>
          <a:xfrm>
            <a:off x="855343" y="4392369"/>
            <a:ext cx="10080000" cy="1200329"/>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mysql</a:t>
            </a:r>
            <a:r>
              <a:rPr lang="en-US" altLang="zh-CN" sz="1600" dirty="0">
                <a:latin typeface="+mn-ea"/>
              </a:rPr>
              <a:t> -u root -p123456</a:t>
            </a:r>
            <a:endParaRPr lang="zh-CN" altLang="zh-CN" sz="1600" dirty="0">
              <a:latin typeface="+mn-ea"/>
            </a:endParaRPr>
          </a:p>
          <a:p>
            <a:pPr>
              <a:lnSpc>
                <a:spcPct val="150000"/>
              </a:lnSpc>
            </a:pPr>
            <a:r>
              <a:rPr lang="en-US" altLang="zh-CN" sz="1600" dirty="0">
                <a:latin typeface="+mn-ea"/>
              </a:rPr>
              <a:t>use supermarket;</a:t>
            </a:r>
            <a:endParaRPr lang="zh-CN" altLang="zh-CN" sz="1600" dirty="0">
              <a:latin typeface="+mn-ea"/>
            </a:endParaRPr>
          </a:p>
          <a:p>
            <a:pPr>
              <a:lnSpc>
                <a:spcPct val="150000"/>
              </a:lnSpc>
            </a:pPr>
            <a:r>
              <a:rPr lang="en-US" altLang="zh-CN" sz="1600" dirty="0">
                <a:latin typeface="+mn-ea"/>
              </a:rPr>
              <a:t>select count(*) from </a:t>
            </a:r>
            <a:r>
              <a:rPr lang="en-US" altLang="zh-CN" sz="1600" dirty="0" err="1">
                <a:latin typeface="+mn-ea"/>
              </a:rPr>
              <a:t>user_log</a:t>
            </a:r>
            <a:r>
              <a:rPr lang="en-US" altLang="zh-CN" sz="1600" dirty="0">
                <a:latin typeface="+mn-ea"/>
              </a:rPr>
              <a:t>;</a:t>
            </a:r>
            <a:endParaRPr lang="zh-CN" altLang="zh-CN" sz="1600" dirty="0">
              <a:latin typeface="+mn-ea"/>
            </a:endParaRPr>
          </a:p>
        </p:txBody>
      </p:sp>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18</a:t>
            </a:fld>
            <a:endParaRPr lang="zh-CN" altLang="en-US">
              <a:latin typeface="+mn-ea"/>
            </a:endParaRPr>
          </a:p>
        </p:txBody>
      </p:sp>
      <p:sp>
        <p:nvSpPr>
          <p:cNvPr id="4" name="内容占位符 2"/>
          <p:cNvSpPr txBox="1"/>
          <p:nvPr/>
        </p:nvSpPr>
        <p:spPr>
          <a:xfrm>
            <a:off x="855343" y="1361691"/>
            <a:ext cx="10368455" cy="194481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zh-CN" sz="1800" dirty="0">
                <a:latin typeface="+mn-ea"/>
              </a:rPr>
              <a:t>考虑后续分析过程，主要做性别与购物产品大类的关系，产品大类的饼图（包含所有一级产品的分布、各个二级分类在一级分类的分布占比）、超市城市的占比等，只针对性别、购物产品一级二级分类、城市这</a:t>
            </a:r>
            <a:r>
              <a:rPr lang="en-US" altLang="zh-CN" sz="1800" dirty="0">
                <a:latin typeface="+mn-ea"/>
              </a:rPr>
              <a:t>4</a:t>
            </a:r>
            <a:r>
              <a:rPr lang="zh-CN" altLang="zh-CN" sz="1800" dirty="0">
                <a:latin typeface="+mn-ea"/>
              </a:rPr>
              <a:t>列进行数据清洗，即将这</a:t>
            </a:r>
            <a:r>
              <a:rPr lang="en-US" altLang="zh-CN" sz="1800" dirty="0">
                <a:latin typeface="+mn-ea"/>
              </a:rPr>
              <a:t>4</a:t>
            </a:r>
            <a:r>
              <a:rPr lang="zh-CN" altLang="zh-CN" sz="1800" dirty="0">
                <a:latin typeface="+mn-ea"/>
              </a:rPr>
              <a:t>列中存在空值的行删除。</a:t>
            </a:r>
          </a:p>
          <a:p>
            <a:pPr marL="0" indent="0">
              <a:lnSpc>
                <a:spcPct val="150000"/>
              </a:lnSpc>
              <a:buNone/>
            </a:pPr>
            <a:r>
              <a:rPr lang="zh-CN" altLang="zh-CN" sz="1800" dirty="0">
                <a:latin typeface="+mn-ea"/>
              </a:rPr>
              <a:t>查询这四类中含有空值行的数量。</a:t>
            </a:r>
          </a:p>
        </p:txBody>
      </p:sp>
      <p:sp>
        <p:nvSpPr>
          <p:cNvPr id="5" name="文本框 16"/>
          <p:cNvSpPr txBox="1"/>
          <p:nvPr/>
        </p:nvSpPr>
        <p:spPr>
          <a:xfrm>
            <a:off x="855343" y="3247698"/>
            <a:ext cx="10080000" cy="2062103"/>
          </a:xfrm>
          <a:prstGeom prst="rect">
            <a:avLst/>
          </a:prstGeom>
          <a:solidFill>
            <a:schemeClr val="accent3">
              <a:lumMod val="20000"/>
              <a:lumOff val="80000"/>
            </a:schemeClr>
          </a:solidFill>
        </p:spPr>
        <p:txBody>
          <a:bodyPr wrap="square" rtlCol="0">
            <a:spAutoFit/>
          </a:bodyPr>
          <a:lstStyle/>
          <a:p>
            <a:pPr>
              <a:lnSpc>
                <a:spcPct val="200000"/>
              </a:lnSpc>
            </a:pPr>
            <a:r>
              <a:rPr lang="en-US" altLang="zh-CN" sz="1600" dirty="0">
                <a:latin typeface="Arial" panose="020B0604020202020204" pitchFamily="34" charset="0"/>
                <a:cs typeface="Arial" panose="020B0604020202020204" pitchFamily="34" charset="0"/>
              </a:rPr>
              <a:t>select count(*) from </a:t>
            </a:r>
            <a:r>
              <a:rPr lang="en-US" altLang="zh-CN" sz="1600" dirty="0" err="1">
                <a:latin typeface="Arial" panose="020B0604020202020204" pitchFamily="34" charset="0"/>
                <a:cs typeface="Arial" panose="020B0604020202020204" pitchFamily="34" charset="0"/>
              </a:rPr>
              <a:t>user_log</a:t>
            </a:r>
            <a:r>
              <a:rPr lang="en-US" altLang="zh-CN" sz="1600" dirty="0">
                <a:latin typeface="Arial" panose="020B0604020202020204" pitchFamily="34" charset="0"/>
                <a:cs typeface="Arial" panose="020B0604020202020204" pitchFamily="34" charset="0"/>
              </a:rPr>
              <a:t> where city=‘ ‘;</a:t>
            </a:r>
            <a:endParaRPr lang="zh-CN" altLang="zh-CN" sz="1600" dirty="0">
              <a:latin typeface="Arial" panose="020B0604020202020204" pitchFamily="34" charset="0"/>
              <a:cs typeface="Arial" panose="020B0604020202020204" pitchFamily="34" charset="0"/>
            </a:endParaRPr>
          </a:p>
          <a:p>
            <a:pPr>
              <a:lnSpc>
                <a:spcPct val="200000"/>
              </a:lnSpc>
            </a:pPr>
            <a:r>
              <a:rPr lang="en-US" altLang="zh-CN" sz="1600" dirty="0">
                <a:latin typeface="Arial" panose="020B0604020202020204" pitchFamily="34" charset="0"/>
                <a:cs typeface="Arial" panose="020B0604020202020204" pitchFamily="34" charset="0"/>
              </a:rPr>
              <a:t>select count(*) from </a:t>
            </a:r>
            <a:r>
              <a:rPr lang="en-US" altLang="zh-CN" sz="1600" dirty="0" err="1">
                <a:latin typeface="Arial" panose="020B0604020202020204" pitchFamily="34" charset="0"/>
                <a:cs typeface="Arial" panose="020B0604020202020204" pitchFamily="34" charset="0"/>
              </a:rPr>
              <a:t>user_log</a:t>
            </a:r>
            <a:r>
              <a:rPr lang="en-US" altLang="zh-CN" sz="1600" dirty="0">
                <a:latin typeface="Arial" panose="020B0604020202020204" pitchFamily="34" charset="0"/>
                <a:cs typeface="Arial" panose="020B0604020202020204" pitchFamily="34" charset="0"/>
              </a:rPr>
              <a:t> where </a:t>
            </a:r>
            <a:r>
              <a:rPr lang="en-US" altLang="zh-CN" sz="1600" dirty="0" err="1">
                <a:latin typeface="Arial" panose="020B0604020202020204" pitchFamily="34" charset="0"/>
                <a:cs typeface="Arial" panose="020B0604020202020204" pitchFamily="34" charset="0"/>
              </a:rPr>
              <a:t>category_I</a:t>
            </a:r>
            <a:r>
              <a:rPr lang="en-US" altLang="zh-CN" sz="1600" dirty="0">
                <a:latin typeface="Arial" panose="020B0604020202020204" pitchFamily="34" charset="0"/>
                <a:cs typeface="Arial" panose="020B0604020202020204" pitchFamily="34" charset="0"/>
              </a:rPr>
              <a:t>=’ ’;</a:t>
            </a:r>
            <a:endParaRPr lang="zh-CN" altLang="zh-CN" sz="1600" dirty="0">
              <a:latin typeface="Arial" panose="020B0604020202020204" pitchFamily="34" charset="0"/>
              <a:cs typeface="Arial" panose="020B0604020202020204" pitchFamily="34" charset="0"/>
            </a:endParaRPr>
          </a:p>
          <a:p>
            <a:pPr>
              <a:lnSpc>
                <a:spcPct val="200000"/>
              </a:lnSpc>
            </a:pPr>
            <a:r>
              <a:rPr lang="en-US" altLang="zh-CN" sz="1600" dirty="0">
                <a:latin typeface="Arial" panose="020B0604020202020204" pitchFamily="34" charset="0"/>
                <a:cs typeface="Arial" panose="020B0604020202020204" pitchFamily="34" charset="0"/>
              </a:rPr>
              <a:t>select count(*) from </a:t>
            </a:r>
            <a:r>
              <a:rPr lang="en-US" altLang="zh-CN" sz="1600" dirty="0" err="1">
                <a:latin typeface="Arial" panose="020B0604020202020204" pitchFamily="34" charset="0"/>
                <a:cs typeface="Arial" panose="020B0604020202020204" pitchFamily="34" charset="0"/>
              </a:rPr>
              <a:t>user_log</a:t>
            </a:r>
            <a:r>
              <a:rPr lang="en-US" altLang="zh-CN" sz="1600" dirty="0">
                <a:latin typeface="Arial" panose="020B0604020202020204" pitchFamily="34" charset="0"/>
                <a:cs typeface="Arial" panose="020B0604020202020204" pitchFamily="34" charset="0"/>
              </a:rPr>
              <a:t> where </a:t>
            </a:r>
            <a:r>
              <a:rPr lang="en-US" altLang="zh-CN" sz="1600" dirty="0" err="1">
                <a:latin typeface="Arial" panose="020B0604020202020204" pitchFamily="34" charset="0"/>
                <a:cs typeface="Arial" panose="020B0604020202020204" pitchFamily="34" charset="0"/>
              </a:rPr>
              <a:t>category_II</a:t>
            </a:r>
            <a:r>
              <a:rPr lang="en-US" altLang="zh-CN" sz="1600" dirty="0">
                <a:latin typeface="Arial" panose="020B0604020202020204" pitchFamily="34" charset="0"/>
                <a:cs typeface="Arial" panose="020B0604020202020204" pitchFamily="34" charset="0"/>
              </a:rPr>
              <a:t>=‘ ’;</a:t>
            </a:r>
            <a:endParaRPr lang="zh-CN" altLang="zh-CN" sz="1600" dirty="0">
              <a:latin typeface="Arial" panose="020B0604020202020204" pitchFamily="34" charset="0"/>
              <a:cs typeface="Arial" panose="020B0604020202020204" pitchFamily="34" charset="0"/>
            </a:endParaRPr>
          </a:p>
          <a:p>
            <a:pPr>
              <a:lnSpc>
                <a:spcPct val="200000"/>
              </a:lnSpc>
            </a:pPr>
            <a:r>
              <a:rPr lang="en-US" altLang="zh-CN" sz="1600" dirty="0">
                <a:latin typeface="Arial" panose="020B0604020202020204" pitchFamily="34" charset="0"/>
                <a:cs typeface="Arial" panose="020B0604020202020204" pitchFamily="34" charset="0"/>
              </a:rPr>
              <a:t>select count(*) from </a:t>
            </a:r>
            <a:r>
              <a:rPr lang="en-US" altLang="zh-CN" sz="1600" dirty="0" err="1">
                <a:latin typeface="Arial" panose="020B0604020202020204" pitchFamily="34" charset="0"/>
                <a:cs typeface="Arial" panose="020B0604020202020204" pitchFamily="34" charset="0"/>
              </a:rPr>
              <a:t>user_log</a:t>
            </a:r>
            <a:r>
              <a:rPr lang="en-US" altLang="zh-CN" sz="1600" dirty="0">
                <a:latin typeface="Arial" panose="020B0604020202020204" pitchFamily="34" charset="0"/>
                <a:cs typeface="Arial" panose="020B0604020202020204" pitchFamily="34" charset="0"/>
              </a:rPr>
              <a:t> where sex=‘ ’;</a:t>
            </a:r>
            <a:endParaRPr lang="zh-CN" altLang="zh-CN" sz="1600" dirty="0">
              <a:latin typeface="Arial" panose="020B0604020202020204" pitchFamily="34" charset="0"/>
              <a:cs typeface="Arial" panose="020B0604020202020204" pitchFamily="34" charset="0"/>
            </a:endParaRPr>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pic>
        <p:nvPicPr>
          <p:cNvPr id="10" name="Picture 9"/>
          <p:cNvPicPr/>
          <p:nvPr/>
        </p:nvPicPr>
        <p:blipFill>
          <a:blip r:embed="rId3"/>
          <a:stretch>
            <a:fillRect/>
          </a:stretch>
        </p:blipFill>
        <p:spPr>
          <a:xfrm>
            <a:off x="6877378" y="2223305"/>
            <a:ext cx="3972930" cy="449804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3.4.1</a:t>
            </a:r>
            <a:r>
              <a:rPr lang="zh-CN" altLang="zh-CN" dirty="0">
                <a:latin typeface="+mn-ea"/>
                <a:ea typeface="+mn-ea"/>
              </a:rPr>
              <a:t>基于</a:t>
            </a:r>
            <a:r>
              <a:rPr lang="en-US" altLang="zh-CN" dirty="0" err="1">
                <a:latin typeface="+mn-ea"/>
                <a:ea typeface="+mn-ea"/>
              </a:rPr>
              <a:t>Hive+MySQL+Sqoop</a:t>
            </a:r>
            <a:r>
              <a:rPr lang="zh-CN" altLang="zh-CN" dirty="0">
                <a:latin typeface="+mn-ea"/>
                <a:ea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19</a:t>
            </a:fld>
            <a:endParaRPr lang="zh-CN" altLang="en-US">
              <a:latin typeface="+mn-ea"/>
            </a:endParaRPr>
          </a:p>
        </p:txBody>
      </p:sp>
      <p:sp>
        <p:nvSpPr>
          <p:cNvPr id="4" name="内容占位符 2"/>
          <p:cNvSpPr txBox="1"/>
          <p:nvPr/>
        </p:nvSpPr>
        <p:spPr>
          <a:xfrm>
            <a:off x="855343" y="1525573"/>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删除空值行：</a:t>
            </a:r>
          </a:p>
        </p:txBody>
      </p:sp>
      <p:sp>
        <p:nvSpPr>
          <p:cNvPr id="5" name="文本框 16"/>
          <p:cNvSpPr txBox="1"/>
          <p:nvPr/>
        </p:nvSpPr>
        <p:spPr>
          <a:xfrm>
            <a:off x="855343" y="2011570"/>
            <a:ext cx="10080000" cy="2062103"/>
          </a:xfrm>
          <a:prstGeom prst="rect">
            <a:avLst/>
          </a:prstGeom>
          <a:solidFill>
            <a:schemeClr val="accent3">
              <a:lumMod val="20000"/>
              <a:lumOff val="80000"/>
            </a:schemeClr>
          </a:solidFill>
        </p:spPr>
        <p:txBody>
          <a:bodyPr wrap="square" rtlCol="0">
            <a:spAutoFit/>
          </a:bodyPr>
          <a:lstStyle/>
          <a:p>
            <a:pPr>
              <a:lnSpc>
                <a:spcPct val="200000"/>
              </a:lnSpc>
            </a:pPr>
            <a:r>
              <a:rPr lang="en-US" altLang="zh-CN" sz="1600" dirty="0">
                <a:latin typeface="+mn-ea"/>
              </a:rPr>
              <a:t>delete from </a:t>
            </a:r>
            <a:r>
              <a:rPr lang="en-US" altLang="zh-CN" sz="1600" dirty="0" err="1">
                <a:latin typeface="+mn-ea"/>
              </a:rPr>
              <a:t>user_log</a:t>
            </a:r>
            <a:r>
              <a:rPr lang="en-US" altLang="zh-CN" sz="1600" dirty="0">
                <a:latin typeface="+mn-ea"/>
              </a:rPr>
              <a:t> where city='';</a:t>
            </a:r>
            <a:endParaRPr lang="zh-CN" altLang="zh-CN" sz="1600" dirty="0">
              <a:latin typeface="+mn-ea"/>
            </a:endParaRPr>
          </a:p>
          <a:p>
            <a:pPr>
              <a:lnSpc>
                <a:spcPct val="200000"/>
              </a:lnSpc>
            </a:pPr>
            <a:r>
              <a:rPr lang="en-US" altLang="zh-CN" sz="1600" dirty="0">
                <a:latin typeface="+mn-ea"/>
              </a:rPr>
              <a:t>delete from </a:t>
            </a:r>
            <a:r>
              <a:rPr lang="en-US" altLang="zh-CN" sz="1600" dirty="0" err="1">
                <a:latin typeface="+mn-ea"/>
              </a:rPr>
              <a:t>user_log</a:t>
            </a:r>
            <a:r>
              <a:rPr lang="en-US" altLang="zh-CN" sz="1600" dirty="0">
                <a:latin typeface="+mn-ea"/>
              </a:rPr>
              <a:t> where </a:t>
            </a:r>
            <a:r>
              <a:rPr lang="en-US" altLang="zh-CN" sz="1600" dirty="0" err="1">
                <a:latin typeface="+mn-ea"/>
              </a:rPr>
              <a:t>category_I</a:t>
            </a:r>
            <a:r>
              <a:rPr lang="en-US" altLang="zh-CN" sz="1600" dirty="0">
                <a:latin typeface="+mn-ea"/>
              </a:rPr>
              <a:t>='';</a:t>
            </a:r>
            <a:endParaRPr lang="zh-CN" altLang="zh-CN" sz="1600" dirty="0">
              <a:latin typeface="+mn-ea"/>
            </a:endParaRPr>
          </a:p>
          <a:p>
            <a:pPr>
              <a:lnSpc>
                <a:spcPct val="200000"/>
              </a:lnSpc>
            </a:pPr>
            <a:r>
              <a:rPr lang="en-US" altLang="zh-CN" sz="1600" dirty="0">
                <a:latin typeface="+mn-ea"/>
              </a:rPr>
              <a:t>delete from </a:t>
            </a:r>
            <a:r>
              <a:rPr lang="en-US" altLang="zh-CN" sz="1600" dirty="0" err="1">
                <a:latin typeface="+mn-ea"/>
              </a:rPr>
              <a:t>user_log</a:t>
            </a:r>
            <a:r>
              <a:rPr lang="en-US" altLang="zh-CN" sz="1600" dirty="0">
                <a:latin typeface="+mn-ea"/>
              </a:rPr>
              <a:t> where </a:t>
            </a:r>
            <a:r>
              <a:rPr lang="en-US" altLang="zh-CN" sz="1600" dirty="0" err="1">
                <a:latin typeface="+mn-ea"/>
              </a:rPr>
              <a:t>category_II</a:t>
            </a:r>
            <a:r>
              <a:rPr lang="en-US" altLang="zh-CN" sz="1600" dirty="0">
                <a:latin typeface="+mn-ea"/>
              </a:rPr>
              <a:t>='';</a:t>
            </a:r>
            <a:endParaRPr lang="zh-CN" altLang="zh-CN" sz="1600" dirty="0">
              <a:latin typeface="+mn-ea"/>
            </a:endParaRPr>
          </a:p>
          <a:p>
            <a:pPr>
              <a:lnSpc>
                <a:spcPct val="200000"/>
              </a:lnSpc>
            </a:pPr>
            <a:r>
              <a:rPr lang="en-US" altLang="zh-CN" sz="1600" dirty="0">
                <a:latin typeface="+mn-ea"/>
              </a:rPr>
              <a:t>delete from </a:t>
            </a:r>
            <a:r>
              <a:rPr lang="en-US" altLang="zh-CN" sz="1600" dirty="0" err="1">
                <a:latin typeface="+mn-ea"/>
              </a:rPr>
              <a:t>user_log</a:t>
            </a:r>
            <a:r>
              <a:rPr lang="en-US" altLang="zh-CN" sz="1600" dirty="0">
                <a:latin typeface="+mn-ea"/>
              </a:rPr>
              <a:t> where sex='';</a:t>
            </a:r>
            <a:endParaRPr lang="zh-CN" altLang="zh-CN" sz="1600" dirty="0">
              <a:latin typeface="+mn-ea"/>
            </a:endParaRPr>
          </a:p>
        </p:txBody>
      </p:sp>
      <p:sp>
        <p:nvSpPr>
          <p:cNvPr id="7" name="内容占位符 2"/>
          <p:cNvSpPr txBox="1"/>
          <p:nvPr/>
        </p:nvSpPr>
        <p:spPr>
          <a:xfrm>
            <a:off x="855343" y="4178751"/>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latin typeface="+mn-ea"/>
              </a:rPr>
              <a:t>删除成功后，还有以下数据量。</a:t>
            </a:r>
          </a:p>
        </p:txBody>
      </p:sp>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pic>
        <p:nvPicPr>
          <p:cNvPr id="13" name="Picture 12"/>
          <p:cNvPicPr/>
          <p:nvPr/>
        </p:nvPicPr>
        <p:blipFill>
          <a:blip r:embed="rId3"/>
          <a:stretch>
            <a:fillRect/>
          </a:stretch>
        </p:blipFill>
        <p:spPr>
          <a:xfrm>
            <a:off x="855343" y="4664748"/>
            <a:ext cx="5392058" cy="1862176"/>
          </a:xfrm>
          <a:prstGeom prst="rect">
            <a:avLst/>
          </a:prstGeom>
        </p:spPr>
      </p:pic>
      <p:pic>
        <p:nvPicPr>
          <p:cNvPr id="14" name="Picture 13"/>
          <p:cNvPicPr/>
          <p:nvPr/>
        </p:nvPicPr>
        <p:blipFill>
          <a:blip r:embed="rId4"/>
          <a:stretch>
            <a:fillRect/>
          </a:stretch>
        </p:blipFill>
        <p:spPr>
          <a:xfrm>
            <a:off x="5449274" y="1161998"/>
            <a:ext cx="6182709" cy="333828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3.4.1</a:t>
            </a:r>
            <a:r>
              <a:rPr lang="zh-CN" altLang="zh-CN" dirty="0">
                <a:latin typeface="+mn-ea"/>
              </a:rPr>
              <a:t>基于</a:t>
            </a:r>
            <a:r>
              <a:rPr lang="en-US" altLang="zh-CN" dirty="0" err="1">
                <a:latin typeface="+mn-ea"/>
              </a:rPr>
              <a:t>Hive+MySQL+Sqoop</a:t>
            </a:r>
            <a:r>
              <a:rPr lang="zh-CN" altLang="zh-CN" dirty="0">
                <a:latin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20</a:t>
            </a:fld>
            <a:endParaRPr lang="zh-CN" altLang="en-US">
              <a:latin typeface="+mn-ea"/>
            </a:endParaRPr>
          </a:p>
        </p:txBody>
      </p:sp>
      <p:sp>
        <p:nvSpPr>
          <p:cNvPr id="4" name="内容占位符 2"/>
          <p:cNvSpPr txBox="1"/>
          <p:nvPr/>
        </p:nvSpPr>
        <p:spPr>
          <a:xfrm>
            <a:off x="855343" y="1525573"/>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latin typeface="+mn-ea"/>
              </a:rPr>
              <a:t>将当前的数据保存为</a:t>
            </a:r>
            <a:r>
              <a:rPr lang="en-US" altLang="zh-CN" sz="1800" dirty="0">
                <a:latin typeface="+mn-ea"/>
              </a:rPr>
              <a:t>csv</a:t>
            </a:r>
            <a:r>
              <a:rPr lang="zh-CN" altLang="zh-CN" sz="1800" dirty="0">
                <a:latin typeface="+mn-ea"/>
              </a:rPr>
              <a:t>格式：</a:t>
            </a:r>
          </a:p>
        </p:txBody>
      </p:sp>
      <p:sp>
        <p:nvSpPr>
          <p:cNvPr id="5" name="文本框 16"/>
          <p:cNvSpPr txBox="1"/>
          <p:nvPr/>
        </p:nvSpPr>
        <p:spPr>
          <a:xfrm>
            <a:off x="855343" y="2076286"/>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 from </a:t>
            </a:r>
            <a:r>
              <a:rPr lang="en-US" altLang="zh-CN" sz="1600" dirty="0" err="1">
                <a:latin typeface="+mn-ea"/>
              </a:rPr>
              <a:t>user_log</a:t>
            </a:r>
            <a:r>
              <a:rPr lang="en-US" altLang="zh-CN" sz="1600" dirty="0">
                <a:latin typeface="+mn-ea"/>
              </a:rPr>
              <a:t> into </a:t>
            </a:r>
            <a:r>
              <a:rPr lang="en-US" altLang="zh-CN" sz="1600" dirty="0" err="1">
                <a:latin typeface="+mn-ea"/>
              </a:rPr>
              <a:t>outfile</a:t>
            </a:r>
            <a:r>
              <a:rPr lang="en-US" altLang="zh-CN" sz="1600" dirty="0">
                <a:latin typeface="+mn-ea"/>
              </a:rPr>
              <a:t> '/home/</a:t>
            </a:r>
            <a:r>
              <a:rPr lang="en-US" altLang="zh-CN" sz="1600" dirty="0" err="1">
                <a:latin typeface="+mn-ea"/>
              </a:rPr>
              <a:t>hadoop</a:t>
            </a:r>
            <a:r>
              <a:rPr lang="en-US" altLang="zh-CN" sz="1600" dirty="0">
                <a:latin typeface="+mn-ea"/>
              </a:rPr>
              <a:t>/data/MarketSales_341results.csv' fields terminated by ',' lines terminated by '\n';</a:t>
            </a:r>
            <a:endParaRPr lang="zh-CN" altLang="zh-CN" sz="1600" dirty="0">
              <a:latin typeface="+mn-ea"/>
            </a:endParaRPr>
          </a:p>
        </p:txBody>
      </p:sp>
      <p:sp>
        <p:nvSpPr>
          <p:cNvPr id="6"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8" name="内容占位符 2"/>
          <p:cNvSpPr txBox="1"/>
          <p:nvPr/>
        </p:nvSpPr>
        <p:spPr>
          <a:xfrm>
            <a:off x="855343" y="3077077"/>
            <a:ext cx="10080000" cy="9281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zh-CN" sz="1800" dirty="0">
                <a:latin typeface="+mn-ea"/>
              </a:rPr>
              <a:t>若出现</a:t>
            </a:r>
            <a:r>
              <a:rPr lang="zh-CN" altLang="en-US" sz="1800" dirty="0">
                <a:latin typeface="+mn-ea"/>
              </a:rPr>
              <a:t>下</a:t>
            </a:r>
            <a:r>
              <a:rPr lang="zh-CN" altLang="zh-CN" sz="1800" dirty="0">
                <a:latin typeface="+mn-ea"/>
              </a:rPr>
              <a:t>图报错，是因为在安装</a:t>
            </a:r>
            <a:r>
              <a:rPr lang="en-US" altLang="zh-CN" sz="1800" dirty="0">
                <a:latin typeface="+mn-ea"/>
              </a:rPr>
              <a:t>MySQL</a:t>
            </a:r>
            <a:r>
              <a:rPr lang="zh-CN" altLang="zh-CN" sz="1800" dirty="0">
                <a:latin typeface="+mn-ea"/>
              </a:rPr>
              <a:t>时限制了导入与导出的目录权限，只允许在规定的目录下才能导入。</a:t>
            </a:r>
          </a:p>
        </p:txBody>
      </p:sp>
      <p:pic>
        <p:nvPicPr>
          <p:cNvPr id="9" name="Picture 8"/>
          <p:cNvPicPr/>
          <p:nvPr/>
        </p:nvPicPr>
        <p:blipFill>
          <a:blip r:embed="rId3"/>
          <a:stretch>
            <a:fillRect/>
          </a:stretch>
        </p:blipFill>
        <p:spPr>
          <a:xfrm>
            <a:off x="855343" y="4175062"/>
            <a:ext cx="10140202" cy="1153683"/>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3.4.1</a:t>
            </a:r>
            <a:r>
              <a:rPr lang="zh-CN" altLang="zh-CN" dirty="0">
                <a:latin typeface="+mn-ea"/>
              </a:rPr>
              <a:t>基于</a:t>
            </a:r>
            <a:r>
              <a:rPr lang="en-US" altLang="zh-CN" dirty="0" err="1">
                <a:latin typeface="+mn-ea"/>
              </a:rPr>
              <a:t>Hive+MySQL+Sqoop</a:t>
            </a:r>
            <a:r>
              <a:rPr lang="zh-CN" altLang="zh-CN" dirty="0">
                <a:latin typeface="+mn-ea"/>
              </a:rPr>
              <a:t>的数据存储与传输</a:t>
            </a:r>
            <a:endParaRPr lang="zh-CN" altLang="en-US" dirty="0">
              <a:latin typeface="+mn-ea"/>
              <a:ea typeface="+mn-ea"/>
            </a:endParaRP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latin typeface="+mn-ea"/>
              </a:rPr>
              <a:t>21</a:t>
            </a:fld>
            <a:endParaRPr lang="zh-CN" altLang="en-US">
              <a:latin typeface="+mn-ea"/>
            </a:endParaRPr>
          </a:p>
        </p:txBody>
      </p:sp>
      <p:sp>
        <p:nvSpPr>
          <p:cNvPr id="4" name="内容占位符 2"/>
          <p:cNvSpPr txBox="1"/>
          <p:nvPr/>
        </p:nvSpPr>
        <p:spPr>
          <a:xfrm>
            <a:off x="855343" y="1525573"/>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latin typeface="+mn-ea"/>
              </a:rPr>
              <a:t>输入以下命令查看</a:t>
            </a:r>
            <a:r>
              <a:rPr lang="en-US" altLang="zh-CN" sz="1800" dirty="0">
                <a:latin typeface="+mn-ea"/>
              </a:rPr>
              <a:t>--</a:t>
            </a:r>
            <a:r>
              <a:rPr lang="en-US" altLang="zh-CN" sz="1800" dirty="0" err="1">
                <a:latin typeface="+mn-ea"/>
              </a:rPr>
              <a:t>sercure</a:t>
            </a:r>
            <a:r>
              <a:rPr lang="en-US" altLang="zh-CN" sz="1800" dirty="0">
                <a:latin typeface="+mn-ea"/>
              </a:rPr>
              <a:t>-file-</a:t>
            </a:r>
            <a:r>
              <a:rPr lang="en-US" altLang="zh-CN" sz="1800" dirty="0" err="1">
                <a:latin typeface="+mn-ea"/>
              </a:rPr>
              <a:t>priv</a:t>
            </a:r>
            <a:r>
              <a:rPr lang="zh-CN" altLang="zh-CN" sz="1800" dirty="0">
                <a:latin typeface="+mn-ea"/>
              </a:rPr>
              <a:t>的值。</a:t>
            </a:r>
          </a:p>
        </p:txBody>
      </p:sp>
      <p:sp>
        <p:nvSpPr>
          <p:cNvPr id="5" name="文本框 16"/>
          <p:cNvSpPr txBox="1"/>
          <p:nvPr/>
        </p:nvSpPr>
        <p:spPr>
          <a:xfrm>
            <a:off x="855343" y="2076286"/>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show variables like "</a:t>
            </a:r>
            <a:r>
              <a:rPr lang="en-US" altLang="zh-CN" sz="1600" dirty="0" err="1">
                <a:latin typeface="+mn-ea"/>
              </a:rPr>
              <a:t>secure_file_priv</a:t>
            </a:r>
            <a:r>
              <a:rPr lang="en-US" altLang="zh-CN" sz="1600" dirty="0">
                <a:latin typeface="+mn-ea"/>
              </a:rPr>
              <a:t>";</a:t>
            </a:r>
            <a:endParaRPr lang="zh-CN" altLang="zh-CN" sz="1600" dirty="0">
              <a:latin typeface="+mn-ea"/>
            </a:endParaRPr>
          </a:p>
        </p:txBody>
      </p:sp>
      <p:sp>
        <p:nvSpPr>
          <p:cNvPr id="6"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pic>
        <p:nvPicPr>
          <p:cNvPr id="8" name="Picture 7"/>
          <p:cNvPicPr/>
          <p:nvPr/>
        </p:nvPicPr>
        <p:blipFill>
          <a:blip r:embed="rId3"/>
          <a:stretch>
            <a:fillRect/>
          </a:stretch>
        </p:blipFill>
        <p:spPr>
          <a:xfrm>
            <a:off x="855343" y="2584634"/>
            <a:ext cx="7027416" cy="224328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3.4.1</a:t>
            </a:r>
            <a:r>
              <a:rPr lang="zh-CN" altLang="zh-CN" dirty="0">
                <a:latin typeface="+mn-ea"/>
              </a:rPr>
              <a:t>基于</a:t>
            </a:r>
            <a:r>
              <a:rPr lang="en-US" altLang="zh-CN" dirty="0" err="1">
                <a:latin typeface="+mn-ea"/>
              </a:rPr>
              <a:t>Hive+MySQL+Sqoop</a:t>
            </a:r>
            <a:r>
              <a:rPr lang="zh-CN" altLang="zh-CN" dirty="0">
                <a:latin typeface="+mn-ea"/>
              </a:rPr>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22</a:t>
            </a:fld>
            <a:endParaRPr lang="zh-CN" altLang="en-US"/>
          </a:p>
        </p:txBody>
      </p:sp>
      <p:sp>
        <p:nvSpPr>
          <p:cNvPr id="4" name="内容占位符 2"/>
          <p:cNvSpPr txBox="1"/>
          <p:nvPr/>
        </p:nvSpPr>
        <p:spPr>
          <a:xfrm>
            <a:off x="855343" y="1525573"/>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将保存的数据路径改为该目录后，可正确保存数据集。</a:t>
            </a:r>
            <a:endParaRPr lang="zh-CN" altLang="zh-CN" sz="1800" dirty="0">
              <a:latin typeface="+mn-ea"/>
            </a:endParaRPr>
          </a:p>
        </p:txBody>
      </p:sp>
      <p:sp>
        <p:nvSpPr>
          <p:cNvPr id="5" name="文本框 16"/>
          <p:cNvSpPr txBox="1"/>
          <p:nvPr/>
        </p:nvSpPr>
        <p:spPr>
          <a:xfrm>
            <a:off x="855343" y="2076286"/>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 from </a:t>
            </a:r>
            <a:r>
              <a:rPr lang="en-US" altLang="zh-CN" sz="1600" dirty="0" err="1">
                <a:latin typeface="+mn-ea"/>
              </a:rPr>
              <a:t>user_log</a:t>
            </a:r>
            <a:r>
              <a:rPr lang="en-US" altLang="zh-CN" sz="1600" dirty="0">
                <a:latin typeface="+mn-ea"/>
              </a:rPr>
              <a:t> into </a:t>
            </a:r>
            <a:r>
              <a:rPr lang="en-US" altLang="zh-CN" sz="1600" dirty="0" err="1">
                <a:latin typeface="+mn-ea"/>
              </a:rPr>
              <a:t>outfile</a:t>
            </a:r>
            <a:r>
              <a:rPr lang="en-US" altLang="zh-CN" sz="1600" dirty="0">
                <a:latin typeface="+mn-ea"/>
              </a:rPr>
              <a:t> '/</a:t>
            </a:r>
            <a:r>
              <a:rPr lang="en-US" altLang="zh-CN" sz="1600" dirty="0" err="1">
                <a:latin typeface="+mn-ea"/>
              </a:rPr>
              <a:t>var</a:t>
            </a:r>
            <a:r>
              <a:rPr lang="en-US" altLang="zh-CN" sz="1600" dirty="0">
                <a:latin typeface="+mn-ea"/>
              </a:rPr>
              <a:t>/lib/</a:t>
            </a:r>
            <a:r>
              <a:rPr lang="en-US" altLang="zh-CN" sz="1600" dirty="0" err="1">
                <a:latin typeface="+mn-ea"/>
              </a:rPr>
              <a:t>mysql</a:t>
            </a:r>
            <a:r>
              <a:rPr lang="en-US" altLang="zh-CN" sz="1600" dirty="0">
                <a:latin typeface="+mn-ea"/>
              </a:rPr>
              <a:t>-files/MarketSales_341results.csv' fields terminated by ',' lines terminated by '\n';</a:t>
            </a:r>
            <a:endParaRPr lang="zh-CN" altLang="zh-CN" sz="1600" dirty="0">
              <a:latin typeface="+mn-ea"/>
            </a:endParaRPr>
          </a:p>
        </p:txBody>
      </p:sp>
      <p:sp>
        <p:nvSpPr>
          <p:cNvPr id="6"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pic>
        <p:nvPicPr>
          <p:cNvPr id="8" name="Picture 7"/>
          <p:cNvPicPr/>
          <p:nvPr/>
        </p:nvPicPr>
        <p:blipFill>
          <a:blip r:embed="rId3"/>
          <a:stretch>
            <a:fillRect/>
          </a:stretch>
        </p:blipFill>
        <p:spPr>
          <a:xfrm>
            <a:off x="855342" y="3077077"/>
            <a:ext cx="10080001" cy="756061"/>
          </a:xfrm>
          <a:prstGeom prst="rect">
            <a:avLst/>
          </a:prstGeom>
        </p:spPr>
      </p:pic>
      <p:sp>
        <p:nvSpPr>
          <p:cNvPr id="9" name="内容占位符 2"/>
          <p:cNvSpPr txBox="1"/>
          <p:nvPr/>
        </p:nvSpPr>
        <p:spPr>
          <a:xfrm>
            <a:off x="855343" y="4002932"/>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将文件复制至</a:t>
            </a:r>
            <a:r>
              <a:rPr lang="en-US" altLang="zh-CN" sz="1800" dirty="0"/>
              <a:t>data</a:t>
            </a:r>
            <a:r>
              <a:rPr lang="zh-CN" altLang="zh-CN" sz="1800" dirty="0"/>
              <a:t>文件夹</a:t>
            </a:r>
            <a:r>
              <a:rPr lang="zh-CN" altLang="en-US" sz="1800" dirty="0"/>
              <a:t>，并</a:t>
            </a:r>
            <a:r>
              <a:rPr lang="zh-CN" altLang="zh-CN" sz="1800" dirty="0"/>
              <a:t>修改文件权限。</a:t>
            </a:r>
            <a:endParaRPr lang="zh-CN" altLang="zh-CN" sz="1800" dirty="0">
              <a:latin typeface="+mn-ea"/>
            </a:endParaRPr>
          </a:p>
        </p:txBody>
      </p:sp>
      <p:sp>
        <p:nvSpPr>
          <p:cNvPr id="10" name="文本框 16"/>
          <p:cNvSpPr txBox="1"/>
          <p:nvPr/>
        </p:nvSpPr>
        <p:spPr>
          <a:xfrm>
            <a:off x="855343" y="4553645"/>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cp</a:t>
            </a:r>
            <a:r>
              <a:rPr lang="en-US" altLang="zh-CN" sz="1600" dirty="0">
                <a:latin typeface="+mn-ea"/>
              </a:rPr>
              <a:t> /</a:t>
            </a:r>
            <a:r>
              <a:rPr lang="en-US" altLang="zh-CN" sz="1600" dirty="0" err="1">
                <a:latin typeface="+mn-ea"/>
              </a:rPr>
              <a:t>var</a:t>
            </a:r>
            <a:r>
              <a:rPr lang="en-US" altLang="zh-CN" sz="1600" dirty="0">
                <a:latin typeface="+mn-ea"/>
              </a:rPr>
              <a:t>/lib/</a:t>
            </a:r>
            <a:r>
              <a:rPr lang="en-US" altLang="zh-CN" sz="1600" dirty="0" err="1">
                <a:latin typeface="+mn-ea"/>
              </a:rPr>
              <a:t>mysql</a:t>
            </a:r>
            <a:r>
              <a:rPr lang="en-US" altLang="zh-CN" sz="1600" dirty="0">
                <a:latin typeface="+mn-ea"/>
              </a:rPr>
              <a:t>-files/MarketSales_341results.csv /home/</a:t>
            </a:r>
            <a:r>
              <a:rPr lang="en-US" altLang="zh-CN" sz="1600" dirty="0" err="1">
                <a:latin typeface="+mn-ea"/>
              </a:rPr>
              <a:t>hadoop</a:t>
            </a:r>
            <a:r>
              <a:rPr lang="en-US" altLang="zh-CN" sz="1600" dirty="0">
                <a:latin typeface="+mn-ea"/>
              </a:rPr>
              <a:t>/data/</a:t>
            </a:r>
          </a:p>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chown</a:t>
            </a:r>
            <a:r>
              <a:rPr lang="en-US" altLang="zh-CN" sz="1600" dirty="0">
                <a:latin typeface="+mn-ea"/>
              </a:rPr>
              <a:t> 777 /home/</a:t>
            </a:r>
            <a:r>
              <a:rPr lang="en-US" altLang="zh-CN" sz="1600" dirty="0" err="1">
                <a:latin typeface="+mn-ea"/>
              </a:rPr>
              <a:t>hadoop</a:t>
            </a:r>
            <a:r>
              <a:rPr lang="en-US" altLang="zh-CN" sz="1600" dirty="0">
                <a:latin typeface="+mn-ea"/>
              </a:rPr>
              <a:t>/data/MarketSales_341results.csv</a:t>
            </a:r>
            <a:endParaRPr lang="zh-CN" altLang="zh-CN" sz="1600"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3.4.1</a:t>
            </a:r>
            <a:r>
              <a:rPr lang="zh-CN" altLang="zh-CN" dirty="0">
                <a:latin typeface="+mn-ea"/>
              </a:rPr>
              <a:t>基于</a:t>
            </a:r>
            <a:r>
              <a:rPr lang="en-US" altLang="zh-CN" dirty="0" err="1">
                <a:latin typeface="+mn-ea"/>
              </a:rPr>
              <a:t>Hive+MySQL+Sqoop</a:t>
            </a:r>
            <a:r>
              <a:rPr lang="zh-CN" altLang="zh-CN" dirty="0">
                <a:latin typeface="+mn-ea"/>
              </a:rPr>
              <a:t>的数据存储与传输</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23</a:t>
            </a:fld>
            <a:endParaRPr lang="zh-CN" altLang="en-US"/>
          </a:p>
        </p:txBody>
      </p:sp>
      <p:sp>
        <p:nvSpPr>
          <p:cNvPr id="4" name="内容占位符 2"/>
          <p:cNvSpPr txBox="1"/>
          <p:nvPr/>
        </p:nvSpPr>
        <p:spPr>
          <a:xfrm>
            <a:off x="855343" y="1525573"/>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若保存的数据没有表头，使用下面命令保存带有表头的数据。</a:t>
            </a:r>
            <a:endParaRPr lang="zh-CN" altLang="zh-CN" sz="1800" dirty="0">
              <a:latin typeface="+mn-ea"/>
            </a:endParaRPr>
          </a:p>
        </p:txBody>
      </p:sp>
      <p:sp>
        <p:nvSpPr>
          <p:cNvPr id="5" name="文本框 16"/>
          <p:cNvSpPr txBox="1"/>
          <p:nvPr/>
        </p:nvSpPr>
        <p:spPr>
          <a:xfrm>
            <a:off x="855343" y="2076286"/>
            <a:ext cx="10080000" cy="2634183"/>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 from (select 'id','</a:t>
            </a:r>
            <a:r>
              <a:rPr lang="en-US" altLang="zh-CN" sz="1600" dirty="0" err="1">
                <a:latin typeface="+mn-ea"/>
              </a:rPr>
              <a:t>itemcode</a:t>
            </a:r>
            <a:r>
              <a:rPr lang="en-US" altLang="zh-CN" sz="1600" dirty="0">
                <a:latin typeface="+mn-ea"/>
              </a:rPr>
              <a:t>','</a:t>
            </a:r>
            <a:r>
              <a:rPr lang="en-US" altLang="zh-CN" sz="1600" dirty="0" err="1">
                <a:latin typeface="+mn-ea"/>
              </a:rPr>
              <a:t>itemname</a:t>
            </a:r>
            <a:r>
              <a:rPr lang="en-US" altLang="zh-CN" sz="1600" dirty="0">
                <a:latin typeface="+mn-ea"/>
              </a:rPr>
              <a:t>',' </a:t>
            </a:r>
            <a:r>
              <a:rPr lang="en-US" altLang="zh-CN" sz="1600" dirty="0" err="1">
                <a:latin typeface="+mn-ea"/>
              </a:rPr>
              <a:t>ficheno</a:t>
            </a:r>
            <a:r>
              <a:rPr lang="en-US" altLang="zh-CN" sz="1600" dirty="0">
                <a:latin typeface="+mn-ea"/>
              </a:rPr>
              <a:t>', '</a:t>
            </a:r>
            <a:r>
              <a:rPr lang="en-US" altLang="zh-CN" sz="1600" dirty="0" err="1">
                <a:latin typeface="+mn-ea"/>
              </a:rPr>
              <a:t>merchant_date</a:t>
            </a:r>
            <a:r>
              <a:rPr lang="en-US" altLang="zh-CN" sz="1600" dirty="0">
                <a:latin typeface="+mn-ea"/>
              </a:rPr>
              <a:t>', 'amount', 'price', '</a:t>
            </a:r>
            <a:r>
              <a:rPr lang="en-US" altLang="zh-CN" sz="1600" dirty="0" err="1">
                <a:latin typeface="+mn-ea"/>
              </a:rPr>
              <a:t>linenettotal</a:t>
            </a:r>
            <a:r>
              <a:rPr lang="en-US" altLang="zh-CN" sz="1600" dirty="0">
                <a:latin typeface="+mn-ea"/>
              </a:rPr>
              <a:t>', '</a:t>
            </a:r>
            <a:r>
              <a:rPr lang="en-US" altLang="zh-CN" sz="1600" dirty="0" err="1">
                <a:latin typeface="+mn-ea"/>
              </a:rPr>
              <a:t>linenet</a:t>
            </a:r>
            <a:r>
              <a:rPr lang="en-US" altLang="zh-CN" sz="1600" dirty="0">
                <a:latin typeface="+mn-ea"/>
              </a:rPr>
              <a:t>', '</a:t>
            </a:r>
            <a:r>
              <a:rPr lang="en-US" altLang="zh-CN" sz="1600" dirty="0" err="1">
                <a:latin typeface="+mn-ea"/>
              </a:rPr>
              <a:t>branchnr</a:t>
            </a:r>
            <a:r>
              <a:rPr lang="en-US" altLang="zh-CN" sz="1600" dirty="0">
                <a:latin typeface="+mn-ea"/>
              </a:rPr>
              <a:t>', 'branch', 'salesman', 'city', 'region', 'latitude', 'longitude', '</a:t>
            </a:r>
            <a:r>
              <a:rPr lang="en-US" altLang="zh-CN" sz="1600" dirty="0" err="1">
                <a:latin typeface="+mn-ea"/>
              </a:rPr>
              <a:t>clientcode</a:t>
            </a:r>
            <a:r>
              <a:rPr lang="en-US" altLang="zh-CN" sz="1600" dirty="0">
                <a:latin typeface="+mn-ea"/>
              </a:rPr>
              <a:t>', '</a:t>
            </a:r>
            <a:r>
              <a:rPr lang="en-US" altLang="zh-CN" sz="1600" dirty="0" err="1">
                <a:latin typeface="+mn-ea"/>
              </a:rPr>
              <a:t>clientname</a:t>
            </a:r>
            <a:r>
              <a:rPr lang="en-US" altLang="zh-CN" sz="1600" dirty="0">
                <a:latin typeface="+mn-ea"/>
              </a:rPr>
              <a:t>', '</a:t>
            </a:r>
            <a:r>
              <a:rPr lang="en-US" altLang="zh-CN" sz="1600" dirty="0" err="1">
                <a:latin typeface="+mn-ea"/>
              </a:rPr>
              <a:t>brandcode</a:t>
            </a:r>
            <a:r>
              <a:rPr lang="en-US" altLang="zh-CN" sz="1600" dirty="0">
                <a:latin typeface="+mn-ea"/>
              </a:rPr>
              <a:t>', 'brand', '</a:t>
            </a:r>
            <a:r>
              <a:rPr lang="en-US" altLang="zh-CN" sz="1600" dirty="0" err="1">
                <a:latin typeface="+mn-ea"/>
              </a:rPr>
              <a:t>category_I</a:t>
            </a:r>
            <a:r>
              <a:rPr lang="en-US" altLang="zh-CN" sz="1600" dirty="0">
                <a:latin typeface="+mn-ea"/>
              </a:rPr>
              <a:t>', '</a:t>
            </a:r>
            <a:r>
              <a:rPr lang="en-US" altLang="zh-CN" sz="1600" dirty="0" err="1">
                <a:latin typeface="+mn-ea"/>
              </a:rPr>
              <a:t>category_II</a:t>
            </a:r>
            <a:r>
              <a:rPr lang="en-US" altLang="zh-CN" sz="1600" dirty="0">
                <a:latin typeface="+mn-ea"/>
              </a:rPr>
              <a:t>', '</a:t>
            </a:r>
            <a:r>
              <a:rPr lang="en-US" altLang="zh-CN" sz="1600" dirty="0" err="1">
                <a:latin typeface="+mn-ea"/>
              </a:rPr>
              <a:t>category_III</a:t>
            </a:r>
            <a:r>
              <a:rPr lang="en-US" altLang="zh-CN" sz="1600" dirty="0">
                <a:latin typeface="+mn-ea"/>
              </a:rPr>
              <a:t>', '</a:t>
            </a:r>
            <a:r>
              <a:rPr lang="en-US" altLang="zh-CN" sz="1600" dirty="0" err="1">
                <a:latin typeface="+mn-ea"/>
              </a:rPr>
              <a:t>startdate</a:t>
            </a:r>
            <a:r>
              <a:rPr lang="en-US" altLang="zh-CN" sz="1600" dirty="0">
                <a:latin typeface="+mn-ea"/>
              </a:rPr>
              <a:t>', '</a:t>
            </a:r>
            <a:r>
              <a:rPr lang="en-US" altLang="zh-CN" sz="1600" dirty="0" err="1">
                <a:latin typeface="+mn-ea"/>
              </a:rPr>
              <a:t>enddate</a:t>
            </a:r>
            <a:r>
              <a:rPr lang="en-US" altLang="zh-CN" sz="1600" dirty="0">
                <a:latin typeface="+mn-ea"/>
              </a:rPr>
              <a:t>', 'sex' union all select id, </a:t>
            </a:r>
            <a:r>
              <a:rPr lang="en-US" altLang="zh-CN" sz="1600" dirty="0" err="1">
                <a:latin typeface="+mn-ea"/>
              </a:rPr>
              <a:t>itemcode</a:t>
            </a:r>
            <a:r>
              <a:rPr lang="en-US" altLang="zh-CN" sz="1600" dirty="0">
                <a:latin typeface="+mn-ea"/>
              </a:rPr>
              <a:t>, </a:t>
            </a:r>
            <a:r>
              <a:rPr lang="en-US" altLang="zh-CN" sz="1600" dirty="0" err="1">
                <a:latin typeface="+mn-ea"/>
              </a:rPr>
              <a:t>itemname</a:t>
            </a:r>
            <a:r>
              <a:rPr lang="en-US" altLang="zh-CN" sz="1600" dirty="0">
                <a:latin typeface="+mn-ea"/>
              </a:rPr>
              <a:t>, </a:t>
            </a:r>
            <a:r>
              <a:rPr lang="en-US" altLang="zh-CN" sz="1600" dirty="0" err="1">
                <a:latin typeface="+mn-ea"/>
              </a:rPr>
              <a:t>ficheno</a:t>
            </a:r>
            <a:r>
              <a:rPr lang="en-US" altLang="zh-CN" sz="1600" dirty="0">
                <a:latin typeface="+mn-ea"/>
              </a:rPr>
              <a:t>, </a:t>
            </a:r>
            <a:r>
              <a:rPr lang="en-US" altLang="zh-CN" sz="1600" dirty="0" err="1">
                <a:latin typeface="+mn-ea"/>
              </a:rPr>
              <a:t>merchant_date</a:t>
            </a:r>
            <a:r>
              <a:rPr lang="en-US" altLang="zh-CN" sz="1600" dirty="0">
                <a:latin typeface="+mn-ea"/>
              </a:rPr>
              <a:t>, amount, price, </a:t>
            </a:r>
            <a:r>
              <a:rPr lang="en-US" altLang="zh-CN" sz="1600" dirty="0" err="1">
                <a:latin typeface="+mn-ea"/>
              </a:rPr>
              <a:t>linenettotal</a:t>
            </a:r>
            <a:r>
              <a:rPr lang="en-US" altLang="zh-CN" sz="1600" dirty="0">
                <a:latin typeface="+mn-ea"/>
              </a:rPr>
              <a:t>, </a:t>
            </a:r>
            <a:r>
              <a:rPr lang="en-US" altLang="zh-CN" sz="1600" dirty="0" err="1">
                <a:latin typeface="+mn-ea"/>
              </a:rPr>
              <a:t>linenet</a:t>
            </a:r>
            <a:r>
              <a:rPr lang="en-US" altLang="zh-CN" sz="1600" dirty="0">
                <a:latin typeface="+mn-ea"/>
              </a:rPr>
              <a:t>, </a:t>
            </a:r>
            <a:r>
              <a:rPr lang="en-US" altLang="zh-CN" sz="1600" dirty="0" err="1">
                <a:latin typeface="+mn-ea"/>
              </a:rPr>
              <a:t>branchnr</a:t>
            </a:r>
            <a:r>
              <a:rPr lang="en-US" altLang="zh-CN" sz="1600" dirty="0">
                <a:latin typeface="+mn-ea"/>
              </a:rPr>
              <a:t>, branch, salesman, city, region, latitude, longitude, </a:t>
            </a:r>
            <a:r>
              <a:rPr lang="en-US" altLang="zh-CN" sz="1600" dirty="0" err="1">
                <a:latin typeface="+mn-ea"/>
              </a:rPr>
              <a:t>clientcode</a:t>
            </a:r>
            <a:r>
              <a:rPr lang="en-US" altLang="zh-CN" sz="1600" dirty="0">
                <a:latin typeface="+mn-ea"/>
              </a:rPr>
              <a:t>, </a:t>
            </a:r>
            <a:r>
              <a:rPr lang="en-US" altLang="zh-CN" sz="1600" dirty="0" err="1">
                <a:latin typeface="+mn-ea"/>
              </a:rPr>
              <a:t>clientname</a:t>
            </a:r>
            <a:r>
              <a:rPr lang="en-US" altLang="zh-CN" sz="1600" dirty="0">
                <a:latin typeface="+mn-ea"/>
              </a:rPr>
              <a:t>, </a:t>
            </a:r>
            <a:r>
              <a:rPr lang="en-US" altLang="zh-CN" sz="1600" dirty="0" err="1">
                <a:latin typeface="+mn-ea"/>
              </a:rPr>
              <a:t>brandcode</a:t>
            </a:r>
            <a:r>
              <a:rPr lang="en-US" altLang="zh-CN" sz="1600" dirty="0">
                <a:latin typeface="+mn-ea"/>
              </a:rPr>
              <a:t>, brand, </a:t>
            </a:r>
            <a:r>
              <a:rPr lang="en-US" altLang="zh-CN" sz="1600" dirty="0" err="1">
                <a:latin typeface="+mn-ea"/>
              </a:rPr>
              <a:t>category_I</a:t>
            </a:r>
            <a:r>
              <a:rPr lang="en-US" altLang="zh-CN" sz="1600" dirty="0">
                <a:latin typeface="+mn-ea"/>
              </a:rPr>
              <a:t>, </a:t>
            </a:r>
            <a:r>
              <a:rPr lang="en-US" altLang="zh-CN" sz="1600" dirty="0" err="1">
                <a:latin typeface="+mn-ea"/>
              </a:rPr>
              <a:t>category_II</a:t>
            </a:r>
            <a:r>
              <a:rPr lang="en-US" altLang="zh-CN" sz="1600" dirty="0">
                <a:latin typeface="+mn-ea"/>
              </a:rPr>
              <a:t>, </a:t>
            </a:r>
            <a:r>
              <a:rPr lang="en-US" altLang="zh-CN" sz="1600" dirty="0" err="1">
                <a:latin typeface="+mn-ea"/>
              </a:rPr>
              <a:t>category_III</a:t>
            </a:r>
            <a:r>
              <a:rPr lang="en-US" altLang="zh-CN" sz="1600" dirty="0">
                <a:latin typeface="+mn-ea"/>
              </a:rPr>
              <a:t>, </a:t>
            </a:r>
            <a:r>
              <a:rPr lang="en-US" altLang="zh-CN" sz="1600" dirty="0" err="1">
                <a:latin typeface="+mn-ea"/>
              </a:rPr>
              <a:t>startdate</a:t>
            </a:r>
            <a:r>
              <a:rPr lang="en-US" altLang="zh-CN" sz="1600" dirty="0">
                <a:latin typeface="+mn-ea"/>
              </a:rPr>
              <a:t>, </a:t>
            </a:r>
            <a:r>
              <a:rPr lang="en-US" altLang="zh-CN" sz="1600" dirty="0" err="1">
                <a:latin typeface="+mn-ea"/>
              </a:rPr>
              <a:t>enddate</a:t>
            </a:r>
            <a:r>
              <a:rPr lang="en-US" altLang="zh-CN" sz="1600" dirty="0">
                <a:latin typeface="+mn-ea"/>
              </a:rPr>
              <a:t>, sex from </a:t>
            </a:r>
            <a:r>
              <a:rPr lang="en-US" altLang="zh-CN" sz="1600" dirty="0" err="1">
                <a:latin typeface="+mn-ea"/>
              </a:rPr>
              <a:t>user_log</a:t>
            </a:r>
            <a:r>
              <a:rPr lang="en-US" altLang="zh-CN" sz="1600" dirty="0">
                <a:latin typeface="+mn-ea"/>
              </a:rPr>
              <a:t>)b into </a:t>
            </a:r>
            <a:r>
              <a:rPr lang="en-US" altLang="zh-CN" sz="1600" dirty="0" err="1">
                <a:latin typeface="+mn-ea"/>
              </a:rPr>
              <a:t>outfile</a:t>
            </a:r>
            <a:r>
              <a:rPr lang="en-US" altLang="zh-CN" sz="1600" dirty="0">
                <a:latin typeface="+mn-ea"/>
              </a:rPr>
              <a:t> '/</a:t>
            </a:r>
            <a:r>
              <a:rPr lang="en-US" altLang="zh-CN" sz="1600" dirty="0" err="1">
                <a:latin typeface="+mn-ea"/>
              </a:rPr>
              <a:t>var</a:t>
            </a:r>
            <a:r>
              <a:rPr lang="en-US" altLang="zh-CN" sz="1600" dirty="0">
                <a:latin typeface="+mn-ea"/>
              </a:rPr>
              <a:t>/lib/</a:t>
            </a:r>
            <a:r>
              <a:rPr lang="en-US" altLang="zh-CN" sz="1600" dirty="0" err="1">
                <a:latin typeface="+mn-ea"/>
              </a:rPr>
              <a:t>mysql</a:t>
            </a:r>
            <a:r>
              <a:rPr lang="en-US" altLang="zh-CN" sz="1600" dirty="0">
                <a:latin typeface="+mn-ea"/>
              </a:rPr>
              <a:t>-files/MarketSales_341results.csv' fields terminated by ',' lines terminated by '\n';</a:t>
            </a:r>
            <a:endParaRPr lang="zh-CN" altLang="zh-CN" sz="1600" dirty="0">
              <a:latin typeface="+mn-ea"/>
            </a:endParaRPr>
          </a:p>
        </p:txBody>
      </p:sp>
      <p:sp>
        <p:nvSpPr>
          <p:cNvPr id="6"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a:t>
            </a:r>
            <a:r>
              <a:rPr lang="zh-CN" altLang="en-US" sz="1800" b="1" dirty="0">
                <a:latin typeface="+mn-ea"/>
                <a:ea typeface="+mn-ea"/>
              </a:rPr>
              <a:t>用</a:t>
            </a:r>
            <a:r>
              <a:rPr lang="en-US" altLang="zh-CN" sz="1800" b="1" dirty="0" err="1">
                <a:latin typeface="+mn-ea"/>
                <a:ea typeface="+mn-ea"/>
              </a:rPr>
              <a:t>Sqoop</a:t>
            </a:r>
            <a:r>
              <a:rPr lang="zh-CN" altLang="en-US" sz="1800" b="1" dirty="0">
                <a:latin typeface="+mn-ea"/>
                <a:ea typeface="+mn-ea"/>
              </a:rPr>
              <a:t>将数据从</a:t>
            </a:r>
            <a:r>
              <a:rPr lang="en-US" altLang="zh-CN" sz="1800" b="1" dirty="0">
                <a:latin typeface="+mn-ea"/>
                <a:ea typeface="+mn-ea"/>
              </a:rPr>
              <a:t>Hive</a:t>
            </a:r>
            <a:r>
              <a:rPr lang="zh-CN" altLang="en-US" sz="1800" b="1" dirty="0">
                <a:latin typeface="+mn-ea"/>
                <a:ea typeface="+mn-ea"/>
              </a:rPr>
              <a:t>导入</a:t>
            </a:r>
            <a:r>
              <a:rPr lang="en-US" altLang="zh-CN" sz="1800" b="1" dirty="0">
                <a:latin typeface="+mn-ea"/>
                <a:ea typeface="+mn-ea"/>
              </a:rPr>
              <a:t>MySQL</a:t>
            </a:r>
            <a:endParaRPr lang="zh-CN" altLang="en-US" sz="1800" b="1" dirty="0">
              <a:latin typeface="+mn-ea"/>
              <a:ea typeface="+mn-ea"/>
            </a:endParaRP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8" name="内容占位符 2">
            <a:extLst>
              <a:ext uri="{FF2B5EF4-FFF2-40B4-BE49-F238E27FC236}">
                <a16:creationId xmlns:a16="http://schemas.microsoft.com/office/drawing/2014/main" id="{C06FB5F7-B281-4B57-A4FB-B3A0DC3B8E75}"/>
              </a:ext>
            </a:extLst>
          </p:cNvPr>
          <p:cNvSpPr txBox="1"/>
          <p:nvPr/>
        </p:nvSpPr>
        <p:spPr>
          <a:xfrm>
            <a:off x="855343" y="4974512"/>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重新</a:t>
            </a:r>
            <a:r>
              <a:rPr lang="zh-CN" altLang="zh-CN" sz="1800" dirty="0"/>
              <a:t>将文件复制至</a:t>
            </a:r>
            <a:r>
              <a:rPr lang="en-US" altLang="zh-CN" sz="1800" dirty="0"/>
              <a:t>data</a:t>
            </a:r>
            <a:r>
              <a:rPr lang="zh-CN" altLang="zh-CN" sz="1800" dirty="0"/>
              <a:t>文件夹</a:t>
            </a:r>
            <a:r>
              <a:rPr lang="zh-CN" altLang="en-US" sz="1800" dirty="0"/>
              <a:t>，并</a:t>
            </a:r>
            <a:r>
              <a:rPr lang="zh-CN" altLang="zh-CN" sz="1800" dirty="0"/>
              <a:t>修改文件权限。</a:t>
            </a:r>
            <a:endParaRPr lang="zh-CN" altLang="zh-CN" sz="1800" dirty="0">
              <a:latin typeface="+mn-ea"/>
            </a:endParaRPr>
          </a:p>
        </p:txBody>
      </p:sp>
      <p:sp>
        <p:nvSpPr>
          <p:cNvPr id="9" name="文本框 16">
            <a:extLst>
              <a:ext uri="{FF2B5EF4-FFF2-40B4-BE49-F238E27FC236}">
                <a16:creationId xmlns:a16="http://schemas.microsoft.com/office/drawing/2014/main" id="{B347B41C-3C93-4FFA-AC1D-39A296F459C1}"/>
              </a:ext>
            </a:extLst>
          </p:cNvPr>
          <p:cNvSpPr txBox="1"/>
          <p:nvPr/>
        </p:nvSpPr>
        <p:spPr>
          <a:xfrm>
            <a:off x="855343" y="5525225"/>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cp</a:t>
            </a:r>
            <a:r>
              <a:rPr lang="en-US" altLang="zh-CN" sz="1600" dirty="0">
                <a:latin typeface="+mn-ea"/>
              </a:rPr>
              <a:t> /</a:t>
            </a:r>
            <a:r>
              <a:rPr lang="en-US" altLang="zh-CN" sz="1600" dirty="0" err="1">
                <a:latin typeface="+mn-ea"/>
              </a:rPr>
              <a:t>var</a:t>
            </a:r>
            <a:r>
              <a:rPr lang="en-US" altLang="zh-CN" sz="1600" dirty="0">
                <a:latin typeface="+mn-ea"/>
              </a:rPr>
              <a:t>/lib/</a:t>
            </a:r>
            <a:r>
              <a:rPr lang="en-US" altLang="zh-CN" sz="1600" dirty="0" err="1">
                <a:latin typeface="+mn-ea"/>
              </a:rPr>
              <a:t>mysql</a:t>
            </a:r>
            <a:r>
              <a:rPr lang="en-US" altLang="zh-CN" sz="1600" dirty="0">
                <a:latin typeface="+mn-ea"/>
              </a:rPr>
              <a:t>-files/MarketSales_341results.csv /home/</a:t>
            </a:r>
            <a:r>
              <a:rPr lang="en-US" altLang="zh-CN" sz="1600" dirty="0" err="1">
                <a:latin typeface="+mn-ea"/>
              </a:rPr>
              <a:t>hadoop</a:t>
            </a:r>
            <a:r>
              <a:rPr lang="en-US" altLang="zh-CN" sz="1600" dirty="0">
                <a:latin typeface="+mn-ea"/>
              </a:rPr>
              <a:t>/data/</a:t>
            </a:r>
          </a:p>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chown</a:t>
            </a:r>
            <a:r>
              <a:rPr lang="en-US" altLang="zh-CN" sz="1600" dirty="0">
                <a:latin typeface="+mn-ea"/>
              </a:rPr>
              <a:t> 777 /home/</a:t>
            </a:r>
            <a:r>
              <a:rPr lang="en-US" altLang="zh-CN" sz="1600" dirty="0" err="1">
                <a:latin typeface="+mn-ea"/>
              </a:rPr>
              <a:t>hadoop</a:t>
            </a:r>
            <a:r>
              <a:rPr lang="en-US" altLang="zh-CN" sz="1600" dirty="0">
                <a:latin typeface="+mn-ea"/>
              </a:rPr>
              <a:t>/data/MarketSales_341results.csv</a:t>
            </a:r>
            <a:endParaRPr lang="zh-CN" altLang="zh-CN" sz="1600"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3.4.2 </a:t>
            </a:r>
            <a:r>
              <a:rPr lang="zh-CN" altLang="en-US" dirty="0">
                <a:latin typeface="+mn-ea"/>
              </a:rPr>
              <a:t>基于零售交易数据的</a:t>
            </a:r>
            <a:r>
              <a:rPr lang="en-US" altLang="zh-CN" dirty="0">
                <a:latin typeface="+mn-ea"/>
              </a:rPr>
              <a:t>Spark</a:t>
            </a:r>
            <a:r>
              <a:rPr lang="zh-CN" altLang="en-US" dirty="0">
                <a:latin typeface="+mn-ea"/>
              </a:rPr>
              <a:t>数据处理与分析</a:t>
            </a:r>
            <a:endParaRPr lang="zh-CN" altLang="en-US" dirty="0"/>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24</a:t>
            </a:fld>
            <a:endParaRPr lang="zh-CN" altLang="en-US"/>
          </a:p>
        </p:txBody>
      </p:sp>
      <p:sp>
        <p:nvSpPr>
          <p:cNvPr id="5" name="内容占位符 2"/>
          <p:cNvSpPr>
            <a:spLocks noGrp="1"/>
          </p:cNvSpPr>
          <p:nvPr/>
        </p:nvSpPr>
        <p:spPr>
          <a:xfrm>
            <a:off x="854710"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1. </a:t>
            </a:r>
            <a:r>
              <a:rPr lang="en-US" altLang="zh-CN" sz="1800" b="1" dirty="0" err="1">
                <a:latin typeface="+mn-ea"/>
                <a:ea typeface="+mn-ea"/>
              </a:rPr>
              <a:t>PySpark</a:t>
            </a:r>
            <a:r>
              <a:rPr lang="zh-CN" altLang="en-US" sz="1800" b="1" dirty="0">
                <a:latin typeface="+mn-ea"/>
                <a:ea typeface="+mn-ea"/>
              </a:rPr>
              <a:t>连接</a:t>
            </a:r>
            <a:r>
              <a:rPr lang="en-US" altLang="zh-CN" sz="1800" b="1" dirty="0">
                <a:latin typeface="+mn-ea"/>
                <a:ea typeface="+mn-ea"/>
              </a:rPr>
              <a:t>MySQL</a:t>
            </a:r>
            <a:r>
              <a:rPr lang="zh-CN" altLang="en-US" sz="1800" b="1" dirty="0">
                <a:latin typeface="+mn-ea"/>
                <a:ea typeface="+mn-ea"/>
              </a:rPr>
              <a:t>环境配置</a:t>
            </a:r>
          </a:p>
        </p:txBody>
      </p:sp>
      <p:sp>
        <p:nvSpPr>
          <p:cNvPr id="6"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7" name="内容占位符 2"/>
          <p:cNvSpPr>
            <a:spLocks noGrp="1"/>
          </p:cNvSpPr>
          <p:nvPr/>
        </p:nvSpPr>
        <p:spPr>
          <a:xfrm>
            <a:off x="854710" y="1555618"/>
            <a:ext cx="10080000"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zh-CN" sz="1800" dirty="0"/>
              <a:t>将</a:t>
            </a:r>
            <a:r>
              <a:rPr lang="en-US" altLang="zh-CN" sz="1800" dirty="0"/>
              <a:t>MySQL</a:t>
            </a:r>
            <a:r>
              <a:rPr lang="zh-CN" altLang="zh-CN" sz="1800" dirty="0"/>
              <a:t>的驱动</a:t>
            </a:r>
            <a:r>
              <a:rPr lang="en-US" altLang="zh-CN" sz="1800" dirty="0"/>
              <a:t>jar</a:t>
            </a:r>
            <a:r>
              <a:rPr lang="zh-CN" altLang="zh-CN" sz="1800" dirty="0"/>
              <a:t>包，放到</a:t>
            </a:r>
            <a:r>
              <a:rPr lang="en-US" altLang="zh-CN" sz="1800" dirty="0"/>
              <a:t>JAVA_HOME</a:t>
            </a:r>
            <a:r>
              <a:rPr lang="zh-CN" altLang="zh-CN" sz="1800" dirty="0"/>
              <a:t>目录下的</a:t>
            </a:r>
            <a:r>
              <a:rPr lang="en-US" altLang="zh-CN" sz="1800" dirty="0" err="1"/>
              <a:t>jre</a:t>
            </a:r>
            <a:r>
              <a:rPr lang="en-US" altLang="zh-CN" sz="1800" dirty="0"/>
              <a:t>\lib\</a:t>
            </a:r>
            <a:r>
              <a:rPr lang="en-US" altLang="zh-CN" sz="1800" dirty="0" err="1"/>
              <a:t>ext</a:t>
            </a:r>
            <a:r>
              <a:rPr lang="zh-CN" altLang="zh-CN" sz="1800" dirty="0"/>
              <a:t>目录下：</a:t>
            </a:r>
            <a:r>
              <a:rPr lang="en-US" altLang="zh-CN" sz="1800" dirty="0">
                <a:latin typeface="+mn-ea"/>
              </a:rPr>
              <a:t>     </a:t>
            </a:r>
          </a:p>
          <a:p>
            <a:pPr marL="0" indent="0">
              <a:lnSpc>
                <a:spcPct val="100000"/>
              </a:lnSpc>
              <a:buNone/>
            </a:pPr>
            <a:r>
              <a:rPr lang="en-US" altLang="zh-CN" sz="1800" dirty="0">
                <a:latin typeface="+mn-ea"/>
                <a:ea typeface="+mn-ea"/>
              </a:rPr>
              <a:t>    </a:t>
            </a:r>
          </a:p>
        </p:txBody>
      </p:sp>
      <p:sp>
        <p:nvSpPr>
          <p:cNvPr id="8" name="文本框 16"/>
          <p:cNvSpPr txBox="1"/>
          <p:nvPr/>
        </p:nvSpPr>
        <p:spPr>
          <a:xfrm>
            <a:off x="854708" y="2219925"/>
            <a:ext cx="10080000" cy="787523"/>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cd /</a:t>
            </a:r>
            <a:r>
              <a:rPr lang="en-US" altLang="zh-CN" sz="1600" dirty="0" err="1">
                <a:latin typeface="+mn-ea"/>
              </a:rPr>
              <a:t>usr</a:t>
            </a:r>
            <a:r>
              <a:rPr lang="en-US" altLang="zh-CN" sz="1600" dirty="0">
                <a:latin typeface="+mn-ea"/>
              </a:rPr>
              <a:t>/local/hive/lib</a:t>
            </a:r>
            <a:endParaRPr lang="zh-CN" altLang="zh-CN" sz="1600" dirty="0">
              <a:latin typeface="+mn-ea"/>
            </a:endParaRPr>
          </a:p>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cp</a:t>
            </a:r>
            <a:r>
              <a:rPr lang="en-US" altLang="zh-CN" sz="1600" dirty="0">
                <a:latin typeface="+mn-ea"/>
              </a:rPr>
              <a:t> </a:t>
            </a:r>
            <a:r>
              <a:rPr lang="en-US" altLang="zh-CN" sz="1600" dirty="0">
                <a:solidFill>
                  <a:srgbClr val="FF0000"/>
                </a:solidFill>
                <a:latin typeface="+mn-ea"/>
              </a:rPr>
              <a:t>mysql-connector-java-5.1.40-bin.jar</a:t>
            </a:r>
            <a:r>
              <a:rPr lang="en-US" altLang="zh-CN" sz="1600" dirty="0">
                <a:latin typeface="+mn-ea"/>
              </a:rPr>
              <a:t> $JAVA_HOME/</a:t>
            </a:r>
            <a:r>
              <a:rPr lang="en-US" altLang="zh-CN" sz="1600" dirty="0" err="1">
                <a:latin typeface="+mn-ea"/>
              </a:rPr>
              <a:t>jre</a:t>
            </a:r>
            <a:r>
              <a:rPr lang="en-US" altLang="zh-CN" sz="1600" dirty="0">
                <a:latin typeface="+mn-ea"/>
              </a:rPr>
              <a:t>/lib/</a:t>
            </a:r>
            <a:r>
              <a:rPr lang="en-US" altLang="zh-CN" sz="1600" dirty="0" err="1">
                <a:latin typeface="+mn-ea"/>
              </a:rPr>
              <a:t>ext</a:t>
            </a:r>
            <a:endParaRPr lang="zh-CN" altLang="zh-CN" sz="1600" dirty="0">
              <a:latin typeface="+mn-ea"/>
            </a:endParaRPr>
          </a:p>
        </p:txBody>
      </p:sp>
      <p:pic>
        <p:nvPicPr>
          <p:cNvPr id="9" name="图片 13"/>
          <p:cNvPicPr/>
          <p:nvPr/>
        </p:nvPicPr>
        <p:blipFill>
          <a:blip r:embed="rId3"/>
          <a:stretch>
            <a:fillRect/>
          </a:stretch>
        </p:blipFill>
        <p:spPr>
          <a:xfrm>
            <a:off x="854708" y="4041192"/>
            <a:ext cx="10080000" cy="1519480"/>
          </a:xfrm>
          <a:prstGeom prst="rect">
            <a:avLst/>
          </a:prstGeom>
        </p:spPr>
      </p:pic>
      <p:sp>
        <p:nvSpPr>
          <p:cNvPr id="10" name="内容占位符 2"/>
          <p:cNvSpPr>
            <a:spLocks noGrp="1"/>
          </p:cNvSpPr>
          <p:nvPr/>
        </p:nvSpPr>
        <p:spPr>
          <a:xfrm>
            <a:off x="854708" y="3282581"/>
            <a:ext cx="10080000" cy="5269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Aft>
                <a:spcPts val="0"/>
              </a:spcAft>
              <a:buNone/>
            </a:pPr>
            <a:r>
              <a:rPr lang="zh-CN" altLang="zh-CN" sz="1800" dirty="0"/>
              <a:t>输入密码，复制完成。</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25</a:t>
            </a:fld>
            <a:endParaRPr lang="zh-CN" altLang="en-US">
              <a:latin typeface="+mn-ea"/>
            </a:endParaRPr>
          </a:p>
        </p:txBody>
      </p:sp>
      <p:sp>
        <p:nvSpPr>
          <p:cNvPr id="17" name="文本框 16"/>
          <p:cNvSpPr txBox="1"/>
          <p:nvPr/>
        </p:nvSpPr>
        <p:spPr>
          <a:xfrm>
            <a:off x="854708" y="2167489"/>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mysql</a:t>
            </a:r>
            <a:r>
              <a:rPr lang="en-US" altLang="zh-CN" sz="1600" dirty="0">
                <a:latin typeface="+mn-ea"/>
              </a:rPr>
              <a:t> -h localhost -u root -p</a:t>
            </a:r>
            <a:endParaRPr lang="zh-CN" altLang="zh-CN" sz="1600" dirty="0">
              <a:latin typeface="+mn-ea"/>
            </a:endParaRPr>
          </a:p>
        </p:txBody>
      </p:sp>
      <p:sp>
        <p:nvSpPr>
          <p:cNvPr id="1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1. </a:t>
            </a:r>
            <a:r>
              <a:rPr lang="en-US" altLang="zh-CN" sz="1800" b="1" dirty="0" err="1">
                <a:latin typeface="+mn-ea"/>
              </a:rPr>
              <a:t>PySpark</a:t>
            </a:r>
            <a:r>
              <a:rPr lang="zh-CN" altLang="en-US" sz="1800" b="1" dirty="0">
                <a:latin typeface="+mn-ea"/>
              </a:rPr>
              <a:t>连接</a:t>
            </a:r>
            <a:r>
              <a:rPr lang="en-US" altLang="zh-CN" sz="1800" b="1" dirty="0">
                <a:latin typeface="+mn-ea"/>
              </a:rPr>
              <a:t>MySQL</a:t>
            </a:r>
            <a:r>
              <a:rPr lang="zh-CN" altLang="en-US" sz="1800" b="1" dirty="0">
                <a:latin typeface="+mn-ea"/>
              </a:rPr>
              <a:t>环境配置</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启动</a:t>
            </a:r>
            <a:r>
              <a:rPr lang="en-US" altLang="zh-CN" sz="1800" dirty="0">
                <a:latin typeface="+mn-ea"/>
                <a:ea typeface="+mn-ea"/>
              </a:rPr>
              <a:t>MySQL</a:t>
            </a:r>
            <a:r>
              <a:rPr lang="zh-CN" altLang="en-US" sz="1800" dirty="0">
                <a:latin typeface="+mn-ea"/>
                <a:ea typeface="+mn-ea"/>
              </a:rPr>
              <a:t>服务，并输入密码：</a:t>
            </a:r>
            <a:endParaRPr lang="en-US" altLang="zh-CN" sz="1800" dirty="0">
              <a:latin typeface="+mn-ea"/>
              <a:ea typeface="+mn-ea"/>
            </a:endParaRPr>
          </a:p>
        </p:txBody>
      </p:sp>
      <p:pic>
        <p:nvPicPr>
          <p:cNvPr id="17410" name="图片 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2747658"/>
            <a:ext cx="8656521" cy="384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26</a:t>
            </a:fld>
            <a:endParaRPr lang="zh-CN" altLang="en-US">
              <a:latin typeface="+mn-ea"/>
            </a:endParaRPr>
          </a:p>
        </p:txBody>
      </p:sp>
      <p:sp>
        <p:nvSpPr>
          <p:cNvPr id="17" name="文本框 16"/>
          <p:cNvSpPr txBox="1"/>
          <p:nvPr/>
        </p:nvSpPr>
        <p:spPr>
          <a:xfrm>
            <a:off x="854707" y="2286678"/>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show databases;</a:t>
            </a:r>
            <a:endParaRPr lang="zh-CN" altLang="zh-CN" sz="1600" dirty="0">
              <a:latin typeface="+mn-ea"/>
            </a:endParaRPr>
          </a:p>
        </p:txBody>
      </p:sp>
      <p:sp>
        <p:nvSpPr>
          <p:cNvPr id="13"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1. </a:t>
            </a:r>
            <a:r>
              <a:rPr lang="en-US" altLang="zh-CN" sz="1800" b="1" dirty="0" err="1">
                <a:latin typeface="+mn-ea"/>
              </a:rPr>
              <a:t>PySpark</a:t>
            </a:r>
            <a:r>
              <a:rPr lang="zh-CN" altLang="en-US" sz="1800" b="1" dirty="0">
                <a:latin typeface="+mn-ea"/>
              </a:rPr>
              <a:t>连接</a:t>
            </a:r>
            <a:r>
              <a:rPr lang="en-US" altLang="zh-CN" sz="1800" b="1" dirty="0">
                <a:latin typeface="+mn-ea"/>
              </a:rPr>
              <a:t>MySQL</a:t>
            </a:r>
            <a:r>
              <a:rPr lang="zh-CN" altLang="en-US" sz="1800" b="1" dirty="0">
                <a:latin typeface="+mn-ea"/>
              </a:rPr>
              <a:t>环境配置</a:t>
            </a:r>
          </a:p>
        </p:txBody>
      </p:sp>
      <p:sp>
        <p:nvSpPr>
          <p:cNvPr id="14"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5"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en-US" sz="1800" dirty="0">
                <a:latin typeface="+mn-ea"/>
                <a:ea typeface="+mn-ea"/>
              </a:rPr>
              <a:t>查看数据库</a:t>
            </a:r>
            <a:endParaRPr lang="en-US" altLang="zh-CN" sz="1800" dirty="0">
              <a:latin typeface="+mn-ea"/>
              <a:ea typeface="+mn-ea"/>
            </a:endParaRPr>
          </a:p>
        </p:txBody>
      </p:sp>
      <p:pic>
        <p:nvPicPr>
          <p:cNvPr id="18434" name="图片 1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1259" y="1364615"/>
            <a:ext cx="4598768" cy="507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27</a:t>
            </a:fld>
            <a:endParaRPr lang="zh-CN" altLang="en-US">
              <a:latin typeface="+mn-ea"/>
            </a:endParaRPr>
          </a:p>
        </p:txBody>
      </p:sp>
      <p:sp>
        <p:nvSpPr>
          <p:cNvPr id="7" name="内容占位符 2"/>
          <p:cNvSpPr>
            <a:spLocks noGrp="1"/>
          </p:cNvSpPr>
          <p:nvPr/>
        </p:nvSpPr>
        <p:spPr>
          <a:xfrm>
            <a:off x="854710" y="2123389"/>
            <a:ext cx="1008000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启动</a:t>
            </a:r>
            <a:r>
              <a:rPr lang="en-US" altLang="zh-CN" sz="1800" dirty="0" err="1">
                <a:latin typeface="+mn-ea"/>
                <a:ea typeface="+mn-ea"/>
              </a:rPr>
              <a:t>hadoop</a:t>
            </a:r>
            <a:r>
              <a:rPr lang="zh-CN" altLang="en-US" sz="1800" dirty="0">
                <a:latin typeface="+mn-ea"/>
                <a:ea typeface="+mn-ea"/>
              </a:rPr>
              <a:t>，并</a:t>
            </a:r>
            <a:r>
              <a:rPr lang="zh-CN" altLang="zh-CN" sz="1800" dirty="0">
                <a:latin typeface="+mn-ea"/>
                <a:ea typeface="+mn-ea"/>
              </a:rPr>
              <a:t>在</a:t>
            </a:r>
            <a:r>
              <a:rPr lang="en-US" altLang="zh-CN" sz="1800" dirty="0">
                <a:latin typeface="+mn-ea"/>
                <a:ea typeface="+mn-ea"/>
              </a:rPr>
              <a:t>HDFS</a:t>
            </a:r>
            <a:r>
              <a:rPr lang="zh-CN" altLang="zh-CN" sz="1800" dirty="0">
                <a:latin typeface="+mn-ea"/>
                <a:ea typeface="+mn-ea"/>
              </a:rPr>
              <a:t>的根目录下自行创建文件夹</a:t>
            </a:r>
            <a:r>
              <a:rPr lang="en-US" altLang="zh-CN" sz="1800" dirty="0">
                <a:latin typeface="+mn-ea"/>
                <a:ea typeface="+mn-ea"/>
              </a:rPr>
              <a:t>/</a:t>
            </a:r>
            <a:r>
              <a:rPr lang="en-US" altLang="zh-CN" sz="1800" dirty="0" err="1">
                <a:latin typeface="+mn-ea"/>
                <a:ea typeface="+mn-ea"/>
              </a:rPr>
              <a:t>dbjd</a:t>
            </a:r>
            <a:r>
              <a:rPr lang="en-US" altLang="zh-CN" sz="1800" dirty="0">
                <a:latin typeface="+mn-ea"/>
                <a:ea typeface="+mn-ea"/>
              </a:rPr>
              <a:t>/dataset </a:t>
            </a:r>
            <a:endParaRPr lang="zh-CN" altLang="zh-CN" sz="1800" dirty="0">
              <a:latin typeface="+mn-ea"/>
              <a:ea typeface="+mn-ea"/>
            </a:endParaRPr>
          </a:p>
          <a:p>
            <a:pPr marL="0" indent="0">
              <a:lnSpc>
                <a:spcPct val="100000"/>
              </a:lnSpc>
              <a:buNone/>
            </a:pPr>
            <a:r>
              <a:rPr lang="en-US" altLang="zh-CN" sz="1800" dirty="0">
                <a:latin typeface="+mn-ea"/>
                <a:ea typeface="+mn-ea"/>
              </a:rPr>
              <a:t>     </a:t>
            </a:r>
          </a:p>
        </p:txBody>
      </p:sp>
      <p:sp>
        <p:nvSpPr>
          <p:cNvPr id="17" name="文本框 16"/>
          <p:cNvSpPr txBox="1"/>
          <p:nvPr/>
        </p:nvSpPr>
        <p:spPr>
          <a:xfrm>
            <a:off x="854710" y="2533715"/>
            <a:ext cx="10080000" cy="1569660"/>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cs typeface="微软雅黑" panose="020B0503020204020204" pitchFamily="34" charset="-122"/>
              </a:rPr>
              <a:t>cd /</a:t>
            </a:r>
            <a:r>
              <a:rPr lang="en-US" altLang="zh-CN" sz="1600" dirty="0" err="1">
                <a:latin typeface="+mn-ea"/>
                <a:cs typeface="微软雅黑" panose="020B0503020204020204" pitchFamily="34" charset="-122"/>
              </a:rPr>
              <a:t>usr</a:t>
            </a:r>
            <a:r>
              <a:rPr lang="en-US" altLang="zh-CN" sz="1600" dirty="0">
                <a:latin typeface="+mn-ea"/>
                <a:cs typeface="微软雅黑" panose="020B0503020204020204" pitchFamily="34" charset="-122"/>
              </a:rPr>
              <a:t>/local/</a:t>
            </a:r>
            <a:r>
              <a:rPr lang="en-US" altLang="zh-CN" sz="1600" dirty="0" err="1">
                <a:latin typeface="+mn-ea"/>
                <a:cs typeface="微软雅黑" panose="020B0503020204020204" pitchFamily="34" charset="-122"/>
              </a:rPr>
              <a:t>hadoop</a:t>
            </a:r>
            <a:r>
              <a:rPr lang="en-US" altLang="zh-CN" sz="1600" dirty="0">
                <a:latin typeface="+mn-ea"/>
                <a:cs typeface="微软雅黑" panose="020B0503020204020204" pitchFamily="34" charset="-122"/>
              </a:rPr>
              <a:t>/</a:t>
            </a:r>
          </a:p>
          <a:p>
            <a:pPr>
              <a:lnSpc>
                <a:spcPct val="150000"/>
              </a:lnSpc>
            </a:pPr>
            <a:r>
              <a:rPr lang="en-US" altLang="zh-CN" sz="1600" dirty="0">
                <a:latin typeface="+mn-ea"/>
                <a:cs typeface="微软雅黑" panose="020B0503020204020204" pitchFamily="34" charset="-122"/>
              </a:rPr>
              <a:t>sbin/start-dfs.sh</a:t>
            </a:r>
          </a:p>
          <a:p>
            <a:pPr>
              <a:lnSpc>
                <a:spcPct val="150000"/>
              </a:lnSpc>
            </a:pPr>
            <a:r>
              <a:rPr lang="en-US" altLang="zh-CN" sz="1600" dirty="0">
                <a:latin typeface="+mn-ea"/>
                <a:cs typeface="微软雅黑" panose="020B0503020204020204" pitchFamily="34" charset="-122"/>
              </a:rPr>
              <a:t>./bin/</a:t>
            </a:r>
            <a:r>
              <a:rPr lang="en-US" altLang="zh-CN" sz="1600" dirty="0" err="1">
                <a:latin typeface="+mn-ea"/>
                <a:cs typeface="微软雅黑" panose="020B0503020204020204" pitchFamily="34" charset="-122"/>
              </a:rPr>
              <a:t>hdfs</a:t>
            </a:r>
            <a:r>
              <a:rPr lang="en-US" altLang="zh-CN" sz="1600" dirty="0">
                <a:latin typeface="+mn-ea"/>
                <a:cs typeface="微软雅黑" panose="020B0503020204020204" pitchFamily="34" charset="-122"/>
              </a:rPr>
              <a:t> </a:t>
            </a:r>
            <a:r>
              <a:rPr lang="en-US" altLang="zh-CN" sz="1600" dirty="0" err="1">
                <a:latin typeface="+mn-ea"/>
                <a:cs typeface="微软雅黑" panose="020B0503020204020204" pitchFamily="34" charset="-122"/>
              </a:rPr>
              <a:t>dfs</a:t>
            </a:r>
            <a:r>
              <a:rPr lang="en-US" altLang="zh-CN" sz="1600" dirty="0">
                <a:latin typeface="+mn-ea"/>
                <a:cs typeface="微软雅黑" panose="020B0503020204020204" pitchFamily="34" charset="-122"/>
              </a:rPr>
              <a:t> -</a:t>
            </a:r>
            <a:r>
              <a:rPr lang="en-US" altLang="zh-CN" sz="1600" dirty="0" err="1">
                <a:latin typeface="+mn-ea"/>
                <a:cs typeface="微软雅黑" panose="020B0503020204020204" pitchFamily="34" charset="-122"/>
              </a:rPr>
              <a:t>mkdir</a:t>
            </a:r>
            <a:r>
              <a:rPr lang="en-US" altLang="zh-CN" sz="1600" dirty="0">
                <a:latin typeface="+mn-ea"/>
                <a:cs typeface="微软雅黑" panose="020B0503020204020204" pitchFamily="34" charset="-122"/>
              </a:rPr>
              <a:t> -p /</a:t>
            </a:r>
            <a:r>
              <a:rPr lang="en-US" altLang="zh-CN" sz="1600" dirty="0" err="1">
                <a:latin typeface="+mn-ea"/>
                <a:cs typeface="微软雅黑" panose="020B0503020204020204" pitchFamily="34" charset="-122"/>
              </a:rPr>
              <a:t>dbjd</a:t>
            </a:r>
            <a:r>
              <a:rPr lang="en-US" altLang="zh-CN" sz="1600" dirty="0">
                <a:latin typeface="+mn-ea"/>
                <a:cs typeface="微软雅黑" panose="020B0503020204020204" pitchFamily="34" charset="-122"/>
              </a:rPr>
              <a:t>/dataset</a:t>
            </a:r>
          </a:p>
          <a:p>
            <a:pPr>
              <a:lnSpc>
                <a:spcPct val="150000"/>
              </a:lnSpc>
            </a:pPr>
            <a:r>
              <a:rPr lang="en-US" altLang="zh-CN" sz="1600" dirty="0">
                <a:latin typeface="+mn-ea"/>
                <a:cs typeface="微软雅黑" panose="020B0503020204020204" pitchFamily="34" charset="-122"/>
              </a:rPr>
              <a:t>bin/</a:t>
            </a:r>
            <a:r>
              <a:rPr lang="en-US" altLang="zh-CN" sz="1600" dirty="0" err="1">
                <a:latin typeface="+mn-ea"/>
                <a:cs typeface="微软雅黑" panose="020B0503020204020204" pitchFamily="34" charset="-122"/>
              </a:rPr>
              <a:t>hadoop</a:t>
            </a:r>
            <a:r>
              <a:rPr lang="en-US" altLang="zh-CN" sz="1600" dirty="0">
                <a:latin typeface="+mn-ea"/>
                <a:cs typeface="微软雅黑" panose="020B0503020204020204" pitchFamily="34" charset="-122"/>
              </a:rPr>
              <a:t> fs -put </a:t>
            </a:r>
            <a:r>
              <a:rPr lang="en-US" altLang="zh-CN" sz="1600" dirty="0">
                <a:solidFill>
                  <a:srgbClr val="FF0000"/>
                </a:solidFill>
                <a:latin typeface="+mn-ea"/>
                <a:cs typeface="微软雅黑" panose="020B0503020204020204" pitchFamily="34" charset="-122"/>
              </a:rPr>
              <a:t>~/workspace/</a:t>
            </a:r>
            <a:r>
              <a:rPr lang="en-US" altLang="zh-CN" sz="1600" dirty="0">
                <a:solidFill>
                  <a:srgbClr val="FF0000"/>
                </a:solidFill>
                <a:latin typeface="+mn-ea"/>
              </a:rPr>
              <a:t> MarketSales_transform1</a:t>
            </a:r>
            <a:r>
              <a:rPr lang="en-US" altLang="zh-CN" sz="1600" dirty="0">
                <a:solidFill>
                  <a:srgbClr val="FF0000"/>
                </a:solidFill>
                <a:latin typeface="+mn-ea"/>
                <a:cs typeface="微软雅黑" panose="020B0503020204020204" pitchFamily="34" charset="-122"/>
              </a:rPr>
              <a:t>.csv </a:t>
            </a:r>
            <a:r>
              <a:rPr lang="en-US" altLang="zh-CN" sz="1600" dirty="0">
                <a:latin typeface="+mn-ea"/>
                <a:cs typeface="微软雅黑" panose="020B0503020204020204" pitchFamily="34" charset="-122"/>
              </a:rPr>
              <a:t>/</a:t>
            </a:r>
            <a:r>
              <a:rPr lang="en-US" altLang="zh-CN" sz="1600" dirty="0" err="1">
                <a:latin typeface="+mn-ea"/>
                <a:cs typeface="微软雅黑" panose="020B0503020204020204" pitchFamily="34" charset="-122"/>
              </a:rPr>
              <a:t>dbjd</a:t>
            </a:r>
            <a:r>
              <a:rPr lang="en-US" altLang="zh-CN" sz="1600" dirty="0">
                <a:latin typeface="+mn-ea"/>
                <a:cs typeface="微软雅黑" panose="020B0503020204020204" pitchFamily="34" charset="-122"/>
              </a:rPr>
              <a:t>/dataset</a:t>
            </a:r>
          </a:p>
        </p:txBody>
      </p:sp>
      <p:sp>
        <p:nvSpPr>
          <p:cNvPr id="14" name="内容占位符 2"/>
          <p:cNvSpPr>
            <a:spLocks noGrp="1"/>
          </p:cNvSpPr>
          <p:nvPr/>
        </p:nvSpPr>
        <p:spPr>
          <a:xfrm>
            <a:off x="854710"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2. </a:t>
            </a:r>
            <a:r>
              <a:rPr lang="zh-CN" altLang="en-US" sz="1800" b="1" dirty="0">
                <a:latin typeface="+mn-ea"/>
                <a:ea typeface="+mn-ea"/>
              </a:rPr>
              <a:t>数据预处理</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10" y="1555618"/>
            <a:ext cx="4020820"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en-US" sz="1800" dirty="0">
                <a:latin typeface="+mn-ea"/>
                <a:ea typeface="+mn-ea"/>
              </a:rPr>
              <a:t>先将</a:t>
            </a:r>
            <a:r>
              <a:rPr lang="en-US" altLang="zh-CN" sz="1800" dirty="0">
                <a:latin typeface="+mn-ea"/>
                <a:ea typeface="+mn-ea"/>
              </a:rPr>
              <a:t>csv</a:t>
            </a:r>
            <a:r>
              <a:rPr lang="zh-CN" altLang="en-US" sz="1800" dirty="0">
                <a:latin typeface="+mn-ea"/>
                <a:ea typeface="+mn-ea"/>
              </a:rPr>
              <a:t>格式的数据上传至</a:t>
            </a:r>
            <a:r>
              <a:rPr lang="en-US" altLang="zh-CN" sz="1800" dirty="0" err="1">
                <a:latin typeface="+mn-ea"/>
                <a:ea typeface="+mn-ea"/>
              </a:rPr>
              <a:t>hdfs</a:t>
            </a:r>
            <a:r>
              <a:rPr lang="zh-CN" altLang="en-US" sz="1800" dirty="0">
                <a:latin typeface="+mn-ea"/>
                <a:ea typeface="+mn-ea"/>
              </a:rPr>
              <a:t>中。</a:t>
            </a:r>
            <a:endParaRPr lang="en-US" altLang="zh-CN" sz="1800" dirty="0">
              <a:latin typeface="+mn-ea"/>
              <a:ea typeface="+mn-ea"/>
            </a:endParaRPr>
          </a:p>
          <a:p>
            <a:pPr marL="0" indent="0">
              <a:lnSpc>
                <a:spcPct val="100000"/>
              </a:lnSpc>
              <a:buNone/>
            </a:pPr>
            <a:r>
              <a:rPr lang="en-US" altLang="zh-CN" sz="1800" dirty="0">
                <a:latin typeface="+mn-ea"/>
                <a:ea typeface="+mn-ea"/>
              </a:rPr>
              <a:t>    </a:t>
            </a:r>
          </a:p>
        </p:txBody>
      </p:sp>
      <p:sp>
        <p:nvSpPr>
          <p:cNvPr id="3" name="Rectangle 2"/>
          <p:cNvSpPr/>
          <p:nvPr/>
        </p:nvSpPr>
        <p:spPr>
          <a:xfrm>
            <a:off x="854708" y="4256718"/>
            <a:ext cx="10080000" cy="646331"/>
          </a:xfrm>
          <a:prstGeom prst="rect">
            <a:avLst/>
          </a:prstGeom>
        </p:spPr>
        <p:txBody>
          <a:bodyPr wrap="square">
            <a:spAutoFit/>
          </a:bodyPr>
          <a:lstStyle/>
          <a:p>
            <a:r>
              <a:rPr lang="en-US" altLang="zh-CN" dirty="0">
                <a:latin typeface="+mn-ea"/>
              </a:rPr>
              <a:t>/workspace/</a:t>
            </a:r>
            <a:r>
              <a:rPr lang="en-US" altLang="zh-CN" sz="1800" dirty="0">
                <a:latin typeface="+mn-ea"/>
              </a:rPr>
              <a:t> MarketSales_transform1</a:t>
            </a:r>
            <a:r>
              <a:rPr lang="en-US" altLang="zh-CN" dirty="0">
                <a:latin typeface="+mn-ea"/>
              </a:rPr>
              <a:t>.csv</a:t>
            </a:r>
            <a:r>
              <a:rPr lang="zh-CN" altLang="en-US" dirty="0">
                <a:latin typeface="+mn-ea"/>
              </a:rPr>
              <a:t>是</a:t>
            </a:r>
            <a:r>
              <a:rPr lang="en-US" altLang="zh-CN" dirty="0">
                <a:latin typeface="+mn-ea"/>
              </a:rPr>
              <a:t>/</a:t>
            </a:r>
            <a:r>
              <a:rPr lang="en-US" altLang="zh-CN" sz="1800" dirty="0">
                <a:latin typeface="+mn-ea"/>
              </a:rPr>
              <a:t> MarketSales_transform1</a:t>
            </a:r>
            <a:r>
              <a:rPr lang="en-US" altLang="zh-CN" dirty="0">
                <a:latin typeface="+mn-ea"/>
              </a:rPr>
              <a:t>.csv</a:t>
            </a:r>
            <a:r>
              <a:rPr lang="zh-CN" altLang="en-US" dirty="0">
                <a:latin typeface="+mn-ea"/>
              </a:rPr>
              <a:t>在自己本地电脑上的位置。</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28</a:t>
            </a:fld>
            <a:endParaRPr lang="zh-CN" altLang="en-US">
              <a:latin typeface="+mn-ea"/>
            </a:endParaRPr>
          </a:p>
        </p:txBody>
      </p:sp>
      <p:sp>
        <p:nvSpPr>
          <p:cNvPr id="13" name="文本框 12"/>
          <p:cNvSpPr txBox="1"/>
          <p:nvPr/>
        </p:nvSpPr>
        <p:spPr>
          <a:xfrm>
            <a:off x="854710" y="2721776"/>
            <a:ext cx="10080000" cy="1200329"/>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cs typeface="微软雅黑" panose="020B0503020204020204" pitchFamily="34" charset="-122"/>
              </a:rPr>
              <a:t>pip install </a:t>
            </a:r>
            <a:r>
              <a:rPr lang="en-US" altLang="zh-CN" sz="1600" dirty="0" err="1">
                <a:latin typeface="+mn-ea"/>
                <a:cs typeface="微软雅黑" panose="020B0503020204020204" pitchFamily="34" charset="-122"/>
              </a:rPr>
              <a:t>numpy</a:t>
            </a:r>
            <a:endParaRPr lang="en-US" altLang="zh-CN" sz="1600" dirty="0">
              <a:latin typeface="+mn-ea"/>
              <a:cs typeface="微软雅黑" panose="020B0503020204020204" pitchFamily="34" charset="-122"/>
            </a:endParaRPr>
          </a:p>
          <a:p>
            <a:pPr>
              <a:lnSpc>
                <a:spcPct val="150000"/>
              </a:lnSpc>
            </a:pPr>
            <a:r>
              <a:rPr lang="en-US" altLang="zh-CN" sz="1600" dirty="0">
                <a:latin typeface="+mn-ea"/>
                <a:cs typeface="微软雅黑" panose="020B0503020204020204" pitchFamily="34" charset="-122"/>
              </a:rPr>
              <a:t>cd /</a:t>
            </a:r>
            <a:r>
              <a:rPr lang="en-US" altLang="zh-CN" sz="1600" dirty="0" err="1">
                <a:latin typeface="+mn-ea"/>
                <a:cs typeface="微软雅黑" panose="020B0503020204020204" pitchFamily="34" charset="-122"/>
              </a:rPr>
              <a:t>usr</a:t>
            </a:r>
            <a:r>
              <a:rPr lang="en-US" altLang="zh-CN" sz="1600" dirty="0">
                <a:latin typeface="+mn-ea"/>
                <a:cs typeface="微软雅黑" panose="020B0503020204020204" pitchFamily="34" charset="-122"/>
              </a:rPr>
              <a:t>/local/spark</a:t>
            </a:r>
          </a:p>
          <a:p>
            <a:pPr>
              <a:lnSpc>
                <a:spcPct val="150000"/>
              </a:lnSpc>
            </a:pPr>
            <a:r>
              <a:rPr lang="en-US" altLang="zh-CN" sz="1600" dirty="0">
                <a:latin typeface="+mn-ea"/>
                <a:cs typeface="微软雅黑" panose="020B0503020204020204" pitchFamily="34" charset="-122"/>
              </a:rPr>
              <a:t>./bin/</a:t>
            </a:r>
            <a:r>
              <a:rPr lang="en-US" altLang="zh-CN" sz="1600" dirty="0" err="1">
                <a:latin typeface="+mn-ea"/>
                <a:cs typeface="微软雅黑" panose="020B0503020204020204" pitchFamily="34" charset="-122"/>
              </a:rPr>
              <a:t>pyspark</a:t>
            </a:r>
            <a:endParaRPr lang="en-US" altLang="zh-CN" sz="1600" dirty="0">
              <a:latin typeface="+mn-ea"/>
              <a:cs typeface="微软雅黑" panose="020B0503020204020204" pitchFamily="34" charset="-122"/>
            </a:endParaRPr>
          </a:p>
        </p:txBody>
      </p:sp>
      <p:sp>
        <p:nvSpPr>
          <p:cNvPr id="14" name="内容占位符 2"/>
          <p:cNvSpPr>
            <a:spLocks noGrp="1"/>
          </p:cNvSpPr>
          <p:nvPr/>
        </p:nvSpPr>
        <p:spPr>
          <a:xfrm>
            <a:off x="854710"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10" y="1555618"/>
            <a:ext cx="4020820"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en-US" sz="1800" dirty="0">
                <a:latin typeface="+mn-ea"/>
                <a:ea typeface="+mn-ea"/>
              </a:rPr>
              <a:t>先将</a:t>
            </a:r>
            <a:r>
              <a:rPr lang="en-US" altLang="zh-CN" sz="1800" dirty="0">
                <a:latin typeface="+mn-ea"/>
                <a:ea typeface="+mn-ea"/>
              </a:rPr>
              <a:t>csv</a:t>
            </a:r>
            <a:r>
              <a:rPr lang="zh-CN" altLang="en-US" sz="1800" dirty="0">
                <a:latin typeface="+mn-ea"/>
                <a:ea typeface="+mn-ea"/>
              </a:rPr>
              <a:t>格式的数据上传至</a:t>
            </a:r>
            <a:r>
              <a:rPr lang="en-US" altLang="zh-CN" sz="1800" dirty="0" err="1">
                <a:latin typeface="+mn-ea"/>
                <a:ea typeface="+mn-ea"/>
              </a:rPr>
              <a:t>hdfs</a:t>
            </a:r>
            <a:r>
              <a:rPr lang="zh-CN" altLang="en-US" sz="1800" dirty="0">
                <a:latin typeface="+mn-ea"/>
                <a:ea typeface="+mn-ea"/>
              </a:rPr>
              <a:t>中。</a:t>
            </a:r>
            <a:endParaRPr lang="en-US" altLang="zh-CN" sz="1800" dirty="0">
              <a:latin typeface="+mn-ea"/>
              <a:ea typeface="+mn-ea"/>
            </a:endParaRPr>
          </a:p>
          <a:p>
            <a:pPr marL="0" indent="0">
              <a:lnSpc>
                <a:spcPct val="100000"/>
              </a:lnSpc>
              <a:buNone/>
            </a:pPr>
            <a:r>
              <a:rPr lang="en-US" altLang="zh-CN" sz="1800" dirty="0">
                <a:latin typeface="+mn-ea"/>
                <a:ea typeface="+mn-ea"/>
              </a:rPr>
              <a:t>    </a:t>
            </a:r>
          </a:p>
        </p:txBody>
      </p:sp>
      <p:sp>
        <p:nvSpPr>
          <p:cNvPr id="19" name="内容占位符 2"/>
          <p:cNvSpPr>
            <a:spLocks noGrp="1"/>
          </p:cNvSpPr>
          <p:nvPr/>
        </p:nvSpPr>
        <p:spPr>
          <a:xfrm>
            <a:off x="854709" y="2123389"/>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接着启动</a:t>
            </a:r>
            <a:r>
              <a:rPr lang="en-US" altLang="zh-CN" sz="1800" dirty="0">
                <a:latin typeface="+mn-ea"/>
                <a:ea typeface="+mn-ea"/>
              </a:rPr>
              <a:t>spark</a:t>
            </a:r>
            <a:r>
              <a:rPr lang="zh-CN" altLang="en-US" sz="1800" dirty="0">
                <a:latin typeface="+mn-ea"/>
                <a:ea typeface="+mn-ea"/>
              </a:rPr>
              <a:t>，</a:t>
            </a:r>
            <a:r>
              <a:rPr lang="zh-CN" altLang="zh-CN" sz="1800" dirty="0">
                <a:latin typeface="+mn-ea"/>
                <a:ea typeface="+mn-ea"/>
              </a:rPr>
              <a:t>若本机未安装</a:t>
            </a:r>
            <a:r>
              <a:rPr lang="en-US" altLang="zh-CN" sz="1800" dirty="0" err="1">
                <a:latin typeface="+mn-ea"/>
                <a:ea typeface="+mn-ea"/>
              </a:rPr>
              <a:t>numpy</a:t>
            </a:r>
            <a:r>
              <a:rPr lang="zh-CN" altLang="zh-CN" sz="1800" dirty="0">
                <a:latin typeface="+mn-ea"/>
                <a:ea typeface="+mn-ea"/>
              </a:rPr>
              <a:t>，需先将</a:t>
            </a:r>
            <a:r>
              <a:rPr lang="en-US" altLang="zh-CN" sz="1800" dirty="0" err="1">
                <a:latin typeface="+mn-ea"/>
                <a:ea typeface="+mn-ea"/>
              </a:rPr>
              <a:t>numpy</a:t>
            </a:r>
            <a:r>
              <a:rPr lang="zh-CN" altLang="zh-CN" sz="1800" dirty="0">
                <a:latin typeface="+mn-ea"/>
                <a:ea typeface="+mn-ea"/>
              </a:rPr>
              <a:t>安装再启动</a:t>
            </a:r>
            <a:r>
              <a:rPr lang="en-US" altLang="zh-CN" sz="1800" dirty="0" err="1">
                <a:latin typeface="+mn-ea"/>
                <a:ea typeface="+mn-ea"/>
              </a:rPr>
              <a:t>pyspark</a:t>
            </a:r>
            <a:r>
              <a:rPr lang="zh-CN" altLang="zh-CN" sz="1800" dirty="0">
                <a:latin typeface="+mn-ea"/>
                <a:ea typeface="+mn-ea"/>
              </a:rPr>
              <a:t>。</a:t>
            </a:r>
            <a:endParaRPr lang="en-US" altLang="zh-CN" sz="1800" dirty="0">
              <a:latin typeface="+mn-ea"/>
              <a:ea typeface="+mn-ea"/>
            </a:endParaRPr>
          </a:p>
        </p:txBody>
      </p:sp>
      <p:pic>
        <p:nvPicPr>
          <p:cNvPr id="9" name="内容占位符 5">
            <a:extLst>
              <a:ext uri="{FF2B5EF4-FFF2-40B4-BE49-F238E27FC236}">
                <a16:creationId xmlns:a16="http://schemas.microsoft.com/office/drawing/2014/main" id="{F92D9A68-5015-48A4-978C-10D4DFD9F396}"/>
              </a:ext>
            </a:extLst>
          </p:cNvPr>
          <p:cNvPicPr>
            <a:picLocks noGrp="1" noChangeAspect="1"/>
          </p:cNvPicPr>
          <p:nvPr>
            <p:ph idx="1"/>
          </p:nvPr>
        </p:nvPicPr>
        <p:blipFill>
          <a:blip r:embed="rId3"/>
          <a:stretch>
            <a:fillRect/>
          </a:stretch>
        </p:blipFill>
        <p:spPr>
          <a:xfrm>
            <a:off x="934222" y="5054099"/>
            <a:ext cx="4640982" cy="899238"/>
          </a:xfrm>
        </p:spPr>
      </p:pic>
      <p:sp>
        <p:nvSpPr>
          <p:cNvPr id="10" name="内容占位符 2">
            <a:extLst>
              <a:ext uri="{FF2B5EF4-FFF2-40B4-BE49-F238E27FC236}">
                <a16:creationId xmlns:a16="http://schemas.microsoft.com/office/drawing/2014/main" id="{206238A8-3F8A-4BDA-BEDB-11F11E0BB33E}"/>
              </a:ext>
            </a:extLst>
          </p:cNvPr>
          <p:cNvSpPr>
            <a:spLocks noGrp="1"/>
          </p:cNvSpPr>
          <p:nvPr/>
        </p:nvSpPr>
        <p:spPr>
          <a:xfrm>
            <a:off x="854708" y="4422764"/>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Python3.10</a:t>
            </a:r>
            <a:r>
              <a:rPr lang="zh-CN" altLang="en-US" sz="1800" b="1" dirty="0">
                <a:latin typeface="+mn-ea"/>
                <a:ea typeface="+mn-ea"/>
              </a:rPr>
              <a:t>版本会报错：</a:t>
            </a:r>
            <a:endParaRPr lang="en-US" altLang="zh-CN" sz="1800" b="1"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29</a:t>
            </a:fld>
            <a:endParaRPr lang="zh-CN" altLang="en-US">
              <a:latin typeface="+mn-ea"/>
            </a:endParaRPr>
          </a:p>
        </p:txBody>
      </p:sp>
      <p:sp>
        <p:nvSpPr>
          <p:cNvPr id="13" name="文本框 12"/>
          <p:cNvSpPr txBox="1"/>
          <p:nvPr/>
        </p:nvSpPr>
        <p:spPr>
          <a:xfrm>
            <a:off x="854709" y="2591241"/>
            <a:ext cx="10080000" cy="787523"/>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cs typeface="微软雅黑" panose="020B0503020204020204" pitchFamily="34" charset="-122"/>
              </a:rPr>
              <a:t>sudo</a:t>
            </a:r>
            <a:r>
              <a:rPr lang="en-US" altLang="zh-CN" sz="1600" dirty="0">
                <a:latin typeface="+mn-ea"/>
                <a:cs typeface="微软雅黑" panose="020B0503020204020204" pitchFamily="34" charset="-122"/>
              </a:rPr>
              <a:t> apt update </a:t>
            </a:r>
          </a:p>
          <a:p>
            <a:pPr>
              <a:lnSpc>
                <a:spcPct val="150000"/>
              </a:lnSpc>
            </a:pPr>
            <a:r>
              <a:rPr lang="en-US" altLang="zh-CN" sz="1600" dirty="0" err="1">
                <a:latin typeface="+mn-ea"/>
                <a:cs typeface="微软雅黑" panose="020B0503020204020204" pitchFamily="34" charset="-122"/>
              </a:rPr>
              <a:t>sudo</a:t>
            </a:r>
            <a:r>
              <a:rPr lang="en-US" altLang="zh-CN" sz="1600" dirty="0">
                <a:latin typeface="+mn-ea"/>
                <a:cs typeface="微软雅黑" panose="020B0503020204020204" pitchFamily="34" charset="-122"/>
              </a:rPr>
              <a:t> apt install -y </a:t>
            </a:r>
            <a:r>
              <a:rPr lang="en-US" altLang="zh-CN" sz="1600" dirty="0" err="1">
                <a:latin typeface="+mn-ea"/>
                <a:cs typeface="微软雅黑" panose="020B0503020204020204" pitchFamily="34" charset="-122"/>
              </a:rPr>
              <a:t>wget</a:t>
            </a:r>
            <a:r>
              <a:rPr lang="en-US" altLang="zh-CN" sz="1600" dirty="0">
                <a:latin typeface="+mn-ea"/>
                <a:cs typeface="微软雅黑" panose="020B0503020204020204" pitchFamily="34" charset="-122"/>
              </a:rPr>
              <a:t> bzip2</a:t>
            </a:r>
          </a:p>
        </p:txBody>
      </p:sp>
      <p:sp>
        <p:nvSpPr>
          <p:cNvPr id="14" name="内容占位符 2"/>
          <p:cNvSpPr>
            <a:spLocks noGrp="1"/>
          </p:cNvSpPr>
          <p:nvPr/>
        </p:nvSpPr>
        <p:spPr>
          <a:xfrm>
            <a:off x="854710"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09" y="1555618"/>
            <a:ext cx="8806125"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解决</a:t>
            </a:r>
            <a:r>
              <a:rPr lang="en-US" altLang="zh-CN" sz="1800" b="1" dirty="0">
                <a:latin typeface="+mn-ea"/>
                <a:ea typeface="+mn-ea"/>
              </a:rPr>
              <a:t>python3.10</a:t>
            </a:r>
            <a:r>
              <a:rPr lang="zh-CN" altLang="en-US" sz="1800" dirty="0">
                <a:latin typeface="+mn-ea"/>
                <a:ea typeface="+mn-ea"/>
              </a:rPr>
              <a:t>版本不兼容办法</a:t>
            </a:r>
            <a:r>
              <a:rPr lang="en-US" altLang="zh-CN" sz="1800" dirty="0">
                <a:latin typeface="+mn-ea"/>
                <a:ea typeface="+mn-ea"/>
              </a:rPr>
              <a:t>—</a:t>
            </a:r>
            <a:r>
              <a:rPr lang="zh-CN" altLang="en-US" sz="1800" b="1" dirty="0">
                <a:latin typeface="+mn-ea"/>
                <a:ea typeface="+mn-ea"/>
              </a:rPr>
              <a:t>安装</a:t>
            </a:r>
            <a:r>
              <a:rPr lang="en-US" altLang="zh-CN" sz="1800" b="1" dirty="0" err="1">
                <a:latin typeface="+mn-ea"/>
                <a:ea typeface="+mn-ea"/>
              </a:rPr>
              <a:t>miniconda</a:t>
            </a:r>
            <a:r>
              <a:rPr lang="zh-CN" altLang="en-US" sz="1800" dirty="0">
                <a:latin typeface="+mn-ea"/>
                <a:ea typeface="+mn-ea"/>
              </a:rPr>
              <a:t>，创建虚拟环境。</a:t>
            </a:r>
            <a:endParaRPr lang="en-US" altLang="zh-CN" sz="1800" dirty="0">
              <a:latin typeface="+mn-ea"/>
              <a:ea typeface="+mn-ea"/>
            </a:endParaRPr>
          </a:p>
          <a:p>
            <a:pPr marL="0" indent="0">
              <a:lnSpc>
                <a:spcPct val="100000"/>
              </a:lnSpc>
              <a:buNone/>
            </a:pPr>
            <a:r>
              <a:rPr lang="en-US" altLang="zh-CN" sz="1800" dirty="0">
                <a:latin typeface="+mn-ea"/>
                <a:ea typeface="+mn-ea"/>
              </a:rPr>
              <a:t>    </a:t>
            </a:r>
          </a:p>
        </p:txBody>
      </p:sp>
      <p:sp>
        <p:nvSpPr>
          <p:cNvPr id="19" name="内容占位符 2"/>
          <p:cNvSpPr>
            <a:spLocks noGrp="1"/>
          </p:cNvSpPr>
          <p:nvPr/>
        </p:nvSpPr>
        <p:spPr>
          <a:xfrm>
            <a:off x="854709" y="2123389"/>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更新一下系统包列表并安装必要的工具：</a:t>
            </a:r>
            <a:endParaRPr lang="en-US" altLang="zh-CN" sz="1800" dirty="0">
              <a:latin typeface="+mn-ea"/>
              <a:ea typeface="+mn-ea"/>
            </a:endParaRPr>
          </a:p>
        </p:txBody>
      </p:sp>
      <p:sp>
        <p:nvSpPr>
          <p:cNvPr id="11" name="内容占位符 2">
            <a:extLst>
              <a:ext uri="{FF2B5EF4-FFF2-40B4-BE49-F238E27FC236}">
                <a16:creationId xmlns:a16="http://schemas.microsoft.com/office/drawing/2014/main" id="{41C20B26-B990-4EE7-BABC-3A965D695016}"/>
              </a:ext>
            </a:extLst>
          </p:cNvPr>
          <p:cNvSpPr>
            <a:spLocks noGrp="1"/>
          </p:cNvSpPr>
          <p:nvPr/>
        </p:nvSpPr>
        <p:spPr>
          <a:xfrm>
            <a:off x="854709" y="3479237"/>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下载并安装 </a:t>
            </a:r>
            <a:r>
              <a:rPr lang="en-US" altLang="zh-CN" sz="1800" dirty="0" err="1">
                <a:latin typeface="+mn-ea"/>
                <a:ea typeface="+mn-ea"/>
              </a:rPr>
              <a:t>Miniconda</a:t>
            </a:r>
            <a:endParaRPr lang="en-US" altLang="zh-CN" sz="1800" dirty="0">
              <a:latin typeface="+mn-ea"/>
              <a:ea typeface="+mn-ea"/>
            </a:endParaRPr>
          </a:p>
        </p:txBody>
      </p:sp>
      <p:sp>
        <p:nvSpPr>
          <p:cNvPr id="12" name="文本框 11">
            <a:extLst>
              <a:ext uri="{FF2B5EF4-FFF2-40B4-BE49-F238E27FC236}">
                <a16:creationId xmlns:a16="http://schemas.microsoft.com/office/drawing/2014/main" id="{9AD763A7-2385-4A79-BB99-7918E7EE591D}"/>
              </a:ext>
            </a:extLst>
          </p:cNvPr>
          <p:cNvSpPr txBox="1"/>
          <p:nvPr/>
        </p:nvSpPr>
        <p:spPr>
          <a:xfrm>
            <a:off x="854709" y="3898791"/>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cs typeface="微软雅黑" panose="020B0503020204020204" pitchFamily="34" charset="-122"/>
              </a:rPr>
              <a:t>wget</a:t>
            </a:r>
            <a:r>
              <a:rPr lang="en-US" altLang="zh-CN" sz="1600" dirty="0">
                <a:latin typeface="+mn-ea"/>
                <a:cs typeface="微软雅黑" panose="020B0503020204020204" pitchFamily="34" charset="-122"/>
              </a:rPr>
              <a:t> https://repo.anaconda.com/miniconda/Miniconda3-latest-Linux-x86_64.sh -O ~/miniconda.sh</a:t>
            </a:r>
          </a:p>
        </p:txBody>
      </p:sp>
      <p:sp>
        <p:nvSpPr>
          <p:cNvPr id="17" name="内容占位符 2">
            <a:extLst>
              <a:ext uri="{FF2B5EF4-FFF2-40B4-BE49-F238E27FC236}">
                <a16:creationId xmlns:a16="http://schemas.microsoft.com/office/drawing/2014/main" id="{F6468AD8-CA29-451A-8838-49CF5377E27E}"/>
              </a:ext>
            </a:extLst>
          </p:cNvPr>
          <p:cNvSpPr>
            <a:spLocks noGrp="1"/>
          </p:cNvSpPr>
          <p:nvPr/>
        </p:nvSpPr>
        <p:spPr>
          <a:xfrm>
            <a:off x="854708" y="4405036"/>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执行安装：使用 </a:t>
            </a:r>
            <a:r>
              <a:rPr lang="en-US" altLang="zh-CN" sz="1800" dirty="0">
                <a:latin typeface="+mn-ea"/>
                <a:ea typeface="+mn-ea"/>
              </a:rPr>
              <a:t>-b</a:t>
            </a:r>
            <a:r>
              <a:rPr lang="zh-CN" altLang="en-US" sz="1800" dirty="0">
                <a:latin typeface="+mn-ea"/>
                <a:ea typeface="+mn-ea"/>
              </a:rPr>
              <a:t>（静默模式）和 </a:t>
            </a:r>
            <a:r>
              <a:rPr lang="en-US" altLang="zh-CN" sz="1800" dirty="0">
                <a:latin typeface="+mn-ea"/>
                <a:ea typeface="+mn-ea"/>
              </a:rPr>
              <a:t>-p</a:t>
            </a:r>
            <a:r>
              <a:rPr lang="zh-CN" altLang="en-US" sz="1800" dirty="0">
                <a:latin typeface="+mn-ea"/>
                <a:ea typeface="+mn-ea"/>
              </a:rPr>
              <a:t>（指定安装路径）参数进行安装。</a:t>
            </a:r>
          </a:p>
        </p:txBody>
      </p:sp>
      <p:sp>
        <p:nvSpPr>
          <p:cNvPr id="18" name="文本框 17">
            <a:extLst>
              <a:ext uri="{FF2B5EF4-FFF2-40B4-BE49-F238E27FC236}">
                <a16:creationId xmlns:a16="http://schemas.microsoft.com/office/drawing/2014/main" id="{3A277620-2F64-40DF-8134-AF0EEFBE8B15}"/>
              </a:ext>
            </a:extLst>
          </p:cNvPr>
          <p:cNvSpPr txBox="1"/>
          <p:nvPr/>
        </p:nvSpPr>
        <p:spPr>
          <a:xfrm>
            <a:off x="762194" y="4792579"/>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cs typeface="微软雅黑" panose="020B0503020204020204" pitchFamily="34" charset="-122"/>
              </a:rPr>
              <a:t>bash ~/miniconda.sh -b -p $HOME/miniconda3</a:t>
            </a:r>
          </a:p>
        </p:txBody>
      </p:sp>
      <p:sp>
        <p:nvSpPr>
          <p:cNvPr id="20" name="内容占位符 2">
            <a:extLst>
              <a:ext uri="{FF2B5EF4-FFF2-40B4-BE49-F238E27FC236}">
                <a16:creationId xmlns:a16="http://schemas.microsoft.com/office/drawing/2014/main" id="{4E30D302-3288-420A-873D-993465200579}"/>
              </a:ext>
            </a:extLst>
          </p:cNvPr>
          <p:cNvSpPr>
            <a:spLocks noGrp="1"/>
          </p:cNvSpPr>
          <p:nvPr/>
        </p:nvSpPr>
        <p:spPr>
          <a:xfrm>
            <a:off x="762194" y="5281713"/>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初始化 </a:t>
            </a:r>
            <a:r>
              <a:rPr lang="en-US" altLang="zh-CN" sz="1800" dirty="0" err="1">
                <a:latin typeface="+mn-ea"/>
                <a:ea typeface="+mn-ea"/>
              </a:rPr>
              <a:t>Conda</a:t>
            </a:r>
            <a:endParaRPr lang="zh-CN" altLang="en-US" sz="1800" dirty="0">
              <a:latin typeface="+mn-ea"/>
              <a:ea typeface="+mn-ea"/>
            </a:endParaRPr>
          </a:p>
        </p:txBody>
      </p:sp>
      <p:sp>
        <p:nvSpPr>
          <p:cNvPr id="21" name="文本框 20">
            <a:extLst>
              <a:ext uri="{FF2B5EF4-FFF2-40B4-BE49-F238E27FC236}">
                <a16:creationId xmlns:a16="http://schemas.microsoft.com/office/drawing/2014/main" id="{35CD76E3-31CA-432B-90C7-780155C176C1}"/>
              </a:ext>
            </a:extLst>
          </p:cNvPr>
          <p:cNvSpPr txBox="1"/>
          <p:nvPr/>
        </p:nvSpPr>
        <p:spPr>
          <a:xfrm>
            <a:off x="692620" y="5642137"/>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it-IT" altLang="zh-CN" sz="1600" dirty="0">
                <a:latin typeface="+mn-ea"/>
                <a:cs typeface="微软雅黑" panose="020B0503020204020204" pitchFamily="34" charset="-122"/>
              </a:rPr>
              <a:t>$HOME/miniconda3/bin/conda init bash</a:t>
            </a:r>
          </a:p>
        </p:txBody>
      </p:sp>
      <p:sp>
        <p:nvSpPr>
          <p:cNvPr id="22" name="内容占位符 2">
            <a:extLst>
              <a:ext uri="{FF2B5EF4-FFF2-40B4-BE49-F238E27FC236}">
                <a16:creationId xmlns:a16="http://schemas.microsoft.com/office/drawing/2014/main" id="{3B15DC14-D4E4-4612-AAD2-C3B02C5C5742}"/>
              </a:ext>
            </a:extLst>
          </p:cNvPr>
          <p:cNvSpPr>
            <a:spLocks noGrp="1"/>
          </p:cNvSpPr>
          <p:nvPr/>
        </p:nvSpPr>
        <p:spPr>
          <a:xfrm>
            <a:off x="692620" y="6124590"/>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执行后，关闭并重新打开当前终端，或者运行 </a:t>
            </a:r>
            <a:r>
              <a:rPr lang="en-US" altLang="zh-CN" sz="1800" dirty="0">
                <a:latin typeface="+mn-ea"/>
                <a:ea typeface="+mn-ea"/>
              </a:rPr>
              <a:t>source ~/.</a:t>
            </a:r>
            <a:r>
              <a:rPr lang="en-US" altLang="zh-CN" sz="1800" dirty="0" err="1">
                <a:latin typeface="+mn-ea"/>
                <a:ea typeface="+mn-ea"/>
              </a:rPr>
              <a:t>bashrc</a:t>
            </a:r>
            <a:r>
              <a:rPr lang="en-US" altLang="zh-CN" sz="1800" dirty="0">
                <a:latin typeface="+mn-ea"/>
                <a:ea typeface="+mn-ea"/>
              </a:rPr>
              <a:t> </a:t>
            </a:r>
            <a:r>
              <a:rPr lang="zh-CN" altLang="en-US" sz="1800" dirty="0">
                <a:latin typeface="+mn-ea"/>
                <a:ea typeface="+mn-ea"/>
              </a:rPr>
              <a:t>使配置生效。</a:t>
            </a:r>
          </a:p>
        </p:txBody>
      </p:sp>
    </p:spTree>
    <p:custDataLst>
      <p:tags r:id="rId1"/>
    </p:custDataLst>
    <p:extLst>
      <p:ext uri="{BB962C8B-B14F-4D97-AF65-F5344CB8AC3E}">
        <p14:creationId xmlns:p14="http://schemas.microsoft.com/office/powerpoint/2010/main" val="370275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30</a:t>
            </a:fld>
            <a:endParaRPr lang="zh-CN" altLang="en-US">
              <a:latin typeface="+mn-ea"/>
            </a:endParaRPr>
          </a:p>
        </p:txBody>
      </p:sp>
      <p:sp>
        <p:nvSpPr>
          <p:cNvPr id="13" name="文本框 12"/>
          <p:cNvSpPr txBox="1"/>
          <p:nvPr/>
        </p:nvSpPr>
        <p:spPr>
          <a:xfrm>
            <a:off x="854709" y="2591241"/>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cs typeface="微软雅黑" panose="020B0503020204020204" pitchFamily="34" charset="-122"/>
              </a:rPr>
              <a:t>conda</a:t>
            </a:r>
            <a:r>
              <a:rPr lang="en-US" altLang="zh-CN" sz="1600" dirty="0">
                <a:latin typeface="+mn-ea"/>
                <a:cs typeface="微软雅黑" panose="020B0503020204020204" pitchFamily="34" charset="-122"/>
              </a:rPr>
              <a:t> create -n spark24 python=3.6.9 -y</a:t>
            </a:r>
          </a:p>
        </p:txBody>
      </p:sp>
      <p:sp>
        <p:nvSpPr>
          <p:cNvPr id="14" name="内容占位符 2"/>
          <p:cNvSpPr>
            <a:spLocks noGrp="1"/>
          </p:cNvSpPr>
          <p:nvPr/>
        </p:nvSpPr>
        <p:spPr>
          <a:xfrm>
            <a:off x="854710"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09" y="1555618"/>
            <a:ext cx="8806125"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解决</a:t>
            </a:r>
            <a:r>
              <a:rPr lang="en-US" altLang="zh-CN" sz="1800" dirty="0">
                <a:latin typeface="+mn-ea"/>
                <a:ea typeface="+mn-ea"/>
              </a:rPr>
              <a:t>python3.10</a:t>
            </a:r>
            <a:r>
              <a:rPr lang="zh-CN" altLang="en-US" sz="1800" dirty="0">
                <a:latin typeface="+mn-ea"/>
                <a:ea typeface="+mn-ea"/>
              </a:rPr>
              <a:t>版本不兼容办法</a:t>
            </a:r>
            <a:r>
              <a:rPr lang="en-US" altLang="zh-CN" sz="1800" dirty="0">
                <a:latin typeface="+mn-ea"/>
                <a:ea typeface="+mn-ea"/>
              </a:rPr>
              <a:t>—</a:t>
            </a:r>
            <a:r>
              <a:rPr lang="zh-CN" altLang="en-US" sz="1800" b="1" dirty="0">
                <a:latin typeface="+mn-ea"/>
                <a:ea typeface="+mn-ea"/>
              </a:rPr>
              <a:t>安装</a:t>
            </a:r>
            <a:r>
              <a:rPr lang="en-US" altLang="zh-CN" sz="1800" b="1" dirty="0" err="1">
                <a:latin typeface="+mn-ea"/>
                <a:ea typeface="+mn-ea"/>
              </a:rPr>
              <a:t>miniconda</a:t>
            </a:r>
            <a:r>
              <a:rPr lang="zh-CN" altLang="en-US" sz="1800" dirty="0">
                <a:latin typeface="+mn-ea"/>
                <a:ea typeface="+mn-ea"/>
              </a:rPr>
              <a:t>，创建虚拟环境。</a:t>
            </a:r>
            <a:endParaRPr lang="en-US" altLang="zh-CN" sz="1800" dirty="0">
              <a:latin typeface="+mn-ea"/>
              <a:ea typeface="+mn-ea"/>
            </a:endParaRPr>
          </a:p>
          <a:p>
            <a:pPr marL="0" indent="0">
              <a:lnSpc>
                <a:spcPct val="100000"/>
              </a:lnSpc>
              <a:buNone/>
            </a:pPr>
            <a:r>
              <a:rPr lang="en-US" altLang="zh-CN" sz="1800" dirty="0">
                <a:latin typeface="+mn-ea"/>
                <a:ea typeface="+mn-ea"/>
              </a:rPr>
              <a:t>    </a:t>
            </a:r>
          </a:p>
        </p:txBody>
      </p:sp>
      <p:sp>
        <p:nvSpPr>
          <p:cNvPr id="19" name="内容占位符 2"/>
          <p:cNvSpPr>
            <a:spLocks noGrp="1"/>
          </p:cNvSpPr>
          <p:nvPr/>
        </p:nvSpPr>
        <p:spPr>
          <a:xfrm>
            <a:off x="854709" y="2123389"/>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创建 </a:t>
            </a:r>
            <a:r>
              <a:rPr lang="en-US" altLang="zh-CN" sz="1800" dirty="0">
                <a:latin typeface="+mn-ea"/>
                <a:ea typeface="+mn-ea"/>
              </a:rPr>
              <a:t>Python 3.7 </a:t>
            </a:r>
            <a:r>
              <a:rPr lang="zh-CN" altLang="en-US" sz="1800" dirty="0">
                <a:latin typeface="+mn-ea"/>
                <a:ea typeface="+mn-ea"/>
              </a:rPr>
              <a:t>虚拟环境</a:t>
            </a:r>
            <a:endParaRPr lang="en-US" altLang="zh-CN" sz="1800" dirty="0">
              <a:latin typeface="+mn-ea"/>
              <a:ea typeface="+mn-ea"/>
            </a:endParaRPr>
          </a:p>
        </p:txBody>
      </p:sp>
      <p:sp>
        <p:nvSpPr>
          <p:cNvPr id="11" name="内容占位符 2">
            <a:extLst>
              <a:ext uri="{FF2B5EF4-FFF2-40B4-BE49-F238E27FC236}">
                <a16:creationId xmlns:a16="http://schemas.microsoft.com/office/drawing/2014/main" id="{41C20B26-B990-4EE7-BABC-3A965D695016}"/>
              </a:ext>
            </a:extLst>
          </p:cNvPr>
          <p:cNvSpPr>
            <a:spLocks noGrp="1"/>
          </p:cNvSpPr>
          <p:nvPr/>
        </p:nvSpPr>
        <p:spPr>
          <a:xfrm>
            <a:off x="854707" y="3219844"/>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激活环境，激活后，命令行提示符会从 </a:t>
            </a:r>
            <a:r>
              <a:rPr lang="en-US" altLang="zh-CN" sz="1800" dirty="0">
                <a:latin typeface="+mn-ea"/>
                <a:ea typeface="+mn-ea"/>
              </a:rPr>
              <a:t>(base) </a:t>
            </a:r>
            <a:r>
              <a:rPr lang="zh-CN" altLang="en-US" sz="1800" dirty="0">
                <a:latin typeface="+mn-ea"/>
                <a:ea typeface="+mn-ea"/>
              </a:rPr>
              <a:t>变为 </a:t>
            </a:r>
            <a:r>
              <a:rPr lang="en-US" altLang="zh-CN" sz="1800" dirty="0">
                <a:latin typeface="+mn-ea"/>
                <a:ea typeface="+mn-ea"/>
              </a:rPr>
              <a:t>(spark24)</a:t>
            </a:r>
            <a:r>
              <a:rPr lang="zh-CN" altLang="en-US" sz="1800" dirty="0">
                <a:latin typeface="+mn-ea"/>
                <a:ea typeface="+mn-ea"/>
              </a:rPr>
              <a:t>。</a:t>
            </a:r>
          </a:p>
          <a:p>
            <a:pPr marL="0" indent="0">
              <a:lnSpc>
                <a:spcPct val="100000"/>
              </a:lnSpc>
              <a:buNone/>
            </a:pPr>
            <a:endParaRPr lang="en-US" altLang="zh-CN" sz="1800" dirty="0">
              <a:latin typeface="+mn-ea"/>
              <a:ea typeface="+mn-ea"/>
            </a:endParaRPr>
          </a:p>
        </p:txBody>
      </p:sp>
      <p:sp>
        <p:nvSpPr>
          <p:cNvPr id="12" name="文本框 11">
            <a:extLst>
              <a:ext uri="{FF2B5EF4-FFF2-40B4-BE49-F238E27FC236}">
                <a16:creationId xmlns:a16="http://schemas.microsoft.com/office/drawing/2014/main" id="{9AD763A7-2385-4A79-BB99-7918E7EE591D}"/>
              </a:ext>
            </a:extLst>
          </p:cNvPr>
          <p:cNvSpPr txBox="1"/>
          <p:nvPr/>
        </p:nvSpPr>
        <p:spPr>
          <a:xfrm>
            <a:off x="854707" y="3742278"/>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cs typeface="微软雅黑" panose="020B0503020204020204" pitchFamily="34" charset="-122"/>
              </a:rPr>
              <a:t>conda</a:t>
            </a:r>
            <a:r>
              <a:rPr lang="en-US" altLang="zh-CN" sz="1600" dirty="0">
                <a:latin typeface="+mn-ea"/>
                <a:cs typeface="微软雅黑" panose="020B0503020204020204" pitchFamily="34" charset="-122"/>
              </a:rPr>
              <a:t> activate spark24</a:t>
            </a:r>
          </a:p>
        </p:txBody>
      </p:sp>
      <p:sp>
        <p:nvSpPr>
          <p:cNvPr id="17" name="内容占位符 2">
            <a:extLst>
              <a:ext uri="{FF2B5EF4-FFF2-40B4-BE49-F238E27FC236}">
                <a16:creationId xmlns:a16="http://schemas.microsoft.com/office/drawing/2014/main" id="{F6468AD8-CA29-451A-8838-49CF5377E27E}"/>
              </a:ext>
            </a:extLst>
          </p:cNvPr>
          <p:cNvSpPr>
            <a:spLocks noGrp="1"/>
          </p:cNvSpPr>
          <p:nvPr/>
        </p:nvSpPr>
        <p:spPr>
          <a:xfrm>
            <a:off x="762194" y="4354253"/>
            <a:ext cx="8573069" cy="4632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重新执行：</a:t>
            </a:r>
            <a:r>
              <a:rPr lang="en-US" altLang="zh-CN" sz="1800" dirty="0">
                <a:latin typeface="+mn-ea"/>
                <a:ea typeface="+mn-ea"/>
              </a:rPr>
              <a:t>./bin/</a:t>
            </a:r>
            <a:r>
              <a:rPr lang="en-US" altLang="zh-CN" sz="1800" dirty="0" err="1">
                <a:latin typeface="+mn-ea"/>
                <a:ea typeface="+mn-ea"/>
              </a:rPr>
              <a:t>pyspark</a:t>
            </a:r>
            <a:endParaRPr lang="en-US" altLang="zh-CN" sz="1800" dirty="0">
              <a:latin typeface="+mn-ea"/>
              <a:ea typeface="+mn-ea"/>
            </a:endParaRPr>
          </a:p>
        </p:txBody>
      </p:sp>
      <p:pic>
        <p:nvPicPr>
          <p:cNvPr id="8" name="图片 7">
            <a:extLst>
              <a:ext uri="{FF2B5EF4-FFF2-40B4-BE49-F238E27FC236}">
                <a16:creationId xmlns:a16="http://schemas.microsoft.com/office/drawing/2014/main" id="{56B3E10E-179F-413D-A3A8-88E4943F754D}"/>
              </a:ext>
            </a:extLst>
          </p:cNvPr>
          <p:cNvPicPr>
            <a:picLocks noChangeAspect="1"/>
          </p:cNvPicPr>
          <p:nvPr/>
        </p:nvPicPr>
        <p:blipFill>
          <a:blip r:embed="rId4"/>
          <a:stretch>
            <a:fillRect/>
          </a:stretch>
        </p:blipFill>
        <p:spPr>
          <a:xfrm>
            <a:off x="4024004" y="4308826"/>
            <a:ext cx="4143992" cy="2220261"/>
          </a:xfrm>
          <a:prstGeom prst="rect">
            <a:avLst/>
          </a:prstGeom>
        </p:spPr>
      </p:pic>
    </p:spTree>
    <p:custDataLst>
      <p:tags r:id="rId1"/>
    </p:custDataLst>
    <p:extLst>
      <p:ext uri="{BB962C8B-B14F-4D97-AF65-F5344CB8AC3E}">
        <p14:creationId xmlns:p14="http://schemas.microsoft.com/office/powerpoint/2010/main" val="3876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31</a:t>
            </a:fld>
            <a:endParaRPr lang="zh-CN" altLang="en-US"/>
          </a:p>
        </p:txBody>
      </p:sp>
      <p:sp>
        <p:nvSpPr>
          <p:cNvPr id="17" name="文本框 16"/>
          <p:cNvSpPr txBox="1"/>
          <p:nvPr/>
        </p:nvSpPr>
        <p:spPr>
          <a:xfrm>
            <a:off x="854709" y="2656826"/>
            <a:ext cx="10080000" cy="2062103"/>
          </a:xfrm>
          <a:prstGeom prst="rect">
            <a:avLst/>
          </a:prstGeom>
          <a:solidFill>
            <a:schemeClr val="accent3">
              <a:lumMod val="20000"/>
              <a:lumOff val="80000"/>
            </a:schemeClr>
          </a:solidFill>
        </p:spPr>
        <p:txBody>
          <a:bodyPr wrap="square" rtlCol="0">
            <a:spAutoFit/>
          </a:bodyPr>
          <a:lstStyle/>
          <a:p>
            <a:pPr>
              <a:lnSpc>
                <a:spcPct val="200000"/>
              </a:lnSpc>
            </a:pPr>
            <a:r>
              <a:rPr lang="en-US" altLang="zh-CN" sz="1600" dirty="0">
                <a:latin typeface="+mn-ea"/>
              </a:rPr>
              <a:t>from </a:t>
            </a:r>
            <a:r>
              <a:rPr lang="en-US" altLang="zh-CN" sz="1600" dirty="0" err="1">
                <a:latin typeface="+mn-ea"/>
              </a:rPr>
              <a:t>pyspark.sql</a:t>
            </a:r>
            <a:r>
              <a:rPr lang="en-US" altLang="zh-CN" sz="1600" dirty="0">
                <a:latin typeface="+mn-ea"/>
              </a:rPr>
              <a:t> import </a:t>
            </a:r>
            <a:r>
              <a:rPr lang="en-US" altLang="zh-CN" sz="1600" dirty="0" err="1">
                <a:latin typeface="+mn-ea"/>
              </a:rPr>
              <a:t>SparkSession</a:t>
            </a:r>
            <a:endParaRPr lang="en-US" altLang="zh-CN" sz="1600" dirty="0">
              <a:latin typeface="+mn-ea"/>
            </a:endParaRPr>
          </a:p>
          <a:p>
            <a:pPr>
              <a:lnSpc>
                <a:spcPct val="200000"/>
              </a:lnSpc>
            </a:pPr>
            <a:r>
              <a:rPr lang="en-US" altLang="zh-CN" sz="1600" dirty="0">
                <a:latin typeface="+mn-ea"/>
              </a:rPr>
              <a:t>from </a:t>
            </a:r>
            <a:r>
              <a:rPr lang="en-US" altLang="zh-CN" sz="1600" dirty="0" err="1">
                <a:latin typeface="+mn-ea"/>
              </a:rPr>
              <a:t>pyspark.sql.functions</a:t>
            </a:r>
            <a:r>
              <a:rPr lang="en-US" altLang="zh-CN" sz="1600" dirty="0">
                <a:latin typeface="+mn-ea"/>
              </a:rPr>
              <a:t> import </a:t>
            </a:r>
            <a:r>
              <a:rPr lang="en-US" altLang="zh-CN" sz="1600" dirty="0" err="1">
                <a:latin typeface="+mn-ea"/>
              </a:rPr>
              <a:t>collect_set</a:t>
            </a:r>
            <a:endParaRPr lang="en-US" altLang="zh-CN" sz="1600" dirty="0">
              <a:latin typeface="+mn-ea"/>
            </a:endParaRPr>
          </a:p>
          <a:p>
            <a:pPr>
              <a:lnSpc>
                <a:spcPct val="200000"/>
              </a:lnSpc>
            </a:pPr>
            <a:r>
              <a:rPr lang="en-US" altLang="zh-CN" sz="1600" dirty="0">
                <a:latin typeface="+mn-ea"/>
              </a:rPr>
              <a:t>df=</a:t>
            </a:r>
            <a:r>
              <a:rPr lang="en-US" altLang="zh-CN" sz="1600" dirty="0" err="1">
                <a:latin typeface="+mn-ea"/>
              </a:rPr>
              <a:t>spark.read.format</a:t>
            </a:r>
            <a:r>
              <a:rPr lang="en-US" altLang="zh-CN" sz="1600" dirty="0">
                <a:latin typeface="+mn-ea"/>
              </a:rPr>
              <a:t>('com.databricks.spark.csv').options(header='true',</a:t>
            </a:r>
            <a:r>
              <a:rPr lang="en-US" altLang="zh-CN" sz="1600" dirty="0" err="1">
                <a:latin typeface="+mn-ea"/>
              </a:rPr>
              <a:t>inferschema</a:t>
            </a:r>
            <a:r>
              <a:rPr lang="en-US" altLang="zh-CN" sz="1600" dirty="0">
                <a:latin typeface="+mn-ea"/>
              </a:rPr>
              <a:t>='true').load('/</a:t>
            </a:r>
            <a:r>
              <a:rPr lang="en-US" altLang="zh-CN" sz="1600" dirty="0" err="1">
                <a:latin typeface="+mn-ea"/>
              </a:rPr>
              <a:t>dbjd</a:t>
            </a:r>
            <a:r>
              <a:rPr lang="en-US" altLang="zh-CN" sz="1600" dirty="0">
                <a:latin typeface="+mn-ea"/>
              </a:rPr>
              <a:t>/dataset/ MarketSales_transform1.csv')</a:t>
            </a:r>
            <a:endParaRPr lang="zh-CN" altLang="zh-CN" sz="1600" dirty="0">
              <a:latin typeface="+mn-ea"/>
            </a:endParaRPr>
          </a:p>
        </p:txBody>
      </p:sp>
      <p:sp>
        <p:nvSpPr>
          <p:cNvPr id="2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2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7"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28" name="内容占位符 2"/>
          <p:cNvSpPr>
            <a:spLocks noGrp="1"/>
          </p:cNvSpPr>
          <p:nvPr/>
        </p:nvSpPr>
        <p:spPr>
          <a:xfrm>
            <a:off x="854709" y="2123389"/>
            <a:ext cx="402082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导入所需包并读取数据：</a:t>
            </a:r>
            <a:endParaRPr lang="en-US" altLang="zh-CN" sz="1800" dirty="0"/>
          </a:p>
        </p:txBody>
      </p:sp>
      <p:pic>
        <p:nvPicPr>
          <p:cNvPr id="1029" name="图片 1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9" y="4854052"/>
            <a:ext cx="8944282" cy="172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a:xfrm>
            <a:off x="11300907" y="6251122"/>
            <a:ext cx="888076" cy="365125"/>
          </a:xfrm>
        </p:spPr>
        <p:txBody>
          <a:bodyPr/>
          <a:lstStyle/>
          <a:p>
            <a:fld id="{565CE74E-AB26-4998-AD42-012C4C1AD076}" type="slidenum">
              <a:rPr lang="zh-CN" altLang="en-US" smtClean="0">
                <a:latin typeface="+mn-ea"/>
              </a:rPr>
              <a:t>32</a:t>
            </a:fld>
            <a:endParaRPr lang="zh-CN" altLang="en-US">
              <a:latin typeface="+mn-ea"/>
            </a:endParaRPr>
          </a:p>
        </p:txBody>
      </p:sp>
      <p:sp>
        <p:nvSpPr>
          <p:cNvPr id="17" name="文本框 16"/>
          <p:cNvSpPr txBox="1"/>
          <p:nvPr/>
        </p:nvSpPr>
        <p:spPr>
          <a:xfrm>
            <a:off x="854708" y="2454726"/>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df.printSchema</a:t>
            </a:r>
            <a:r>
              <a:rPr lang="en-US" altLang="zh-CN" sz="1600" dirty="0">
                <a:latin typeface="+mn-ea"/>
              </a:rPr>
              <a:t>()</a:t>
            </a:r>
            <a:endParaRPr lang="zh-CN" altLang="zh-CN" sz="1600" dirty="0">
              <a:latin typeface="+mn-ea"/>
            </a:endParaRPr>
          </a:p>
        </p:txBody>
      </p:sp>
      <p:sp>
        <p:nvSpPr>
          <p:cNvPr id="14" name="内容占位符 2"/>
          <p:cNvSpPr>
            <a:spLocks noGrp="1"/>
          </p:cNvSpPr>
          <p:nvPr/>
        </p:nvSpPr>
        <p:spPr>
          <a:xfrm>
            <a:off x="854709" y="9591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5" name="五边形 25"/>
          <p:cNvSpPr/>
          <p:nvPr/>
        </p:nvSpPr>
        <p:spPr>
          <a:xfrm>
            <a:off x="527050" y="9845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09" y="14505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zh-CN" sz="1800" dirty="0">
                <a:latin typeface="+mn-ea"/>
                <a:ea typeface="+mn-ea"/>
              </a:rPr>
              <a:t>使用</a:t>
            </a:r>
            <a:r>
              <a:rPr lang="en-US" altLang="zh-CN" sz="1800" dirty="0">
                <a:latin typeface="+mn-ea"/>
                <a:ea typeface="+mn-ea"/>
              </a:rPr>
              <a:t>Python</a:t>
            </a:r>
            <a:r>
              <a:rPr lang="zh-CN" altLang="zh-CN" sz="1800" dirty="0">
                <a:latin typeface="+mn-ea"/>
                <a:ea typeface="+mn-ea"/>
              </a:rPr>
              <a:t>语言对数据进行查看及清洗</a:t>
            </a:r>
            <a:r>
              <a:rPr lang="zh-CN" altLang="en-US" sz="1800" dirty="0">
                <a:latin typeface="+mn-ea"/>
                <a:ea typeface="+mn-ea"/>
              </a:rPr>
              <a:t>。</a:t>
            </a:r>
            <a:endParaRPr lang="en-US" altLang="zh-CN" sz="1800" dirty="0">
              <a:latin typeface="+mn-ea"/>
              <a:ea typeface="+mn-ea"/>
            </a:endParaRPr>
          </a:p>
          <a:p>
            <a:pPr marL="0" indent="0">
              <a:lnSpc>
                <a:spcPct val="100000"/>
              </a:lnSpc>
              <a:buNone/>
            </a:pPr>
            <a:r>
              <a:rPr lang="en-US" altLang="zh-CN" sz="1800" dirty="0">
                <a:latin typeface="+mn-ea"/>
                <a:ea typeface="+mn-ea"/>
              </a:rPr>
              <a:t>     </a:t>
            </a:r>
          </a:p>
        </p:txBody>
      </p:sp>
      <p:sp>
        <p:nvSpPr>
          <p:cNvPr id="19" name="内容占位符 2"/>
          <p:cNvSpPr>
            <a:spLocks noGrp="1"/>
          </p:cNvSpPr>
          <p:nvPr/>
        </p:nvSpPr>
        <p:spPr>
          <a:xfrm>
            <a:off x="854709" y="1969789"/>
            <a:ext cx="402082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mn-ea"/>
                <a:ea typeface="+mn-ea"/>
              </a:rPr>
              <a:t>打印概要：</a:t>
            </a:r>
            <a:endParaRPr lang="en-US" altLang="zh-CN" sz="1800" dirty="0">
              <a:latin typeface="+mn-ea"/>
              <a:ea typeface="+mn-ea"/>
            </a:endParaRPr>
          </a:p>
        </p:txBody>
      </p:sp>
      <p:pic>
        <p:nvPicPr>
          <p:cNvPr id="2050" name="Picture 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2879903"/>
            <a:ext cx="4603400" cy="373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33</a:t>
            </a:fld>
            <a:endParaRPr lang="zh-CN" altLang="en-US"/>
          </a:p>
        </p:txBody>
      </p:sp>
      <p:sp>
        <p:nvSpPr>
          <p:cNvPr id="17" name="文本框 16"/>
          <p:cNvSpPr txBox="1"/>
          <p:nvPr/>
        </p:nvSpPr>
        <p:spPr>
          <a:xfrm>
            <a:off x="854708" y="2354972"/>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df.show</a:t>
            </a:r>
            <a:r>
              <a:rPr lang="en-US" altLang="zh-CN" sz="1600" dirty="0">
                <a:latin typeface="+mn-ea"/>
              </a:rPr>
              <a:t>()</a:t>
            </a:r>
            <a:endParaRPr lang="zh-CN" altLang="zh-CN" sz="1600" dirty="0">
              <a:latin typeface="+mn-ea"/>
            </a:endParaRPr>
          </a:p>
        </p:txBody>
      </p:sp>
      <p:sp>
        <p:nvSpPr>
          <p:cNvPr id="16" name="内容占位符 2"/>
          <p:cNvSpPr>
            <a:spLocks noGrp="1"/>
          </p:cNvSpPr>
          <p:nvPr/>
        </p:nvSpPr>
        <p:spPr>
          <a:xfrm>
            <a:off x="854709" y="88559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9" name="五边形 25"/>
          <p:cNvSpPr/>
          <p:nvPr/>
        </p:nvSpPr>
        <p:spPr>
          <a:xfrm>
            <a:off x="527050" y="91099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0" name="内容占位符 2"/>
          <p:cNvSpPr>
            <a:spLocks noGrp="1"/>
          </p:cNvSpPr>
          <p:nvPr/>
        </p:nvSpPr>
        <p:spPr>
          <a:xfrm>
            <a:off x="854709" y="137694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21" name="内容占位符 2"/>
          <p:cNvSpPr>
            <a:spLocks noGrp="1"/>
          </p:cNvSpPr>
          <p:nvPr/>
        </p:nvSpPr>
        <p:spPr>
          <a:xfrm>
            <a:off x="854709" y="1883127"/>
            <a:ext cx="402082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打印数据</a:t>
            </a:r>
            <a:endParaRPr lang="en-US" altLang="zh-CN" sz="1800" dirty="0"/>
          </a:p>
        </p:txBody>
      </p:sp>
      <p:pic>
        <p:nvPicPr>
          <p:cNvPr id="3074" name="图片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2767057"/>
            <a:ext cx="5860599" cy="3775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34</a:t>
            </a:fld>
            <a:endParaRPr lang="zh-CN" altLang="en-US"/>
          </a:p>
        </p:txBody>
      </p:sp>
      <p:sp>
        <p:nvSpPr>
          <p:cNvPr id="17" name="文本框 16"/>
          <p:cNvSpPr txBox="1"/>
          <p:nvPr/>
        </p:nvSpPr>
        <p:spPr>
          <a:xfrm>
            <a:off x="875729" y="2424605"/>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df.show</a:t>
            </a:r>
            <a:r>
              <a:rPr lang="en-US" altLang="zh-CN" sz="1600" dirty="0">
                <a:latin typeface="+mn-ea"/>
              </a:rPr>
              <a:t>(truncate=False)</a:t>
            </a:r>
            <a:endParaRPr lang="zh-CN" altLang="zh-CN" sz="1600" dirty="0">
              <a:latin typeface="+mn-ea"/>
            </a:endParaRPr>
          </a:p>
        </p:txBody>
      </p:sp>
      <p:sp>
        <p:nvSpPr>
          <p:cNvPr id="13" name="内容占位符 2"/>
          <p:cNvSpPr>
            <a:spLocks noGrp="1"/>
          </p:cNvSpPr>
          <p:nvPr/>
        </p:nvSpPr>
        <p:spPr>
          <a:xfrm>
            <a:off x="875730" y="830497"/>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4" name="五边形 25"/>
          <p:cNvSpPr/>
          <p:nvPr/>
        </p:nvSpPr>
        <p:spPr>
          <a:xfrm>
            <a:off x="548071" y="855897"/>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5" name="内容占位符 2"/>
          <p:cNvSpPr>
            <a:spLocks noGrp="1"/>
          </p:cNvSpPr>
          <p:nvPr/>
        </p:nvSpPr>
        <p:spPr>
          <a:xfrm>
            <a:off x="875730" y="1321855"/>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16" name="内容占位符 2"/>
          <p:cNvSpPr>
            <a:spLocks noGrp="1"/>
          </p:cNvSpPr>
          <p:nvPr/>
        </p:nvSpPr>
        <p:spPr>
          <a:xfrm>
            <a:off x="875730" y="1890397"/>
            <a:ext cx="1008000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打印完整属性，</a:t>
            </a:r>
            <a:r>
              <a:rPr lang="zh-CN" altLang="zh-CN" sz="1800" dirty="0"/>
              <a:t>将数据的折叠字段展开。</a:t>
            </a:r>
            <a:endParaRPr lang="en-US" altLang="zh-CN" sz="1800" dirty="0"/>
          </a:p>
        </p:txBody>
      </p:sp>
      <p:pic>
        <p:nvPicPr>
          <p:cNvPr id="4098" name="图片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728" y="2899053"/>
            <a:ext cx="9328773" cy="3457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35</a:t>
            </a:fld>
            <a:endParaRPr lang="zh-CN" altLang="en-US"/>
          </a:p>
        </p:txBody>
      </p:sp>
      <p:sp>
        <p:nvSpPr>
          <p:cNvPr id="17" name="文本框 16"/>
          <p:cNvSpPr txBox="1"/>
          <p:nvPr/>
        </p:nvSpPr>
        <p:spPr>
          <a:xfrm>
            <a:off x="854708" y="2330116"/>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df.describe</a:t>
            </a:r>
            <a:r>
              <a:rPr lang="en-US" altLang="zh-CN" sz="1600" dirty="0">
                <a:latin typeface="+mn-ea"/>
              </a:rPr>
              <a:t>().show()</a:t>
            </a:r>
            <a:endParaRPr lang="zh-CN" altLang="zh-CN" sz="1600" dirty="0">
              <a:latin typeface="+mn-ea"/>
            </a:endParaRPr>
          </a:p>
        </p:txBody>
      </p:sp>
      <p:sp>
        <p:nvSpPr>
          <p:cNvPr id="19" name="内容占位符 2"/>
          <p:cNvSpPr>
            <a:spLocks noGrp="1"/>
          </p:cNvSpPr>
          <p:nvPr/>
        </p:nvSpPr>
        <p:spPr>
          <a:xfrm>
            <a:off x="854709" y="93814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20" name="五边形 25"/>
          <p:cNvSpPr/>
          <p:nvPr/>
        </p:nvSpPr>
        <p:spPr>
          <a:xfrm>
            <a:off x="527050" y="96354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1" name="内容占位符 2"/>
          <p:cNvSpPr>
            <a:spLocks noGrp="1"/>
          </p:cNvSpPr>
          <p:nvPr/>
        </p:nvSpPr>
        <p:spPr>
          <a:xfrm>
            <a:off x="854709" y="142949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22" name="内容占位符 2"/>
          <p:cNvSpPr>
            <a:spLocks noGrp="1"/>
          </p:cNvSpPr>
          <p:nvPr/>
        </p:nvSpPr>
        <p:spPr>
          <a:xfrm>
            <a:off x="854709" y="1896974"/>
            <a:ext cx="4020820" cy="3983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t>查询概况：</a:t>
            </a:r>
            <a:endParaRPr lang="en-US" altLang="zh-CN" sz="1800" dirty="0"/>
          </a:p>
        </p:txBody>
      </p:sp>
      <p:pic>
        <p:nvPicPr>
          <p:cNvPr id="5122" name="图片 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2703499"/>
            <a:ext cx="6028184" cy="389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36</a:t>
            </a:fld>
            <a:endParaRPr lang="zh-CN" altLang="en-US"/>
          </a:p>
        </p:txBody>
      </p:sp>
      <p:sp>
        <p:nvSpPr>
          <p:cNvPr id="17" name="文本框 16"/>
          <p:cNvSpPr txBox="1"/>
          <p:nvPr/>
        </p:nvSpPr>
        <p:spPr>
          <a:xfrm>
            <a:off x="854708" y="3767439"/>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clean = </a:t>
            </a:r>
            <a:r>
              <a:rPr lang="en-US" altLang="zh-CN" sz="1600" dirty="0" err="1">
                <a:latin typeface="+mn-ea"/>
              </a:rPr>
              <a:t>df.filter</a:t>
            </a:r>
            <a:r>
              <a:rPr lang="en-US" altLang="zh-CN" sz="1600" dirty="0">
                <a:latin typeface="+mn-ea"/>
              </a:rPr>
              <a:t>(</a:t>
            </a:r>
            <a:r>
              <a:rPr lang="en-US" altLang="zh-CN" sz="1600" dirty="0" err="1">
                <a:latin typeface="+mn-ea"/>
              </a:rPr>
              <a:t>df</a:t>
            </a:r>
            <a:r>
              <a:rPr lang="en-US" altLang="zh-CN" sz="1600" dirty="0">
                <a:latin typeface="+mn-ea"/>
              </a:rPr>
              <a:t>["FICHENO"].</a:t>
            </a:r>
            <a:r>
              <a:rPr lang="en-US" altLang="zh-CN" sz="1600" dirty="0" err="1">
                <a:latin typeface="+mn-ea"/>
              </a:rPr>
              <a:t>isNotNull</a:t>
            </a:r>
            <a:r>
              <a:rPr lang="en-US" altLang="zh-CN" sz="1600" dirty="0">
                <a:latin typeface="+mn-ea"/>
              </a:rPr>
              <a:t>())</a:t>
            </a:r>
            <a:endParaRPr lang="zh-CN" altLang="zh-CN" sz="1600" dirty="0">
              <a:latin typeface="+mn-ea"/>
            </a:endParaRPr>
          </a:p>
          <a:p>
            <a:pPr>
              <a:lnSpc>
                <a:spcPct val="150000"/>
              </a:lnSpc>
            </a:pPr>
            <a:r>
              <a:rPr lang="en-US" altLang="zh-CN" sz="1600" dirty="0" err="1">
                <a:latin typeface="+mn-ea"/>
              </a:rPr>
              <a:t>clean.count</a:t>
            </a:r>
            <a:r>
              <a:rPr lang="en-US" altLang="zh-CN" sz="1600" dirty="0">
                <a:latin typeface="+mn-ea"/>
              </a:rPr>
              <a:t>()</a:t>
            </a:r>
            <a:endParaRPr lang="zh-CN" altLang="zh-CN" sz="1600" dirty="0">
              <a:latin typeface="+mn-ea"/>
            </a:endParaRPr>
          </a:p>
        </p:txBody>
      </p:sp>
      <p:sp>
        <p:nvSpPr>
          <p:cNvPr id="1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6"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19" name="内容占位符 2"/>
          <p:cNvSpPr>
            <a:spLocks noGrp="1"/>
          </p:cNvSpPr>
          <p:nvPr/>
        </p:nvSpPr>
        <p:spPr>
          <a:xfrm>
            <a:off x="854709" y="2134330"/>
            <a:ext cx="10080000" cy="8616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zh-CN" sz="1800" dirty="0"/>
              <a:t>本项目做关联分析，需要用到的有会员卡号</a:t>
            </a:r>
            <a:r>
              <a:rPr lang="en-US" altLang="zh-CN" sz="1800" dirty="0"/>
              <a:t>FICHENO</a:t>
            </a:r>
            <a:r>
              <a:rPr lang="zh-CN" altLang="zh-CN" sz="1800" dirty="0"/>
              <a:t>及商品编号</a:t>
            </a:r>
            <a:r>
              <a:rPr lang="en-US" altLang="zh-CN" sz="1800" dirty="0"/>
              <a:t>ITEMCODE</a:t>
            </a:r>
            <a:r>
              <a:rPr lang="zh-CN" altLang="zh-CN" sz="1800" dirty="0"/>
              <a:t>，故需要先做数据清洗，将这两列为空值的数据删除。</a:t>
            </a:r>
          </a:p>
        </p:txBody>
      </p:sp>
      <p:sp>
        <p:nvSpPr>
          <p:cNvPr id="20" name="内容占位符 2"/>
          <p:cNvSpPr>
            <a:spLocks noGrp="1"/>
          </p:cNvSpPr>
          <p:nvPr/>
        </p:nvSpPr>
        <p:spPr>
          <a:xfrm>
            <a:off x="854709" y="3142008"/>
            <a:ext cx="10080000" cy="479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zh-CN" sz="1800" dirty="0"/>
              <a:t>删除没有会员卡号的数据：</a:t>
            </a:r>
          </a:p>
        </p:txBody>
      </p:sp>
      <p:pic>
        <p:nvPicPr>
          <p:cNvPr id="6146" name="图片 1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4744499"/>
            <a:ext cx="10095421" cy="942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37</a:t>
            </a:fld>
            <a:endParaRPr lang="zh-CN" altLang="en-US"/>
          </a:p>
        </p:txBody>
      </p:sp>
      <p:sp>
        <p:nvSpPr>
          <p:cNvPr id="17" name="文本框 16"/>
          <p:cNvSpPr txBox="1"/>
          <p:nvPr/>
        </p:nvSpPr>
        <p:spPr>
          <a:xfrm>
            <a:off x="854708" y="2903299"/>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clean = </a:t>
            </a:r>
            <a:r>
              <a:rPr lang="en-US" altLang="zh-CN" sz="1600" dirty="0" err="1">
                <a:latin typeface="+mn-ea"/>
              </a:rPr>
              <a:t>clean.filter</a:t>
            </a:r>
            <a:r>
              <a:rPr lang="en-US" altLang="zh-CN" sz="1600" dirty="0">
                <a:latin typeface="+mn-ea"/>
              </a:rPr>
              <a:t>(</a:t>
            </a:r>
            <a:r>
              <a:rPr lang="en-US" altLang="zh-CN" sz="1600" dirty="0" err="1">
                <a:latin typeface="+mn-ea"/>
              </a:rPr>
              <a:t>df</a:t>
            </a:r>
            <a:r>
              <a:rPr lang="en-US" altLang="zh-CN" sz="1600" dirty="0">
                <a:latin typeface="+mn-ea"/>
              </a:rPr>
              <a:t>["ITEMCODE"].</a:t>
            </a:r>
            <a:r>
              <a:rPr lang="en-US" altLang="zh-CN" sz="1600" dirty="0" err="1">
                <a:latin typeface="+mn-ea"/>
              </a:rPr>
              <a:t>isNotNull</a:t>
            </a:r>
            <a:r>
              <a:rPr lang="en-US" altLang="zh-CN" sz="1600" dirty="0">
                <a:latin typeface="+mn-ea"/>
              </a:rPr>
              <a:t>())</a:t>
            </a:r>
            <a:endParaRPr lang="zh-CN" altLang="zh-CN" sz="1600" dirty="0">
              <a:latin typeface="+mn-ea"/>
            </a:endParaRPr>
          </a:p>
          <a:p>
            <a:pPr>
              <a:lnSpc>
                <a:spcPct val="150000"/>
              </a:lnSpc>
            </a:pPr>
            <a:r>
              <a:rPr lang="en-US" altLang="zh-CN" sz="1600" dirty="0" err="1">
                <a:latin typeface="+mn-ea"/>
              </a:rPr>
              <a:t>clean.count</a:t>
            </a:r>
            <a:r>
              <a:rPr lang="en-US" altLang="zh-CN" sz="1600" dirty="0">
                <a:latin typeface="+mn-ea"/>
              </a:rPr>
              <a:t>()</a:t>
            </a:r>
            <a:endParaRPr lang="zh-CN" altLang="zh-CN" sz="1600" dirty="0">
              <a:latin typeface="+mn-ea"/>
            </a:endParaRPr>
          </a:p>
        </p:txBody>
      </p:sp>
      <p:sp>
        <p:nvSpPr>
          <p:cNvPr id="20"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rPr>
              <a:t>2. </a:t>
            </a:r>
            <a:r>
              <a:rPr lang="zh-CN" altLang="en-US" sz="1800" b="1" dirty="0">
                <a:latin typeface="+mn-ea"/>
              </a:rPr>
              <a:t>数据预处理</a:t>
            </a:r>
          </a:p>
        </p:txBody>
      </p:sp>
      <p:sp>
        <p:nvSpPr>
          <p:cNvPr id="2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2"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使用</a:t>
            </a:r>
            <a:r>
              <a:rPr lang="en-US" altLang="zh-CN" sz="1800" dirty="0"/>
              <a:t>Python</a:t>
            </a:r>
            <a:r>
              <a:rPr lang="zh-CN" altLang="zh-CN" sz="1800" dirty="0"/>
              <a:t>语言对数据进行查看及清洗</a:t>
            </a:r>
            <a:r>
              <a:rPr lang="zh-CN" altLang="en-US" sz="1800" dirty="0"/>
              <a:t>。</a:t>
            </a:r>
            <a:endParaRPr lang="en-US" altLang="zh-CN" sz="1800" dirty="0"/>
          </a:p>
          <a:p>
            <a:pPr marL="0" indent="0">
              <a:lnSpc>
                <a:spcPct val="100000"/>
              </a:lnSpc>
              <a:buNone/>
            </a:pPr>
            <a:r>
              <a:rPr lang="en-US" altLang="zh-CN" sz="1800" dirty="0"/>
              <a:t>     </a:t>
            </a:r>
          </a:p>
        </p:txBody>
      </p:sp>
      <p:sp>
        <p:nvSpPr>
          <p:cNvPr id="23" name="内容占位符 2"/>
          <p:cNvSpPr>
            <a:spLocks noGrp="1"/>
          </p:cNvSpPr>
          <p:nvPr/>
        </p:nvSpPr>
        <p:spPr>
          <a:xfrm>
            <a:off x="854709" y="2123389"/>
            <a:ext cx="10080000" cy="5502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a:t>删除没有商品编号的数据：</a:t>
            </a:r>
            <a:endParaRPr lang="zh-CN" altLang="zh-CN" sz="1800" dirty="0"/>
          </a:p>
        </p:txBody>
      </p:sp>
      <p:pic>
        <p:nvPicPr>
          <p:cNvPr id="7170" name="图片 1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3963945"/>
            <a:ext cx="10147117" cy="87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38</a:t>
            </a:fld>
            <a:endParaRPr lang="zh-CN" altLang="en-US"/>
          </a:p>
        </p:txBody>
      </p:sp>
      <p:sp>
        <p:nvSpPr>
          <p:cNvPr id="17" name="文本框 16"/>
          <p:cNvSpPr txBox="1"/>
          <p:nvPr/>
        </p:nvSpPr>
        <p:spPr>
          <a:xfrm>
            <a:off x="854709" y="2222852"/>
            <a:ext cx="10080000" cy="1938992"/>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from </a:t>
            </a:r>
            <a:r>
              <a:rPr lang="en-US" altLang="zh-CN" sz="1600" dirty="0" err="1">
                <a:latin typeface="+mn-ea"/>
              </a:rPr>
              <a:t>pyspark.sql.functions</a:t>
            </a:r>
            <a:r>
              <a:rPr lang="en-US" altLang="zh-CN" sz="1600" dirty="0">
                <a:latin typeface="+mn-ea"/>
              </a:rPr>
              <a:t> import </a:t>
            </a:r>
            <a:r>
              <a:rPr lang="en-US" altLang="zh-CN" sz="1600" dirty="0" err="1">
                <a:latin typeface="+mn-ea"/>
              </a:rPr>
              <a:t>collect_set</a:t>
            </a:r>
            <a:endParaRPr lang="en-US" altLang="zh-CN" sz="1600" dirty="0">
              <a:latin typeface="+mn-ea"/>
            </a:endParaRPr>
          </a:p>
          <a:p>
            <a:pPr>
              <a:lnSpc>
                <a:spcPct val="150000"/>
              </a:lnSpc>
            </a:pPr>
            <a:r>
              <a:rPr lang="en-US" altLang="zh-CN" sz="1600" dirty="0">
                <a:latin typeface="+mn-ea"/>
              </a:rPr>
              <a:t>from </a:t>
            </a:r>
            <a:r>
              <a:rPr lang="en-US" altLang="zh-CN" sz="1600" dirty="0" err="1">
                <a:latin typeface="+mn-ea"/>
              </a:rPr>
              <a:t>pyspark.ml.fpm</a:t>
            </a:r>
            <a:r>
              <a:rPr lang="en-US" altLang="zh-CN" sz="1600" dirty="0">
                <a:latin typeface="+mn-ea"/>
              </a:rPr>
              <a:t> import </a:t>
            </a:r>
            <a:r>
              <a:rPr lang="en-US" altLang="zh-CN" sz="1600" dirty="0" err="1">
                <a:latin typeface="+mn-ea"/>
              </a:rPr>
              <a:t>FPGrowth</a:t>
            </a:r>
            <a:endParaRPr lang="en-US" altLang="zh-CN" sz="1600" dirty="0">
              <a:latin typeface="+mn-ea"/>
            </a:endParaRPr>
          </a:p>
          <a:p>
            <a:pPr>
              <a:lnSpc>
                <a:spcPct val="150000"/>
              </a:lnSpc>
            </a:pPr>
            <a:r>
              <a:rPr lang="en-US" altLang="zh-CN" sz="1600" dirty="0">
                <a:latin typeface="+mn-ea"/>
              </a:rPr>
              <a:t>data=</a:t>
            </a:r>
            <a:r>
              <a:rPr lang="en-US" altLang="zh-CN" sz="1600" dirty="0" err="1">
                <a:latin typeface="+mn-ea"/>
              </a:rPr>
              <a:t>clean.groupBy</a:t>
            </a:r>
            <a:r>
              <a:rPr lang="en-US" altLang="zh-CN" sz="1600" dirty="0">
                <a:latin typeface="+mn-ea"/>
              </a:rPr>
              <a:t>("FICHENO").</a:t>
            </a:r>
            <a:r>
              <a:rPr lang="en-US" altLang="zh-CN" sz="1600" dirty="0" err="1">
                <a:latin typeface="+mn-ea"/>
              </a:rPr>
              <a:t>agg</a:t>
            </a:r>
            <a:r>
              <a:rPr lang="en-US" altLang="zh-CN" sz="1600" dirty="0">
                <a:latin typeface="+mn-ea"/>
              </a:rPr>
              <a:t>(</a:t>
            </a:r>
            <a:r>
              <a:rPr lang="en-US" altLang="zh-CN" sz="1600" dirty="0" err="1">
                <a:latin typeface="+mn-ea"/>
              </a:rPr>
              <a:t>collect_set</a:t>
            </a:r>
            <a:r>
              <a:rPr lang="en-US" altLang="zh-CN" sz="1600" dirty="0">
                <a:latin typeface="+mn-ea"/>
              </a:rPr>
              <a:t>("ITEMCODE")).</a:t>
            </a:r>
            <a:r>
              <a:rPr lang="en-US" altLang="zh-CN" sz="1600" dirty="0" err="1">
                <a:latin typeface="+mn-ea"/>
              </a:rPr>
              <a:t>withColumnRenamed</a:t>
            </a:r>
            <a:r>
              <a:rPr lang="en-US" altLang="zh-CN" sz="1600" dirty="0">
                <a:latin typeface="+mn-ea"/>
              </a:rPr>
              <a:t>("</a:t>
            </a:r>
            <a:r>
              <a:rPr lang="en-US" altLang="zh-CN" sz="1600" dirty="0" err="1">
                <a:latin typeface="+mn-ea"/>
              </a:rPr>
              <a:t>collect_set</a:t>
            </a:r>
            <a:r>
              <a:rPr lang="en-US" altLang="zh-CN" sz="1600" dirty="0">
                <a:latin typeface="+mn-ea"/>
              </a:rPr>
              <a:t>(ITEMCODE)","ITEM_LIST")</a:t>
            </a:r>
          </a:p>
          <a:p>
            <a:pPr>
              <a:lnSpc>
                <a:spcPct val="150000"/>
              </a:lnSpc>
            </a:pPr>
            <a:r>
              <a:rPr lang="en-US" altLang="zh-CN" sz="1600" dirty="0" err="1">
                <a:latin typeface="+mn-ea"/>
              </a:rPr>
              <a:t>data.count</a:t>
            </a:r>
            <a:r>
              <a:rPr lang="en-US" altLang="zh-CN" sz="1600" dirty="0">
                <a:latin typeface="+mn-ea"/>
              </a:rPr>
              <a:t>()</a:t>
            </a:r>
            <a:endParaRPr lang="zh-CN" altLang="zh-CN" sz="1600" dirty="0">
              <a:latin typeface="+mn-ea"/>
            </a:endParaRPr>
          </a:p>
        </p:txBody>
      </p:sp>
      <p:sp>
        <p:nvSpPr>
          <p:cNvPr id="1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0"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en-US" sz="1800" dirty="0"/>
              <a:t>导入所需包并合并数据</a:t>
            </a:r>
            <a:endParaRPr lang="en-US" altLang="zh-CN" sz="1800" dirty="0"/>
          </a:p>
        </p:txBody>
      </p:sp>
      <p:pic>
        <p:nvPicPr>
          <p:cNvPr id="8194" name="图片 1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9" y="4396430"/>
            <a:ext cx="9989258" cy="1786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39</a:t>
            </a:fld>
            <a:endParaRPr lang="zh-CN" altLang="en-US"/>
          </a:p>
        </p:txBody>
      </p:sp>
      <p:sp>
        <p:nvSpPr>
          <p:cNvPr id="17" name="文本框 16"/>
          <p:cNvSpPr txBox="1"/>
          <p:nvPr/>
        </p:nvSpPr>
        <p:spPr>
          <a:xfrm>
            <a:off x="854708" y="2084537"/>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fpGrowth</a:t>
            </a:r>
            <a:r>
              <a:rPr lang="en-US" altLang="zh-CN" sz="1600" dirty="0">
                <a:latin typeface="+mn-ea"/>
              </a:rPr>
              <a:t> = </a:t>
            </a:r>
            <a:r>
              <a:rPr lang="en-US" altLang="zh-CN" sz="1600" dirty="0" err="1">
                <a:latin typeface="+mn-ea"/>
              </a:rPr>
              <a:t>FPGrowth</a:t>
            </a:r>
            <a:r>
              <a:rPr lang="en-US" altLang="zh-CN" sz="1600" dirty="0">
                <a:latin typeface="+mn-ea"/>
              </a:rPr>
              <a:t>(</a:t>
            </a:r>
            <a:r>
              <a:rPr lang="en-US" altLang="zh-CN" sz="1600" dirty="0" err="1">
                <a:latin typeface="+mn-ea"/>
              </a:rPr>
              <a:t>itemsCol</a:t>
            </a:r>
            <a:r>
              <a:rPr lang="en-US" altLang="zh-CN" sz="1600" dirty="0">
                <a:latin typeface="+mn-ea"/>
              </a:rPr>
              <a:t>="ITEM_LIST", </a:t>
            </a:r>
            <a:r>
              <a:rPr lang="en-US" altLang="zh-CN" sz="1600" dirty="0" err="1">
                <a:latin typeface="+mn-ea"/>
              </a:rPr>
              <a:t>minSupport</a:t>
            </a:r>
            <a:r>
              <a:rPr lang="en-US" altLang="zh-CN" sz="1600" dirty="0">
                <a:latin typeface="+mn-ea"/>
              </a:rPr>
              <a:t>=0.01, </a:t>
            </a:r>
            <a:r>
              <a:rPr lang="en-US" altLang="zh-CN" sz="1600" dirty="0" err="1">
                <a:latin typeface="+mn-ea"/>
              </a:rPr>
              <a:t>minConfidence</a:t>
            </a:r>
            <a:r>
              <a:rPr lang="en-US" altLang="zh-CN" sz="1600" dirty="0">
                <a:latin typeface="+mn-ea"/>
              </a:rPr>
              <a:t>=0.1)</a:t>
            </a:r>
            <a:endParaRPr lang="zh-CN" altLang="zh-CN" sz="1600" dirty="0">
              <a:latin typeface="+mn-ea"/>
            </a:endParaRPr>
          </a:p>
        </p:txBody>
      </p:sp>
      <p:sp>
        <p:nvSpPr>
          <p:cNvPr id="14" name="文本框 13"/>
          <p:cNvSpPr txBox="1"/>
          <p:nvPr/>
        </p:nvSpPr>
        <p:spPr>
          <a:xfrm>
            <a:off x="854708" y="3048281"/>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model = </a:t>
            </a:r>
            <a:r>
              <a:rPr lang="en-US" altLang="zh-CN" sz="1600" dirty="0" err="1">
                <a:latin typeface="+mn-ea"/>
              </a:rPr>
              <a:t>fpGrowth.fit</a:t>
            </a:r>
            <a:r>
              <a:rPr lang="en-US" altLang="zh-CN" sz="1600" dirty="0">
                <a:latin typeface="+mn-ea"/>
              </a:rPr>
              <a:t>(data)</a:t>
            </a:r>
            <a:endParaRPr lang="zh-CN" altLang="zh-CN" sz="1600" dirty="0">
              <a:latin typeface="+mn-ea"/>
            </a:endParaRPr>
          </a:p>
        </p:txBody>
      </p:sp>
      <p:sp>
        <p:nvSpPr>
          <p:cNvPr id="1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0"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en-US" sz="1800" dirty="0"/>
              <a:t>定义模型，</a:t>
            </a:r>
            <a:r>
              <a:rPr lang="zh-CN" altLang="zh-CN" sz="1800" dirty="0"/>
              <a:t>这里先设置最小支持度为</a:t>
            </a:r>
            <a:r>
              <a:rPr lang="en-US" altLang="zh-CN" sz="1800" dirty="0"/>
              <a:t>0.01</a:t>
            </a:r>
            <a:r>
              <a:rPr lang="zh-CN" altLang="zh-CN" sz="1800" dirty="0"/>
              <a:t>，最小置信度为</a:t>
            </a:r>
            <a:r>
              <a:rPr lang="en-US" altLang="zh-CN" sz="1800" dirty="0"/>
              <a:t>0.1</a:t>
            </a:r>
            <a:r>
              <a:rPr lang="zh-CN" altLang="zh-CN" sz="1800" dirty="0"/>
              <a:t>。</a:t>
            </a:r>
            <a:endParaRPr lang="en-US" altLang="zh-CN" sz="1800" dirty="0"/>
          </a:p>
        </p:txBody>
      </p:sp>
      <p:sp>
        <p:nvSpPr>
          <p:cNvPr id="21" name="内容占位符 2"/>
          <p:cNvSpPr>
            <a:spLocks noGrp="1"/>
          </p:cNvSpPr>
          <p:nvPr/>
        </p:nvSpPr>
        <p:spPr>
          <a:xfrm>
            <a:off x="854709" y="2519362"/>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3) </a:t>
            </a:r>
            <a:r>
              <a:rPr lang="zh-CN" altLang="en-US" sz="1800" dirty="0"/>
              <a:t>训练模型</a:t>
            </a:r>
            <a:endParaRPr lang="en-US" altLang="zh-CN" sz="1800" dirty="0"/>
          </a:p>
        </p:txBody>
      </p:sp>
      <p:pic>
        <p:nvPicPr>
          <p:cNvPr id="9218" name="图片 1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3483106"/>
            <a:ext cx="8713490" cy="307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40</a:t>
            </a:fld>
            <a:endParaRPr lang="zh-CN" altLang="en-US"/>
          </a:p>
        </p:txBody>
      </p:sp>
      <p:sp>
        <p:nvSpPr>
          <p:cNvPr id="17" name="文本框 16"/>
          <p:cNvSpPr txBox="1"/>
          <p:nvPr/>
        </p:nvSpPr>
        <p:spPr>
          <a:xfrm>
            <a:off x="854708" y="2233297"/>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model.freqItemsets.show</a:t>
            </a:r>
            <a:r>
              <a:rPr lang="en-US" altLang="zh-CN" sz="1600" dirty="0">
                <a:latin typeface="+mn-ea"/>
              </a:rPr>
              <a:t>()</a:t>
            </a:r>
            <a:endParaRPr lang="zh-CN" altLang="zh-CN" sz="1600" dirty="0">
              <a:latin typeface="+mn-ea"/>
            </a:endParaRPr>
          </a:p>
        </p:txBody>
      </p:sp>
      <p:sp>
        <p:nvSpPr>
          <p:cNvPr id="1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0"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en-US" sz="1800" dirty="0"/>
              <a:t>打印频繁项集</a:t>
            </a:r>
            <a:endParaRPr lang="en-US" altLang="zh-CN" sz="1800" dirty="0"/>
          </a:p>
        </p:txBody>
      </p:sp>
      <p:pic>
        <p:nvPicPr>
          <p:cNvPr id="1024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704" y="681092"/>
            <a:ext cx="5559240" cy="5910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41</a:t>
            </a:fld>
            <a:endParaRPr lang="zh-CN" altLang="en-US"/>
          </a:p>
        </p:txBody>
      </p:sp>
      <p:sp>
        <p:nvSpPr>
          <p:cNvPr id="17" name="文本框 16"/>
          <p:cNvSpPr txBox="1"/>
          <p:nvPr/>
        </p:nvSpPr>
        <p:spPr>
          <a:xfrm>
            <a:off x="854708" y="2152811"/>
            <a:ext cx="10080000"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model.associationRules.show</a:t>
            </a:r>
            <a:r>
              <a:rPr lang="en-US" altLang="zh-CN" sz="1600" dirty="0">
                <a:latin typeface="+mn-ea"/>
              </a:rPr>
              <a:t>()</a:t>
            </a:r>
            <a:endParaRPr lang="zh-CN" altLang="zh-CN" sz="1600" dirty="0">
              <a:latin typeface="+mn-ea"/>
            </a:endParaRPr>
          </a:p>
        </p:txBody>
      </p:sp>
      <p:sp>
        <p:nvSpPr>
          <p:cNvPr id="13"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4"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5"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5) </a:t>
            </a:r>
            <a:r>
              <a:rPr lang="zh-CN" altLang="en-US" sz="1800" dirty="0"/>
              <a:t>显示关联规则</a:t>
            </a:r>
            <a:endParaRPr lang="en-US" altLang="zh-CN" sz="1800" dirty="0"/>
          </a:p>
        </p:txBody>
      </p:sp>
      <p:pic>
        <p:nvPicPr>
          <p:cNvPr id="11266" name="图片 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2655911"/>
            <a:ext cx="10084119" cy="346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42</a:t>
            </a:fld>
            <a:endParaRPr lang="zh-CN" altLang="en-US"/>
          </a:p>
        </p:txBody>
      </p:sp>
      <p:sp>
        <p:nvSpPr>
          <p:cNvPr id="17" name="文本框 16"/>
          <p:cNvSpPr txBox="1"/>
          <p:nvPr/>
        </p:nvSpPr>
        <p:spPr>
          <a:xfrm>
            <a:off x="854708" y="2276561"/>
            <a:ext cx="10080000" cy="787523"/>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df.where</a:t>
            </a:r>
            <a:r>
              <a:rPr lang="en-US" altLang="zh-CN" sz="1600" dirty="0">
                <a:latin typeface="+mn-ea"/>
              </a:rPr>
              <a:t>("ITEMCODE = 5715" ).show()</a:t>
            </a:r>
          </a:p>
          <a:p>
            <a:pPr>
              <a:lnSpc>
                <a:spcPct val="150000"/>
              </a:lnSpc>
            </a:pPr>
            <a:r>
              <a:rPr lang="en-US" altLang="zh-CN" sz="1600" dirty="0" err="1">
                <a:latin typeface="+mn-ea"/>
              </a:rPr>
              <a:t>df.where</a:t>
            </a:r>
            <a:r>
              <a:rPr lang="en-US" altLang="zh-CN" sz="1600" dirty="0">
                <a:latin typeface="+mn-ea"/>
              </a:rPr>
              <a:t>("ITEMCODE = 5716" ).show()</a:t>
            </a:r>
            <a:endParaRPr lang="zh-CN" altLang="zh-CN" sz="1600" dirty="0">
              <a:latin typeface="+mn-ea"/>
            </a:endParaRPr>
          </a:p>
        </p:txBody>
      </p:sp>
      <p:sp>
        <p:nvSpPr>
          <p:cNvPr id="15"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6"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9" name="内容占位符 2"/>
          <p:cNvSpPr>
            <a:spLocks noGrp="1"/>
          </p:cNvSpPr>
          <p:nvPr/>
        </p:nvSpPr>
        <p:spPr>
          <a:xfrm>
            <a:off x="854709" y="1555618"/>
            <a:ext cx="8383883" cy="4326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6) </a:t>
            </a:r>
            <a:r>
              <a:rPr lang="zh-CN" altLang="en-US" sz="1800" dirty="0"/>
              <a:t>查看商品名称</a:t>
            </a:r>
            <a:endParaRPr lang="en-US" altLang="zh-CN" sz="1800" dirty="0"/>
          </a:p>
        </p:txBody>
      </p:sp>
      <p:pic>
        <p:nvPicPr>
          <p:cNvPr id="12290" name="Picture 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3352379"/>
            <a:ext cx="5968230" cy="247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315" y="3352379"/>
            <a:ext cx="5899924" cy="247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43</a:t>
            </a:fld>
            <a:endParaRPr lang="zh-CN" altLang="en-US"/>
          </a:p>
        </p:txBody>
      </p:sp>
      <p:sp>
        <p:nvSpPr>
          <p:cNvPr id="17" name="文本框 16"/>
          <p:cNvSpPr txBox="1"/>
          <p:nvPr/>
        </p:nvSpPr>
        <p:spPr>
          <a:xfrm>
            <a:off x="854708" y="2507131"/>
            <a:ext cx="10080000" cy="787523"/>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fpGrowth</a:t>
            </a:r>
            <a:r>
              <a:rPr lang="en-US" altLang="zh-CN" sz="1600" dirty="0">
                <a:latin typeface="+mn-ea"/>
              </a:rPr>
              <a:t> = </a:t>
            </a:r>
            <a:r>
              <a:rPr lang="en-US" altLang="zh-CN" sz="1600" dirty="0" err="1">
                <a:latin typeface="+mn-ea"/>
              </a:rPr>
              <a:t>FPGrowth</a:t>
            </a:r>
            <a:r>
              <a:rPr lang="en-US" altLang="zh-CN" sz="1600" dirty="0">
                <a:latin typeface="+mn-ea"/>
              </a:rPr>
              <a:t>(</a:t>
            </a:r>
            <a:r>
              <a:rPr lang="en-US" altLang="zh-CN" sz="1600" dirty="0" err="1">
                <a:latin typeface="+mn-ea"/>
              </a:rPr>
              <a:t>itemsCol</a:t>
            </a:r>
            <a:r>
              <a:rPr lang="en-US" altLang="zh-CN" sz="1600" dirty="0">
                <a:latin typeface="+mn-ea"/>
              </a:rPr>
              <a:t>="ITEM_LIST", </a:t>
            </a:r>
            <a:r>
              <a:rPr lang="en-US" altLang="zh-CN" sz="1600" dirty="0" err="1">
                <a:latin typeface="+mn-ea"/>
              </a:rPr>
              <a:t>minSupport</a:t>
            </a:r>
            <a:r>
              <a:rPr lang="en-US" altLang="zh-CN" sz="1600" dirty="0">
                <a:latin typeface="+mn-ea"/>
              </a:rPr>
              <a:t>=0.005, </a:t>
            </a:r>
            <a:r>
              <a:rPr lang="en-US" altLang="zh-CN" sz="1600" dirty="0" err="1">
                <a:latin typeface="+mn-ea"/>
              </a:rPr>
              <a:t>minConfidence</a:t>
            </a:r>
            <a:r>
              <a:rPr lang="en-US" altLang="zh-CN" sz="1600" dirty="0">
                <a:latin typeface="+mn-ea"/>
              </a:rPr>
              <a:t>=0.2)</a:t>
            </a:r>
          </a:p>
          <a:p>
            <a:pPr>
              <a:lnSpc>
                <a:spcPct val="150000"/>
              </a:lnSpc>
            </a:pPr>
            <a:r>
              <a:rPr lang="en-US" altLang="zh-CN" sz="1600" dirty="0">
                <a:latin typeface="+mn-ea"/>
              </a:rPr>
              <a:t>model = </a:t>
            </a:r>
            <a:r>
              <a:rPr lang="en-US" altLang="zh-CN" sz="1600" dirty="0" err="1">
                <a:latin typeface="+mn-ea"/>
              </a:rPr>
              <a:t>fpGrowth.fit</a:t>
            </a:r>
            <a:r>
              <a:rPr lang="en-US" altLang="zh-CN" sz="1600" dirty="0">
                <a:latin typeface="+mn-ea"/>
              </a:rPr>
              <a:t>(data)</a:t>
            </a:r>
            <a:endParaRPr lang="zh-CN" altLang="zh-CN" sz="1600" dirty="0">
              <a:latin typeface="+mn-ea"/>
            </a:endParaRPr>
          </a:p>
        </p:txBody>
      </p:sp>
      <p:pic>
        <p:nvPicPr>
          <p:cNvPr id="14" name="图片 13"/>
          <p:cNvPicPr/>
          <p:nvPr/>
        </p:nvPicPr>
        <p:blipFill>
          <a:blip r:embed="rId3"/>
          <a:stretch>
            <a:fillRect/>
          </a:stretch>
        </p:blipFill>
        <p:spPr>
          <a:xfrm>
            <a:off x="850680" y="4243153"/>
            <a:ext cx="9990687" cy="1882866"/>
          </a:xfrm>
          <a:prstGeom prst="rect">
            <a:avLst/>
          </a:prstGeom>
        </p:spPr>
      </p:pic>
      <p:sp>
        <p:nvSpPr>
          <p:cNvPr id="15"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6"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9" name="内容占位符 2"/>
          <p:cNvSpPr>
            <a:spLocks noGrp="1"/>
          </p:cNvSpPr>
          <p:nvPr/>
        </p:nvSpPr>
        <p:spPr>
          <a:xfrm>
            <a:off x="854708" y="1555618"/>
            <a:ext cx="10080000" cy="8163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7) </a:t>
            </a:r>
            <a:r>
              <a:rPr lang="zh-CN" altLang="zh-CN" sz="1800" dirty="0"/>
              <a:t>尝试不同支持度和置信度</a:t>
            </a:r>
            <a:r>
              <a:rPr lang="zh-CN" altLang="en-US" sz="1800" dirty="0"/>
              <a:t>，</a:t>
            </a:r>
            <a:r>
              <a:rPr lang="zh-CN" altLang="zh-CN" sz="1800" dirty="0"/>
              <a:t>这里再设置最小支持度为</a:t>
            </a:r>
            <a:r>
              <a:rPr lang="en-US" altLang="zh-CN" sz="1800" dirty="0"/>
              <a:t>0.005</a:t>
            </a:r>
            <a:r>
              <a:rPr lang="zh-CN" altLang="zh-CN" sz="1800" dirty="0"/>
              <a:t>，最小置信度为</a:t>
            </a:r>
            <a:r>
              <a:rPr lang="en-US" altLang="zh-CN" sz="1800" dirty="0"/>
              <a:t>0.2</a:t>
            </a:r>
            <a:r>
              <a:rPr lang="zh-CN" altLang="zh-CN" sz="1800" dirty="0"/>
              <a:t>。</a:t>
            </a:r>
            <a:endParaRPr lang="en-US" altLang="zh-CN" sz="1800" dirty="0"/>
          </a:p>
          <a:p>
            <a:pPr marL="0" indent="0">
              <a:lnSpc>
                <a:spcPct val="100000"/>
              </a:lnSpc>
              <a:buNone/>
            </a:pPr>
            <a:r>
              <a:rPr lang="zh-CN" altLang="en-US" sz="1800" dirty="0"/>
              <a:t>并重新训练模型</a:t>
            </a:r>
            <a:endParaRPr lang="en-US" altLang="zh-CN" sz="1800" dirty="0"/>
          </a:p>
        </p:txBody>
      </p:sp>
      <p:pic>
        <p:nvPicPr>
          <p:cNvPr id="13314" name="图片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708" y="3429776"/>
            <a:ext cx="9986659" cy="67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44</a:t>
            </a:fld>
            <a:endParaRPr lang="zh-CN" altLang="en-US"/>
          </a:p>
        </p:txBody>
      </p:sp>
      <p:sp>
        <p:nvSpPr>
          <p:cNvPr id="7" name="内容占位符 2"/>
          <p:cNvSpPr>
            <a:spLocks noGrp="1"/>
          </p:cNvSpPr>
          <p:nvPr/>
        </p:nvSpPr>
        <p:spPr>
          <a:xfrm>
            <a:off x="854710" y="2272030"/>
            <a:ext cx="4353394" cy="3916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zh-CN" sz="1600" dirty="0"/>
          </a:p>
        </p:txBody>
      </p:sp>
      <p:sp>
        <p:nvSpPr>
          <p:cNvPr id="17" name="文本框 16"/>
          <p:cNvSpPr txBox="1"/>
          <p:nvPr/>
        </p:nvSpPr>
        <p:spPr>
          <a:xfrm>
            <a:off x="854708" y="2060997"/>
            <a:ext cx="7631693" cy="338554"/>
          </a:xfrm>
          <a:prstGeom prst="rect">
            <a:avLst/>
          </a:prstGeom>
          <a:solidFill>
            <a:schemeClr val="accent3">
              <a:lumMod val="20000"/>
              <a:lumOff val="80000"/>
            </a:schemeClr>
          </a:solidFill>
        </p:spPr>
        <p:txBody>
          <a:bodyPr wrap="square" rtlCol="0">
            <a:spAutoFit/>
          </a:bodyPr>
          <a:lstStyle/>
          <a:p>
            <a:r>
              <a:rPr lang="en-US" altLang="zh-CN" sz="1600" dirty="0" err="1">
                <a:latin typeface="+mn-ea"/>
              </a:rPr>
              <a:t>model.associationRules.show</a:t>
            </a:r>
            <a:r>
              <a:rPr lang="en-US" altLang="zh-CN" sz="1600" dirty="0">
                <a:latin typeface="+mn-ea"/>
              </a:rPr>
              <a:t>()</a:t>
            </a:r>
            <a:endParaRPr lang="zh-CN" altLang="zh-CN" sz="1600" dirty="0">
              <a:latin typeface="+mn-ea"/>
            </a:endParaRPr>
          </a:p>
        </p:txBody>
      </p:sp>
      <p:sp>
        <p:nvSpPr>
          <p:cNvPr id="1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3. </a:t>
            </a:r>
            <a:r>
              <a:rPr lang="en-US" altLang="zh-CN" sz="1800" b="1" dirty="0" err="1"/>
              <a:t>FPGrowth</a:t>
            </a:r>
            <a:r>
              <a:rPr lang="zh-CN" altLang="en-US" sz="1800" b="1" dirty="0"/>
              <a:t>关联分析</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6" name="内容占位符 2"/>
          <p:cNvSpPr>
            <a:spLocks noGrp="1"/>
          </p:cNvSpPr>
          <p:nvPr/>
        </p:nvSpPr>
        <p:spPr>
          <a:xfrm>
            <a:off x="854708" y="1555618"/>
            <a:ext cx="10080000" cy="3702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8) </a:t>
            </a:r>
            <a:r>
              <a:rPr lang="zh-CN" altLang="en-US" sz="1800" dirty="0"/>
              <a:t>显示关联规则</a:t>
            </a:r>
            <a:endParaRPr lang="en-US" altLang="zh-CN" sz="1800" dirty="0"/>
          </a:p>
        </p:txBody>
      </p:sp>
      <p:pic>
        <p:nvPicPr>
          <p:cNvPr id="14338" name="图片 1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2534673"/>
            <a:ext cx="5971761" cy="408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45</a:t>
            </a:fld>
            <a:endParaRPr lang="zh-CN" altLang="en-US"/>
          </a:p>
        </p:txBody>
      </p:sp>
      <p:sp>
        <p:nvSpPr>
          <p:cNvPr id="17" name="文本框 16"/>
          <p:cNvSpPr txBox="1"/>
          <p:nvPr/>
        </p:nvSpPr>
        <p:spPr>
          <a:xfrm>
            <a:off x="854708" y="2091613"/>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rules=</a:t>
            </a:r>
            <a:r>
              <a:rPr lang="en-US" altLang="zh-CN" sz="1600" dirty="0" err="1">
                <a:latin typeface="+mn-ea"/>
              </a:rPr>
              <a:t>model.associationRules</a:t>
            </a:r>
            <a:endParaRPr lang="zh-CN" altLang="zh-CN" sz="1600" dirty="0">
              <a:latin typeface="+mn-ea"/>
            </a:endParaRPr>
          </a:p>
          <a:p>
            <a:pPr>
              <a:lnSpc>
                <a:spcPct val="150000"/>
              </a:lnSpc>
            </a:pPr>
            <a:r>
              <a:rPr lang="en-US" altLang="zh-CN" sz="1600" dirty="0" err="1">
                <a:latin typeface="+mn-ea"/>
              </a:rPr>
              <a:t>rules.printSchema</a:t>
            </a:r>
            <a:r>
              <a:rPr lang="en-US" altLang="zh-CN" sz="1600" dirty="0">
                <a:latin typeface="+mn-ea"/>
              </a:rPr>
              <a:t>()</a:t>
            </a:r>
            <a:endParaRPr lang="zh-CN" altLang="zh-CN" sz="1600" dirty="0">
              <a:latin typeface="+mn-ea"/>
            </a:endParaRPr>
          </a:p>
        </p:txBody>
      </p:sp>
      <p:sp>
        <p:nvSpPr>
          <p:cNvPr id="19"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4. </a:t>
            </a:r>
            <a:r>
              <a:rPr lang="zh-CN" altLang="en-US" sz="1800" b="1" dirty="0"/>
              <a:t>将结果保存至</a:t>
            </a:r>
            <a:r>
              <a:rPr lang="en-US" altLang="zh-CN" sz="1800" b="1" dirty="0"/>
              <a:t>MySQL</a:t>
            </a:r>
          </a:p>
        </p:txBody>
      </p:sp>
      <p:sp>
        <p:nvSpPr>
          <p:cNvPr id="20"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21"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zh-CN" sz="1800" dirty="0"/>
              <a:t>将结果</a:t>
            </a:r>
            <a:r>
              <a:rPr lang="en-US" altLang="zh-CN" sz="1800" dirty="0" err="1"/>
              <a:t>dataframe</a:t>
            </a:r>
            <a:r>
              <a:rPr lang="zh-CN" altLang="zh-CN" sz="1800" dirty="0"/>
              <a:t>列类型</a:t>
            </a:r>
            <a:r>
              <a:rPr lang="en-US" altLang="zh-CN" sz="1800" dirty="0"/>
              <a:t>array</a:t>
            </a:r>
            <a:r>
              <a:rPr lang="zh-CN" altLang="zh-CN" sz="1800" dirty="0"/>
              <a:t>转换为</a:t>
            </a:r>
            <a:r>
              <a:rPr lang="en-US" altLang="zh-CN" sz="1800" dirty="0"/>
              <a:t>string</a:t>
            </a:r>
            <a:r>
              <a:rPr lang="zh-CN" altLang="zh-CN" sz="1800" dirty="0"/>
              <a:t>。</a:t>
            </a:r>
            <a:endParaRPr lang="en-US" altLang="zh-CN" sz="1800" dirty="0"/>
          </a:p>
        </p:txBody>
      </p:sp>
      <p:pic>
        <p:nvPicPr>
          <p:cNvPr id="22" name="图片 12"/>
          <p:cNvPicPr/>
          <p:nvPr/>
        </p:nvPicPr>
        <p:blipFill>
          <a:blip r:embed="rId3"/>
          <a:stretch>
            <a:fillRect/>
          </a:stretch>
        </p:blipFill>
        <p:spPr>
          <a:xfrm>
            <a:off x="854708" y="3516737"/>
            <a:ext cx="9717766" cy="2839485"/>
          </a:xfrm>
          <a:prstGeom prst="rect">
            <a:avLst/>
          </a:prstGeom>
        </p:spPr>
      </p:pic>
      <p:sp>
        <p:nvSpPr>
          <p:cNvPr id="11" name="内容占位符 2"/>
          <p:cNvSpPr>
            <a:spLocks noGrp="1"/>
          </p:cNvSpPr>
          <p:nvPr/>
        </p:nvSpPr>
        <p:spPr>
          <a:xfrm>
            <a:off x="854708" y="2930559"/>
            <a:ext cx="10080000" cy="5269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Aft>
                <a:spcPts val="0"/>
              </a:spcAft>
              <a:buNone/>
            </a:pPr>
            <a:r>
              <a:rPr lang="zh-CN" altLang="en-US" sz="1800" dirty="0"/>
              <a:t>显示原始数据类型。</a:t>
            </a:r>
            <a:endParaRPr lang="zh-CN" altLang="zh-CN" sz="1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3.4.2 </a:t>
            </a:r>
            <a:r>
              <a:rPr lang="zh-CN" altLang="en-US" dirty="0"/>
              <a:t>基于零售交易数据的</a:t>
            </a:r>
            <a:r>
              <a:rPr lang="en-US" altLang="zh-CN" dirty="0"/>
              <a:t>Spark</a:t>
            </a:r>
            <a:r>
              <a:rPr lang="zh-CN" altLang="en-US" dirty="0"/>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46</a:t>
            </a:fld>
            <a:endParaRPr lang="zh-CN" altLang="en-US"/>
          </a:p>
        </p:txBody>
      </p:sp>
      <p:sp>
        <p:nvSpPr>
          <p:cNvPr id="17" name="文本框 16"/>
          <p:cNvSpPr txBox="1"/>
          <p:nvPr/>
        </p:nvSpPr>
        <p:spPr>
          <a:xfrm>
            <a:off x="854708" y="2423515"/>
            <a:ext cx="10080000" cy="1200329"/>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rules1=</a:t>
            </a:r>
            <a:r>
              <a:rPr lang="en-US" altLang="zh-CN" sz="1600" dirty="0" err="1">
                <a:latin typeface="+mn-ea"/>
              </a:rPr>
              <a:t>rules.withColumn</a:t>
            </a:r>
            <a:r>
              <a:rPr lang="en-US" altLang="zh-CN" sz="1600" dirty="0">
                <a:latin typeface="+mn-ea"/>
              </a:rPr>
              <a:t>("consequent", rules["consequent"].</a:t>
            </a:r>
            <a:r>
              <a:rPr lang="en-US" altLang="zh-CN" sz="1600" dirty="0" err="1">
                <a:latin typeface="+mn-ea"/>
              </a:rPr>
              <a:t>getItem</a:t>
            </a:r>
            <a:r>
              <a:rPr lang="en-US" altLang="zh-CN" sz="1600" dirty="0">
                <a:latin typeface="+mn-ea"/>
              </a:rPr>
              <a:t>(0).cast("string"))</a:t>
            </a:r>
            <a:endParaRPr lang="zh-CN" altLang="zh-CN" sz="1600" dirty="0">
              <a:latin typeface="+mn-ea"/>
            </a:endParaRPr>
          </a:p>
          <a:p>
            <a:pPr>
              <a:lnSpc>
                <a:spcPct val="150000"/>
              </a:lnSpc>
            </a:pPr>
            <a:r>
              <a:rPr lang="en-US" altLang="zh-CN" sz="1600" dirty="0">
                <a:latin typeface="+mn-ea"/>
              </a:rPr>
              <a:t>rules1.printSchema()</a:t>
            </a:r>
          </a:p>
          <a:p>
            <a:pPr>
              <a:lnSpc>
                <a:spcPct val="150000"/>
              </a:lnSpc>
            </a:pPr>
            <a:r>
              <a:rPr lang="en-US" altLang="zh-CN" sz="1600" dirty="0">
                <a:latin typeface="+mn-ea"/>
              </a:rPr>
              <a:t>rules1.show()</a:t>
            </a:r>
            <a:endParaRPr lang="zh-CN" altLang="zh-CN" sz="1600" dirty="0">
              <a:latin typeface="+mn-ea"/>
            </a:endParaRPr>
          </a:p>
        </p:txBody>
      </p:sp>
      <p:sp>
        <p:nvSpPr>
          <p:cNvPr id="1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4. </a:t>
            </a:r>
            <a:r>
              <a:rPr lang="zh-CN" altLang="en-US" sz="1800" b="1" dirty="0"/>
              <a:t>将结果保存至</a:t>
            </a:r>
            <a:r>
              <a:rPr lang="en-US" altLang="zh-CN" sz="1800" b="1" dirty="0"/>
              <a:t>MySQL</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6"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zh-CN" sz="1800" dirty="0"/>
              <a:t>将结果</a:t>
            </a:r>
            <a:r>
              <a:rPr lang="en-US" altLang="zh-CN" sz="1800" dirty="0" err="1"/>
              <a:t>dataframe</a:t>
            </a:r>
            <a:r>
              <a:rPr lang="zh-CN" altLang="zh-CN" sz="1800" dirty="0"/>
              <a:t>列类型</a:t>
            </a:r>
            <a:r>
              <a:rPr lang="en-US" altLang="zh-CN" sz="1800" dirty="0"/>
              <a:t>array</a:t>
            </a:r>
            <a:r>
              <a:rPr lang="zh-CN" altLang="zh-CN" sz="1800" dirty="0"/>
              <a:t>转换为</a:t>
            </a:r>
            <a:r>
              <a:rPr lang="en-US" altLang="zh-CN" sz="1800" dirty="0"/>
              <a:t>string</a:t>
            </a:r>
            <a:r>
              <a:rPr lang="zh-CN" altLang="zh-CN" sz="1800" dirty="0"/>
              <a:t>。</a:t>
            </a:r>
            <a:endParaRPr lang="en-US" altLang="zh-CN" sz="1800" dirty="0"/>
          </a:p>
        </p:txBody>
      </p:sp>
      <p:sp>
        <p:nvSpPr>
          <p:cNvPr id="19" name="内容占位符 2"/>
          <p:cNvSpPr>
            <a:spLocks noGrp="1"/>
          </p:cNvSpPr>
          <p:nvPr/>
        </p:nvSpPr>
        <p:spPr>
          <a:xfrm>
            <a:off x="854708" y="1925874"/>
            <a:ext cx="10080000" cy="5269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Aft>
                <a:spcPts val="0"/>
              </a:spcAft>
              <a:buNone/>
            </a:pPr>
            <a:r>
              <a:rPr lang="zh-CN" altLang="en-US" sz="1800" dirty="0"/>
              <a:t>修改</a:t>
            </a:r>
            <a:r>
              <a:rPr lang="en-US" altLang="zh-CN" sz="1800" dirty="0"/>
              <a:t>consequent</a:t>
            </a:r>
            <a:r>
              <a:rPr lang="zh-CN" altLang="en-US" sz="1800" dirty="0"/>
              <a:t>数据类型并显示。</a:t>
            </a:r>
            <a:endParaRPr lang="zh-CN" altLang="zh-CN" sz="1800" dirty="0"/>
          </a:p>
        </p:txBody>
      </p:sp>
      <p:pic>
        <p:nvPicPr>
          <p:cNvPr id="15362" name="图片 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3770700"/>
            <a:ext cx="6514646" cy="171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图片 1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3014" y="3770700"/>
            <a:ext cx="4341694" cy="29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47</a:t>
            </a:fld>
            <a:endParaRPr lang="zh-CN" altLang="en-US">
              <a:latin typeface="+mn-ea"/>
            </a:endParaRPr>
          </a:p>
        </p:txBody>
      </p:sp>
      <p:sp>
        <p:nvSpPr>
          <p:cNvPr id="17" name="文本框 16"/>
          <p:cNvSpPr txBox="1"/>
          <p:nvPr/>
        </p:nvSpPr>
        <p:spPr>
          <a:xfrm>
            <a:off x="854707" y="2762552"/>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rules2=rules1.withColumn("antecedent", rules["antecedent"].</a:t>
            </a:r>
            <a:r>
              <a:rPr lang="en-US" altLang="zh-CN" sz="1600" dirty="0" err="1">
                <a:latin typeface="+mn-ea"/>
              </a:rPr>
              <a:t>getItem</a:t>
            </a:r>
            <a:r>
              <a:rPr lang="en-US" altLang="zh-CN" sz="1600" dirty="0">
                <a:latin typeface="+mn-ea"/>
              </a:rPr>
              <a:t>(0).cast("string"))</a:t>
            </a:r>
            <a:endParaRPr lang="zh-CN" altLang="zh-CN" sz="1600" dirty="0">
              <a:latin typeface="+mn-ea"/>
            </a:endParaRPr>
          </a:p>
        </p:txBody>
      </p:sp>
      <p:sp>
        <p:nvSpPr>
          <p:cNvPr id="1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1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6"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zh-CN" sz="1800" dirty="0">
                <a:latin typeface="+mn-ea"/>
                <a:ea typeface="+mn-ea"/>
              </a:rPr>
              <a:t>将结果</a:t>
            </a:r>
            <a:r>
              <a:rPr lang="en-US" altLang="zh-CN" sz="1800" dirty="0" err="1">
                <a:latin typeface="+mn-ea"/>
                <a:ea typeface="+mn-ea"/>
              </a:rPr>
              <a:t>dataframe</a:t>
            </a:r>
            <a:r>
              <a:rPr lang="zh-CN" altLang="zh-CN" sz="1800" dirty="0">
                <a:latin typeface="+mn-ea"/>
                <a:ea typeface="+mn-ea"/>
              </a:rPr>
              <a:t>列类型</a:t>
            </a:r>
            <a:r>
              <a:rPr lang="en-US" altLang="zh-CN" sz="1800" dirty="0">
                <a:latin typeface="+mn-ea"/>
                <a:ea typeface="+mn-ea"/>
              </a:rPr>
              <a:t>array</a:t>
            </a:r>
            <a:r>
              <a:rPr lang="zh-CN" altLang="zh-CN" sz="1800" dirty="0">
                <a:latin typeface="+mn-ea"/>
                <a:ea typeface="+mn-ea"/>
              </a:rPr>
              <a:t>转换为</a:t>
            </a:r>
            <a:r>
              <a:rPr lang="en-US" altLang="zh-CN" sz="1800" dirty="0">
                <a:latin typeface="+mn-ea"/>
                <a:ea typeface="+mn-ea"/>
              </a:rPr>
              <a:t>string</a:t>
            </a:r>
            <a:r>
              <a:rPr lang="zh-CN" altLang="zh-CN" sz="1800" dirty="0">
                <a:latin typeface="+mn-ea"/>
                <a:ea typeface="+mn-ea"/>
              </a:rPr>
              <a:t>。</a:t>
            </a:r>
            <a:endParaRPr lang="en-US" altLang="zh-CN" sz="1800" dirty="0">
              <a:latin typeface="+mn-ea"/>
              <a:ea typeface="+mn-ea"/>
            </a:endParaRPr>
          </a:p>
        </p:txBody>
      </p:sp>
      <p:sp>
        <p:nvSpPr>
          <p:cNvPr id="3" name="Rectangle 2"/>
          <p:cNvSpPr/>
          <p:nvPr/>
        </p:nvSpPr>
        <p:spPr>
          <a:xfrm>
            <a:off x="854707" y="2159547"/>
            <a:ext cx="2811667" cy="369332"/>
          </a:xfrm>
          <a:prstGeom prst="rect">
            <a:avLst/>
          </a:prstGeom>
        </p:spPr>
        <p:txBody>
          <a:bodyPr wrap="none">
            <a:spAutoFit/>
          </a:bodyPr>
          <a:lstStyle/>
          <a:p>
            <a:r>
              <a:rPr lang="zh-CN" altLang="en-US" dirty="0">
                <a:latin typeface="+mn-ea"/>
              </a:rPr>
              <a:t>修改</a:t>
            </a:r>
            <a:r>
              <a:rPr lang="en-US" altLang="zh-CN" dirty="0">
                <a:latin typeface="+mn-ea"/>
              </a:rPr>
              <a:t>antecedent</a:t>
            </a:r>
            <a:r>
              <a:rPr lang="zh-CN" altLang="en-US" dirty="0">
                <a:latin typeface="+mn-ea"/>
              </a:rPr>
              <a:t>数据类型</a:t>
            </a:r>
          </a:p>
        </p:txBody>
      </p:sp>
      <p:pic>
        <p:nvPicPr>
          <p:cNvPr id="16386" name="图片 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3334778"/>
            <a:ext cx="7825210" cy="225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3.4.2 </a:t>
            </a:r>
            <a:r>
              <a:rPr lang="zh-CN" altLang="en-US" dirty="0">
                <a:latin typeface="+mn-ea"/>
                <a:ea typeface="+mn-ea"/>
              </a:rPr>
              <a:t>基于零售交易数据的</a:t>
            </a:r>
            <a:r>
              <a:rPr lang="en-US" altLang="zh-CN" dirty="0">
                <a:latin typeface="+mn-ea"/>
                <a:ea typeface="+mn-ea"/>
              </a:rPr>
              <a:t>Spark</a:t>
            </a:r>
            <a:r>
              <a:rPr lang="zh-CN" altLang="en-US" dirty="0">
                <a:latin typeface="+mn-ea"/>
                <a:ea typeface="+mn-ea"/>
              </a:rPr>
              <a:t>数据处理与分析</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latin typeface="+mn-ea"/>
              </a:rPr>
              <a:t>48</a:t>
            </a:fld>
            <a:endParaRPr lang="zh-CN" altLang="en-US">
              <a:latin typeface="+mn-ea"/>
            </a:endParaRPr>
          </a:p>
        </p:txBody>
      </p:sp>
      <p:sp>
        <p:nvSpPr>
          <p:cNvPr id="17" name="文本框 16"/>
          <p:cNvSpPr txBox="1"/>
          <p:nvPr/>
        </p:nvSpPr>
        <p:spPr>
          <a:xfrm>
            <a:off x="854707" y="2175085"/>
            <a:ext cx="10080000" cy="1156855"/>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rules2.write.format('</a:t>
            </a:r>
            <a:r>
              <a:rPr lang="en-US" altLang="zh-CN" sz="1600" dirty="0" err="1">
                <a:latin typeface="+mn-ea"/>
              </a:rPr>
              <a:t>jdbc</a:t>
            </a:r>
            <a:r>
              <a:rPr lang="en-US" altLang="zh-CN" sz="1600" dirty="0">
                <a:latin typeface="+mn-ea"/>
              </a:rPr>
              <a:t>').options(</a:t>
            </a:r>
            <a:r>
              <a:rPr lang="en-US" altLang="zh-CN" sz="1600" dirty="0" err="1">
                <a:latin typeface="+mn-ea"/>
              </a:rPr>
              <a:t>url</a:t>
            </a:r>
            <a:r>
              <a:rPr lang="en-US" altLang="zh-CN" sz="1600" dirty="0">
                <a:latin typeface="+mn-ea"/>
              </a:rPr>
              <a:t>='</a:t>
            </a:r>
            <a:r>
              <a:rPr lang="en-US" altLang="zh-CN" sz="1600" dirty="0" err="1">
                <a:latin typeface="+mn-ea"/>
              </a:rPr>
              <a:t>jdbc:mysql</a:t>
            </a:r>
            <a:r>
              <a:rPr lang="en-US" altLang="zh-CN" sz="1600" dirty="0">
                <a:latin typeface="+mn-ea"/>
              </a:rPr>
              <a:t>://localhost:3306/</a:t>
            </a:r>
            <a:r>
              <a:rPr lang="en-US" altLang="zh-CN" sz="1600" dirty="0" err="1">
                <a:latin typeface="+mn-ea"/>
              </a:rPr>
              <a:t>supermarket?useUnicode</a:t>
            </a:r>
            <a:r>
              <a:rPr lang="en-US" altLang="zh-CN" sz="1600" dirty="0">
                <a:latin typeface="+mn-ea"/>
              </a:rPr>
              <a:t>=</a:t>
            </a:r>
            <a:r>
              <a:rPr lang="en-US" altLang="zh-CN" sz="1600" dirty="0" err="1">
                <a:latin typeface="+mn-ea"/>
              </a:rPr>
              <a:t>true&amp;characterEncoding</a:t>
            </a:r>
            <a:r>
              <a:rPr lang="en-US" altLang="zh-CN" sz="1600" dirty="0">
                <a:latin typeface="+mn-ea"/>
              </a:rPr>
              <a:t>=utf8', </a:t>
            </a:r>
            <a:r>
              <a:rPr lang="en-US" altLang="zh-CN" sz="1600" dirty="0" err="1">
                <a:latin typeface="+mn-ea"/>
              </a:rPr>
              <a:t>useSSL</a:t>
            </a:r>
            <a:r>
              <a:rPr lang="en-US" altLang="zh-CN" sz="1600" dirty="0">
                <a:latin typeface="+mn-ea"/>
              </a:rPr>
              <a:t>="</a:t>
            </a:r>
            <a:r>
              <a:rPr lang="en-US" altLang="zh-CN" sz="1600" dirty="0" err="1">
                <a:latin typeface="+mn-ea"/>
              </a:rPr>
              <a:t>false",driver</a:t>
            </a:r>
            <a:r>
              <a:rPr lang="en-US" altLang="zh-CN" sz="1600" dirty="0">
                <a:latin typeface="+mn-ea"/>
              </a:rPr>
              <a:t>='</a:t>
            </a:r>
            <a:r>
              <a:rPr lang="en-US" altLang="zh-CN" sz="1600" dirty="0" err="1">
                <a:latin typeface="+mn-ea"/>
              </a:rPr>
              <a:t>com.mysql.jdbc.Driver</a:t>
            </a:r>
            <a:r>
              <a:rPr lang="en-US" altLang="zh-CN" sz="1600" dirty="0">
                <a:latin typeface="+mn-ea"/>
              </a:rPr>
              <a:t>', </a:t>
            </a:r>
            <a:r>
              <a:rPr lang="en-US" altLang="zh-CN" sz="1600" dirty="0" err="1">
                <a:latin typeface="+mn-ea"/>
              </a:rPr>
              <a:t>dbtable</a:t>
            </a:r>
            <a:r>
              <a:rPr lang="en-US" altLang="zh-CN" sz="1600" dirty="0">
                <a:latin typeface="+mn-ea"/>
              </a:rPr>
              <a:t>='rules', user='root', password='123456').mode('append').save()</a:t>
            </a:r>
            <a:endParaRPr lang="zh-CN" altLang="zh-CN" sz="1600" dirty="0">
              <a:latin typeface="+mn-ea"/>
            </a:endParaRPr>
          </a:p>
        </p:txBody>
      </p:sp>
      <p:sp>
        <p:nvSpPr>
          <p:cNvPr id="15"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16"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9"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将数据保存到该数据库中</a:t>
            </a:r>
            <a:endParaRPr lang="en-US" altLang="zh-CN" sz="1800" dirty="0">
              <a:latin typeface="+mn-ea"/>
              <a:ea typeface="+mn-ea"/>
            </a:endParaRPr>
          </a:p>
        </p:txBody>
      </p:sp>
      <p:pic>
        <p:nvPicPr>
          <p:cNvPr id="19458" name="图片 1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3561105"/>
            <a:ext cx="10058166" cy="123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3.4.2 </a:t>
            </a:r>
            <a:r>
              <a:rPr lang="zh-CN" altLang="en-US" dirty="0">
                <a:latin typeface="+mn-ea"/>
              </a:rPr>
              <a:t>基于零售交易数据的</a:t>
            </a:r>
            <a:r>
              <a:rPr lang="en-US" altLang="zh-CN" dirty="0">
                <a:latin typeface="+mn-ea"/>
              </a:rPr>
              <a:t>Spark</a:t>
            </a:r>
            <a:r>
              <a:rPr lang="zh-CN" altLang="en-US" dirty="0">
                <a:latin typeface="+mn-ea"/>
              </a:rPr>
              <a:t>数据处理与分析</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49</a:t>
            </a:fld>
            <a:endParaRPr lang="zh-CN" altLang="en-US"/>
          </a:p>
        </p:txBody>
      </p:sp>
      <p:sp>
        <p:nvSpPr>
          <p:cNvPr id="8"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10"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将数据保存到该数据库中</a:t>
            </a:r>
            <a:endParaRPr lang="en-US" altLang="zh-CN" sz="1800" dirty="0">
              <a:latin typeface="+mn-ea"/>
              <a:ea typeface="+mn-ea"/>
            </a:endParaRPr>
          </a:p>
        </p:txBody>
      </p:sp>
      <p:sp>
        <p:nvSpPr>
          <p:cNvPr id="11" name="Rectangle 10"/>
          <p:cNvSpPr/>
          <p:nvPr/>
        </p:nvSpPr>
        <p:spPr>
          <a:xfrm>
            <a:off x="854707" y="2060996"/>
            <a:ext cx="6684202" cy="369332"/>
          </a:xfrm>
          <a:prstGeom prst="rect">
            <a:avLst/>
          </a:prstGeom>
        </p:spPr>
        <p:txBody>
          <a:bodyPr wrap="none">
            <a:spAutoFit/>
          </a:bodyPr>
          <a:lstStyle/>
          <a:p>
            <a:r>
              <a:rPr lang="zh-CN" altLang="zh-CN" dirty="0"/>
              <a:t>使用</a:t>
            </a:r>
            <a:r>
              <a:rPr lang="en-US" altLang="zh-CN" dirty="0"/>
              <a:t>supermarket</a:t>
            </a:r>
            <a:r>
              <a:rPr lang="zh-CN" altLang="zh-CN" dirty="0"/>
              <a:t>数据库，显示该数据库中的表名，存在</a:t>
            </a:r>
            <a:r>
              <a:rPr lang="en-US" altLang="zh-CN" dirty="0"/>
              <a:t>rules</a:t>
            </a:r>
            <a:r>
              <a:rPr lang="zh-CN" altLang="zh-CN" dirty="0"/>
              <a:t>表。</a:t>
            </a:r>
            <a:endParaRPr lang="zh-CN" altLang="en-US" dirty="0">
              <a:latin typeface="+mn-ea"/>
            </a:endParaRPr>
          </a:p>
        </p:txBody>
      </p:sp>
      <p:sp>
        <p:nvSpPr>
          <p:cNvPr id="12" name="文本框 16"/>
          <p:cNvSpPr txBox="1"/>
          <p:nvPr/>
        </p:nvSpPr>
        <p:spPr>
          <a:xfrm>
            <a:off x="854707" y="2546376"/>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use supermarket;</a:t>
            </a:r>
          </a:p>
          <a:p>
            <a:pPr>
              <a:lnSpc>
                <a:spcPct val="150000"/>
              </a:lnSpc>
            </a:pPr>
            <a:r>
              <a:rPr lang="en-US" altLang="zh-CN" sz="1600" dirty="0">
                <a:latin typeface="+mn-ea"/>
              </a:rPr>
              <a:t>show tables;</a:t>
            </a:r>
            <a:endParaRPr lang="zh-CN" altLang="zh-CN" sz="1600" dirty="0">
              <a:latin typeface="+mn-ea"/>
            </a:endParaRPr>
          </a:p>
        </p:txBody>
      </p:sp>
      <p:pic>
        <p:nvPicPr>
          <p:cNvPr id="20482" name="图片 1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3493421"/>
            <a:ext cx="6523555" cy="125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图片 1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707" y="4867622"/>
            <a:ext cx="6340734" cy="167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3.4.2 </a:t>
            </a:r>
            <a:r>
              <a:rPr lang="zh-CN" altLang="en-US" dirty="0">
                <a:latin typeface="+mn-ea"/>
              </a:rPr>
              <a:t>基于零售交易数据的</a:t>
            </a:r>
            <a:r>
              <a:rPr lang="en-US" altLang="zh-CN" dirty="0">
                <a:latin typeface="+mn-ea"/>
              </a:rPr>
              <a:t>Spark</a:t>
            </a:r>
            <a:r>
              <a:rPr lang="zh-CN" altLang="en-US" dirty="0">
                <a:latin typeface="+mn-ea"/>
              </a:rPr>
              <a:t>数据处理与分析</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50</a:t>
            </a:fld>
            <a:endParaRPr lang="zh-CN" altLang="en-US"/>
          </a:p>
        </p:txBody>
      </p:sp>
      <p:sp>
        <p:nvSpPr>
          <p:cNvPr id="5" name="Rectangle 4"/>
          <p:cNvSpPr/>
          <p:nvPr/>
        </p:nvSpPr>
        <p:spPr>
          <a:xfrm>
            <a:off x="854707" y="2040997"/>
            <a:ext cx="2491388" cy="369332"/>
          </a:xfrm>
          <a:prstGeom prst="rect">
            <a:avLst/>
          </a:prstGeom>
        </p:spPr>
        <p:txBody>
          <a:bodyPr wrap="none">
            <a:spAutoFit/>
          </a:bodyPr>
          <a:lstStyle/>
          <a:p>
            <a:r>
              <a:rPr lang="zh-CN" altLang="zh-CN" dirty="0"/>
              <a:t>显示</a:t>
            </a:r>
            <a:r>
              <a:rPr lang="en-US" altLang="zh-CN" dirty="0"/>
              <a:t>rules</a:t>
            </a:r>
            <a:r>
              <a:rPr lang="zh-CN" altLang="zh-CN" dirty="0"/>
              <a:t>表的具体内容</a:t>
            </a:r>
            <a:endParaRPr lang="zh-CN" altLang="en-US" dirty="0"/>
          </a:p>
        </p:txBody>
      </p:sp>
      <p:sp>
        <p:nvSpPr>
          <p:cNvPr id="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8"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将数据保存到该数据库中</a:t>
            </a:r>
            <a:endParaRPr lang="en-US" altLang="zh-CN" sz="1800" dirty="0">
              <a:latin typeface="+mn-ea"/>
              <a:ea typeface="+mn-ea"/>
            </a:endParaRPr>
          </a:p>
        </p:txBody>
      </p:sp>
      <p:sp>
        <p:nvSpPr>
          <p:cNvPr id="9" name="文本框 16"/>
          <p:cNvSpPr txBox="1"/>
          <p:nvPr/>
        </p:nvSpPr>
        <p:spPr>
          <a:xfrm>
            <a:off x="854707" y="2546376"/>
            <a:ext cx="10080000" cy="418191"/>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 from rules;</a:t>
            </a:r>
            <a:endParaRPr lang="zh-CN" altLang="zh-CN" sz="1600" dirty="0">
              <a:latin typeface="+mn-ea"/>
            </a:endParaRPr>
          </a:p>
        </p:txBody>
      </p:sp>
      <p:pic>
        <p:nvPicPr>
          <p:cNvPr id="21506" name="图片 1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1601" y="2225663"/>
            <a:ext cx="6097450" cy="428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3.4.2 </a:t>
            </a:r>
            <a:r>
              <a:rPr lang="zh-CN" altLang="en-US" dirty="0">
                <a:latin typeface="+mn-ea"/>
              </a:rPr>
              <a:t>基于零售交易数据的</a:t>
            </a:r>
            <a:r>
              <a:rPr lang="en-US" altLang="zh-CN" dirty="0">
                <a:latin typeface="+mn-ea"/>
              </a:rPr>
              <a:t>Spark</a:t>
            </a:r>
            <a:r>
              <a:rPr lang="zh-CN" altLang="en-US" dirty="0">
                <a:latin typeface="+mn-ea"/>
              </a:rPr>
              <a:t>数据处理与分析</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51</a:t>
            </a:fld>
            <a:endParaRPr lang="zh-CN" altLang="en-US"/>
          </a:p>
        </p:txBody>
      </p:sp>
      <p:sp>
        <p:nvSpPr>
          <p:cNvPr id="5" name="Rectangle 4"/>
          <p:cNvSpPr/>
          <p:nvPr/>
        </p:nvSpPr>
        <p:spPr>
          <a:xfrm>
            <a:off x="854707" y="2040997"/>
            <a:ext cx="3748142" cy="369332"/>
          </a:xfrm>
          <a:prstGeom prst="rect">
            <a:avLst/>
          </a:prstGeom>
        </p:spPr>
        <p:txBody>
          <a:bodyPr wrap="none">
            <a:spAutoFit/>
          </a:bodyPr>
          <a:lstStyle/>
          <a:p>
            <a:r>
              <a:rPr lang="zh-CN" altLang="zh-CN" dirty="0"/>
              <a:t>查询保存路径</a:t>
            </a:r>
            <a:r>
              <a:rPr lang="zh-CN" altLang="en-US" dirty="0"/>
              <a:t>。查询</a:t>
            </a:r>
            <a:r>
              <a:rPr lang="en-US" altLang="zh-CN" dirty="0" err="1"/>
              <a:t>sercure</a:t>
            </a:r>
            <a:r>
              <a:rPr lang="en-US" altLang="zh-CN" dirty="0"/>
              <a:t>-file-</a:t>
            </a:r>
            <a:r>
              <a:rPr lang="en-US" altLang="zh-CN" dirty="0" err="1"/>
              <a:t>priv</a:t>
            </a:r>
            <a:endParaRPr lang="zh-CN" altLang="en-US" dirty="0"/>
          </a:p>
        </p:txBody>
      </p:sp>
      <p:sp>
        <p:nvSpPr>
          <p:cNvPr id="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8"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en-US" sz="1800" dirty="0">
                <a:latin typeface="+mn-ea"/>
                <a:ea typeface="+mn-ea"/>
              </a:rPr>
              <a:t>将关联关系保存为</a:t>
            </a:r>
            <a:r>
              <a:rPr lang="en-US" altLang="zh-CN" sz="1800" dirty="0">
                <a:latin typeface="+mn-ea"/>
                <a:ea typeface="+mn-ea"/>
              </a:rPr>
              <a:t>csv</a:t>
            </a:r>
          </a:p>
        </p:txBody>
      </p:sp>
      <p:sp>
        <p:nvSpPr>
          <p:cNvPr id="9" name="文本框 16"/>
          <p:cNvSpPr txBox="1"/>
          <p:nvPr/>
        </p:nvSpPr>
        <p:spPr>
          <a:xfrm>
            <a:off x="854707" y="2546376"/>
            <a:ext cx="10080000" cy="338554"/>
          </a:xfrm>
          <a:prstGeom prst="rect">
            <a:avLst/>
          </a:prstGeom>
          <a:solidFill>
            <a:schemeClr val="accent3">
              <a:lumMod val="20000"/>
              <a:lumOff val="80000"/>
            </a:schemeClr>
          </a:solidFill>
        </p:spPr>
        <p:txBody>
          <a:bodyPr wrap="square" rtlCol="0">
            <a:spAutoFit/>
          </a:bodyPr>
          <a:lstStyle/>
          <a:p>
            <a:r>
              <a:rPr lang="en-US" altLang="zh-CN" sz="1600" dirty="0">
                <a:latin typeface="+mn-ea"/>
              </a:rPr>
              <a:t>show variables like "</a:t>
            </a:r>
            <a:r>
              <a:rPr lang="en-US" altLang="zh-CN" sz="1600" dirty="0" err="1">
                <a:latin typeface="+mn-ea"/>
              </a:rPr>
              <a:t>secure_file_priv</a:t>
            </a:r>
            <a:r>
              <a:rPr lang="en-US" altLang="zh-CN" sz="1600" dirty="0">
                <a:latin typeface="+mn-ea"/>
              </a:rPr>
              <a:t>";</a:t>
            </a:r>
            <a:endParaRPr lang="zh-CN" altLang="zh-CN" sz="1600" dirty="0">
              <a:latin typeface="+mn-ea"/>
            </a:endParaRPr>
          </a:p>
        </p:txBody>
      </p:sp>
      <p:pic>
        <p:nvPicPr>
          <p:cNvPr id="22530" name="图片 1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3106094"/>
            <a:ext cx="10169328" cy="2238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rPr>
              <a:t>3.4.2 </a:t>
            </a:r>
            <a:r>
              <a:rPr lang="zh-CN" altLang="en-US" dirty="0">
                <a:latin typeface="+mn-ea"/>
              </a:rPr>
              <a:t>基于零售交易数据的</a:t>
            </a:r>
            <a:r>
              <a:rPr lang="en-US" altLang="zh-CN" dirty="0">
                <a:latin typeface="+mn-ea"/>
              </a:rPr>
              <a:t>Spark</a:t>
            </a:r>
            <a:r>
              <a:rPr lang="zh-CN" altLang="en-US" dirty="0">
                <a:latin typeface="+mn-ea"/>
              </a:rPr>
              <a:t>数据处理与分析</a:t>
            </a:r>
            <a:endParaRPr lang="zh-CN" altLang="en-US"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52</a:t>
            </a:fld>
            <a:endParaRPr lang="zh-CN" altLang="en-US"/>
          </a:p>
        </p:txBody>
      </p:sp>
      <p:sp>
        <p:nvSpPr>
          <p:cNvPr id="6"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latin typeface="+mn-ea"/>
                <a:ea typeface="+mn-ea"/>
              </a:rPr>
              <a:t>4. </a:t>
            </a:r>
            <a:r>
              <a:rPr lang="zh-CN" altLang="en-US" sz="1800" b="1" dirty="0">
                <a:latin typeface="+mn-ea"/>
                <a:ea typeface="+mn-ea"/>
              </a:rPr>
              <a:t>将结果保存至</a:t>
            </a:r>
            <a:r>
              <a:rPr lang="en-US" altLang="zh-CN" sz="1800" b="1" dirty="0">
                <a:latin typeface="+mn-ea"/>
                <a:ea typeface="+mn-ea"/>
              </a:rPr>
              <a:t>MySQL</a:t>
            </a:r>
          </a:p>
        </p:txBody>
      </p:sp>
      <p:sp>
        <p:nvSpPr>
          <p:cNvPr id="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8"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en-US" sz="1800" dirty="0">
                <a:latin typeface="+mn-ea"/>
                <a:ea typeface="+mn-ea"/>
              </a:rPr>
              <a:t>将关联关系保存为</a:t>
            </a:r>
            <a:r>
              <a:rPr lang="en-US" altLang="zh-CN" sz="1800" dirty="0">
                <a:latin typeface="+mn-ea"/>
                <a:ea typeface="+mn-ea"/>
              </a:rPr>
              <a:t>csv</a:t>
            </a:r>
          </a:p>
        </p:txBody>
      </p:sp>
      <p:sp>
        <p:nvSpPr>
          <p:cNvPr id="9" name="文本框 16"/>
          <p:cNvSpPr txBox="1"/>
          <p:nvPr/>
        </p:nvSpPr>
        <p:spPr>
          <a:xfrm>
            <a:off x="854707" y="2060996"/>
            <a:ext cx="10080000" cy="1200329"/>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a:latin typeface="+mn-ea"/>
              </a:rPr>
              <a:t>select * from (select '</a:t>
            </a:r>
            <a:r>
              <a:rPr lang="en-US" altLang="zh-CN" sz="1600" dirty="0" err="1">
                <a:latin typeface="+mn-ea"/>
              </a:rPr>
              <a:t>antecedent','consequent','confidence','lift</a:t>
            </a:r>
            <a:r>
              <a:rPr lang="en-US" altLang="zh-CN" sz="1600" dirty="0">
                <a:latin typeface="+mn-ea"/>
              </a:rPr>
              <a:t>' union all select antecedent, consequent, confidence, lift from rules)b into </a:t>
            </a:r>
            <a:r>
              <a:rPr lang="en-US" altLang="zh-CN" sz="1600" dirty="0" err="1">
                <a:latin typeface="+mn-ea"/>
              </a:rPr>
              <a:t>outfile</a:t>
            </a:r>
            <a:r>
              <a:rPr lang="en-US" altLang="zh-CN" sz="1600" dirty="0">
                <a:latin typeface="+mn-ea"/>
              </a:rPr>
              <a:t> '/var/lib/</a:t>
            </a:r>
            <a:r>
              <a:rPr lang="en-US" altLang="zh-CN" sz="1600" dirty="0" err="1">
                <a:latin typeface="+mn-ea"/>
              </a:rPr>
              <a:t>mysql</a:t>
            </a:r>
            <a:r>
              <a:rPr lang="en-US" altLang="zh-CN" sz="1600" dirty="0">
                <a:latin typeface="+mn-ea"/>
              </a:rPr>
              <a:t>-files/rules.csv' fields terminated by ',' lines terminated by '\n';</a:t>
            </a:r>
            <a:endParaRPr lang="zh-CN" altLang="zh-CN" sz="1600" dirty="0">
              <a:latin typeface="+mn-ea"/>
            </a:endParaRPr>
          </a:p>
        </p:txBody>
      </p:sp>
      <p:sp>
        <p:nvSpPr>
          <p:cNvPr id="11" name="内容占位符 2"/>
          <p:cNvSpPr txBox="1"/>
          <p:nvPr/>
        </p:nvSpPr>
        <p:spPr>
          <a:xfrm>
            <a:off x="855343" y="4533886"/>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将文件复制至</a:t>
            </a:r>
            <a:r>
              <a:rPr lang="en-US" altLang="zh-CN" sz="1800" dirty="0"/>
              <a:t>data</a:t>
            </a:r>
            <a:r>
              <a:rPr lang="zh-CN" altLang="zh-CN" sz="1800" dirty="0"/>
              <a:t>文件夹</a:t>
            </a:r>
            <a:r>
              <a:rPr lang="zh-CN" altLang="en-US" sz="1800" dirty="0"/>
              <a:t>，并</a:t>
            </a:r>
            <a:r>
              <a:rPr lang="zh-CN" altLang="zh-CN" sz="1800" dirty="0"/>
              <a:t>修改文件权限。</a:t>
            </a:r>
            <a:endParaRPr lang="zh-CN" altLang="zh-CN" sz="1800" dirty="0">
              <a:latin typeface="+mn-ea"/>
            </a:endParaRPr>
          </a:p>
        </p:txBody>
      </p:sp>
      <p:sp>
        <p:nvSpPr>
          <p:cNvPr id="12" name="文本框 16"/>
          <p:cNvSpPr txBox="1"/>
          <p:nvPr/>
        </p:nvSpPr>
        <p:spPr>
          <a:xfrm>
            <a:off x="855343" y="5122323"/>
            <a:ext cx="10080000" cy="830997"/>
          </a:xfrm>
          <a:prstGeom prst="rect">
            <a:avLst/>
          </a:prstGeom>
          <a:solidFill>
            <a:schemeClr val="accent3">
              <a:lumMod val="20000"/>
              <a:lumOff val="80000"/>
            </a:schemeClr>
          </a:solidFill>
        </p:spPr>
        <p:txBody>
          <a:bodyPr wrap="square" rtlCol="0">
            <a:spAutoFit/>
          </a:bodyPr>
          <a:lstStyle/>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cp</a:t>
            </a:r>
            <a:r>
              <a:rPr lang="en-US" altLang="zh-CN" sz="1600" dirty="0">
                <a:latin typeface="+mn-ea"/>
              </a:rPr>
              <a:t> /</a:t>
            </a:r>
            <a:r>
              <a:rPr lang="en-US" altLang="zh-CN" sz="1600" dirty="0" err="1">
                <a:latin typeface="+mn-ea"/>
              </a:rPr>
              <a:t>var</a:t>
            </a:r>
            <a:r>
              <a:rPr lang="en-US" altLang="zh-CN" sz="1600" dirty="0">
                <a:latin typeface="+mn-ea"/>
              </a:rPr>
              <a:t>/lib/</a:t>
            </a:r>
            <a:r>
              <a:rPr lang="en-US" altLang="zh-CN" sz="1600" dirty="0" err="1">
                <a:latin typeface="+mn-ea"/>
              </a:rPr>
              <a:t>mysql</a:t>
            </a:r>
            <a:r>
              <a:rPr lang="en-US" altLang="zh-CN" sz="1600" dirty="0">
                <a:latin typeface="+mn-ea"/>
              </a:rPr>
              <a:t>-files/rules.csv /home/</a:t>
            </a:r>
            <a:r>
              <a:rPr lang="en-US" altLang="zh-CN" sz="1600" dirty="0" err="1">
                <a:latin typeface="+mn-ea"/>
              </a:rPr>
              <a:t>hadoop</a:t>
            </a:r>
            <a:r>
              <a:rPr lang="en-US" altLang="zh-CN" sz="1600" dirty="0">
                <a:latin typeface="+mn-ea"/>
              </a:rPr>
              <a:t>/data/</a:t>
            </a:r>
          </a:p>
          <a:p>
            <a:pPr>
              <a:lnSpc>
                <a:spcPct val="150000"/>
              </a:lnSpc>
            </a:pPr>
            <a:r>
              <a:rPr lang="en-US" altLang="zh-CN" sz="1600" dirty="0" err="1">
                <a:latin typeface="+mn-ea"/>
              </a:rPr>
              <a:t>sudo</a:t>
            </a:r>
            <a:r>
              <a:rPr lang="en-US" altLang="zh-CN" sz="1600" dirty="0">
                <a:latin typeface="+mn-ea"/>
              </a:rPr>
              <a:t> </a:t>
            </a:r>
            <a:r>
              <a:rPr lang="en-US" altLang="zh-CN" sz="1600" dirty="0" err="1">
                <a:latin typeface="+mn-ea"/>
              </a:rPr>
              <a:t>chown</a:t>
            </a:r>
            <a:r>
              <a:rPr lang="en-US" altLang="zh-CN" sz="1600" dirty="0">
                <a:latin typeface="+mn-ea"/>
              </a:rPr>
              <a:t> 777 /home/</a:t>
            </a:r>
            <a:r>
              <a:rPr lang="en-US" altLang="zh-CN" sz="1600" dirty="0" err="1">
                <a:latin typeface="+mn-ea"/>
              </a:rPr>
              <a:t>hadoop</a:t>
            </a:r>
            <a:r>
              <a:rPr lang="en-US" altLang="zh-CN" sz="1600" dirty="0">
                <a:latin typeface="+mn-ea"/>
              </a:rPr>
              <a:t>/data/rules.csv</a:t>
            </a:r>
            <a:endParaRPr lang="zh-CN" altLang="zh-CN" sz="1600" dirty="0">
              <a:latin typeface="+mn-ea"/>
            </a:endParaRPr>
          </a:p>
        </p:txBody>
      </p:sp>
      <p:pic>
        <p:nvPicPr>
          <p:cNvPr id="1026" name="Picture 2" descr="3642daab8d9e4e5900a5388b6b7f5c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707" y="3468843"/>
            <a:ext cx="10107848" cy="8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53</a:t>
            </a:fld>
            <a:endParaRPr lang="zh-CN" altLang="en-US"/>
          </a:p>
        </p:txBody>
      </p:sp>
      <p:sp>
        <p:nvSpPr>
          <p:cNvPr id="4" name="内容占位符 2"/>
          <p:cNvSpPr txBox="1"/>
          <p:nvPr/>
        </p:nvSpPr>
        <p:spPr>
          <a:xfrm>
            <a:off x="855343" y="971810"/>
            <a:ext cx="10368455" cy="47037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zh-CN" altLang="zh-CN" sz="1800" dirty="0"/>
              <a:t>本次案例使用</a:t>
            </a:r>
            <a:r>
              <a:rPr lang="zh-CN" altLang="zh-CN" sz="1800" b="1" dirty="0"/>
              <a:t>饼图、柱状图、</a:t>
            </a:r>
            <a:r>
              <a:rPr lang="zh-CN" altLang="en-US" sz="1800" b="1" dirty="0"/>
              <a:t>气泡图</a:t>
            </a:r>
            <a:r>
              <a:rPr lang="zh-CN" altLang="zh-CN" sz="1800" b="1" dirty="0"/>
              <a:t>和关系图</a:t>
            </a:r>
            <a:r>
              <a:rPr lang="zh-CN" altLang="zh-CN" sz="1800" dirty="0"/>
              <a:t>来对数据进行展示。</a:t>
            </a:r>
            <a:endParaRPr lang="en-US" altLang="zh-CN" sz="1800" dirty="0"/>
          </a:p>
          <a:p>
            <a:pPr>
              <a:lnSpc>
                <a:spcPct val="200000"/>
              </a:lnSpc>
            </a:pPr>
            <a:r>
              <a:rPr lang="zh-CN" altLang="zh-CN" sz="1800" dirty="0"/>
              <a:t>使用两个饼图分别展示超市各类产品的购买量与大类为饮料（</a:t>
            </a:r>
            <a:r>
              <a:rPr lang="en-US" altLang="zh-CN" sz="1800" dirty="0"/>
              <a:t>DRINK</a:t>
            </a:r>
            <a:r>
              <a:rPr lang="zh-CN" altLang="zh-CN" sz="1800" dirty="0"/>
              <a:t>）下的各个子类的购买量</a:t>
            </a:r>
            <a:endParaRPr lang="en-US" altLang="zh-CN" sz="1800" dirty="0"/>
          </a:p>
          <a:p>
            <a:pPr>
              <a:lnSpc>
                <a:spcPct val="200000"/>
              </a:lnSpc>
            </a:pPr>
            <a:r>
              <a:rPr lang="zh-CN" altLang="zh-CN" sz="1800" dirty="0"/>
              <a:t>使用柱状图来展示男女会员在各个类下的购买量</a:t>
            </a:r>
            <a:endParaRPr lang="en-US" altLang="zh-CN" sz="1800" dirty="0"/>
          </a:p>
          <a:p>
            <a:pPr>
              <a:lnSpc>
                <a:spcPct val="200000"/>
              </a:lnSpc>
            </a:pPr>
            <a:r>
              <a:rPr lang="zh-CN" altLang="zh-CN" sz="1800" dirty="0"/>
              <a:t>使用</a:t>
            </a:r>
            <a:r>
              <a:rPr lang="zh-CN" altLang="en-US" sz="1800" dirty="0"/>
              <a:t>气泡图</a:t>
            </a:r>
            <a:r>
              <a:rPr lang="zh-CN" altLang="zh-CN" sz="1800" dirty="0"/>
              <a:t>来展示土耳其各个省的会员个数</a:t>
            </a:r>
            <a:endParaRPr lang="en-US" altLang="zh-CN" sz="1800" dirty="0"/>
          </a:p>
          <a:p>
            <a:pPr>
              <a:lnSpc>
                <a:spcPct val="200000"/>
              </a:lnSpc>
            </a:pPr>
            <a:r>
              <a:rPr lang="zh-CN" altLang="zh-CN" sz="1800" dirty="0"/>
              <a:t>使用关系图来展示超市商品之间的关联性</a:t>
            </a: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54</a:t>
            </a:fld>
            <a:endParaRPr lang="zh-CN" altLang="en-US"/>
          </a:p>
        </p:txBody>
      </p:sp>
      <p:pic>
        <p:nvPicPr>
          <p:cNvPr id="4" name="Picture 3"/>
          <p:cNvPicPr>
            <a:picLocks noChangeAspect="1"/>
          </p:cNvPicPr>
          <p:nvPr/>
        </p:nvPicPr>
        <p:blipFill>
          <a:blip r:embed="rId3"/>
          <a:stretch>
            <a:fillRect/>
          </a:stretch>
        </p:blipFill>
        <p:spPr>
          <a:xfrm>
            <a:off x="4937430" y="1050315"/>
            <a:ext cx="4325009" cy="5446670"/>
          </a:xfrm>
          <a:prstGeom prst="rect">
            <a:avLst/>
          </a:prstGeom>
          <a:ln>
            <a:solidFill>
              <a:schemeClr val="accent1"/>
            </a:solidFill>
          </a:ln>
        </p:spPr>
      </p:pic>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1.</a:t>
            </a:r>
            <a:r>
              <a:rPr lang="zh-CN" altLang="en-US" sz="1800" b="1" dirty="0"/>
              <a:t>可视化程序架构</a:t>
            </a: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内容占位符 2"/>
          <p:cNvSpPr txBox="1"/>
          <p:nvPr/>
        </p:nvSpPr>
        <p:spPr>
          <a:xfrm>
            <a:off x="855343" y="1570355"/>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整体可视化程序结构如图。</a:t>
            </a:r>
            <a:endParaRPr lang="zh-CN" altLang="en-US" sz="12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55</a:t>
            </a:fld>
            <a:endParaRPr lang="zh-CN" altLang="en-US"/>
          </a:p>
        </p:txBody>
      </p:sp>
      <p:sp>
        <p:nvSpPr>
          <p:cNvPr id="6" name="内容占位符 2"/>
          <p:cNvSpPr txBox="1"/>
          <p:nvPr/>
        </p:nvSpPr>
        <p:spPr>
          <a:xfrm>
            <a:off x="762194" y="1370737"/>
            <a:ext cx="7749657" cy="33513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en-US" altLang="zh-CN" sz="1500" b="1" dirty="0" err="1"/>
              <a:t>src</a:t>
            </a:r>
            <a:r>
              <a:rPr lang="zh-CN" altLang="zh-CN" sz="1500" b="1" dirty="0"/>
              <a:t>目录</a:t>
            </a:r>
            <a:r>
              <a:rPr lang="zh-CN" altLang="zh-CN" sz="1500" dirty="0"/>
              <a:t>用来存放服务端</a:t>
            </a:r>
            <a:r>
              <a:rPr lang="en-US" altLang="zh-CN" sz="1500" dirty="0"/>
              <a:t>Java</a:t>
            </a:r>
            <a:r>
              <a:rPr lang="zh-CN" altLang="zh-CN" sz="1500" dirty="0"/>
              <a:t>代码</a:t>
            </a:r>
            <a:r>
              <a:rPr lang="en-US" altLang="zh-CN" sz="1500" dirty="0"/>
              <a:t>connDb.java</a:t>
            </a:r>
            <a:r>
              <a:rPr lang="zh-CN" altLang="zh-CN" sz="1500" dirty="0"/>
              <a:t>，该代码实现</a:t>
            </a:r>
            <a:r>
              <a:rPr lang="en-US" altLang="zh-CN" sz="1500" dirty="0"/>
              <a:t>web</a:t>
            </a:r>
            <a:r>
              <a:rPr lang="zh-CN" altLang="zh-CN" sz="1500" dirty="0"/>
              <a:t>界面与</a:t>
            </a:r>
            <a:r>
              <a:rPr lang="en-US" altLang="zh-CN" sz="1500" dirty="0"/>
              <a:t>MySQL</a:t>
            </a:r>
            <a:r>
              <a:rPr lang="zh-CN" altLang="zh-CN" sz="1500" dirty="0"/>
              <a:t>数据库的连接，并为每个页面提供数据；</a:t>
            </a:r>
            <a:endParaRPr lang="en-US" altLang="zh-CN" sz="1500" dirty="0"/>
          </a:p>
          <a:p>
            <a:pPr>
              <a:lnSpc>
                <a:spcPct val="125000"/>
              </a:lnSpc>
            </a:pPr>
            <a:r>
              <a:rPr lang="en-US" altLang="zh-CN" sz="1500" b="1" dirty="0" err="1"/>
              <a:t>WebContent</a:t>
            </a:r>
            <a:r>
              <a:rPr lang="zh-CN" altLang="zh-CN" sz="1500" dirty="0"/>
              <a:t>用来存放前端页面的文件资源与代码，这里一共包含五个</a:t>
            </a:r>
            <a:r>
              <a:rPr lang="en-US" altLang="zh-CN" sz="1500" dirty="0" err="1"/>
              <a:t>jsp</a:t>
            </a:r>
            <a:r>
              <a:rPr lang="zh-CN" altLang="zh-CN" sz="1500" dirty="0"/>
              <a:t>文件，为五个页面；</a:t>
            </a:r>
            <a:endParaRPr lang="en-US" altLang="zh-CN" sz="1500" dirty="0"/>
          </a:p>
          <a:p>
            <a:pPr>
              <a:lnSpc>
                <a:spcPct val="125000"/>
              </a:lnSpc>
            </a:pPr>
            <a:r>
              <a:rPr lang="en-US" altLang="zh-CN" sz="1500" b="1" dirty="0" err="1"/>
              <a:t>css</a:t>
            </a:r>
            <a:r>
              <a:rPr lang="zh-CN" altLang="zh-CN" sz="1500" dirty="0"/>
              <a:t>目录用来存放外部样式表文件；</a:t>
            </a:r>
            <a:endParaRPr lang="en-US" altLang="zh-CN" sz="1500" dirty="0"/>
          </a:p>
          <a:p>
            <a:pPr>
              <a:lnSpc>
                <a:spcPct val="125000"/>
              </a:lnSpc>
            </a:pPr>
            <a:r>
              <a:rPr lang="en-US" altLang="zh-CN" sz="1500" b="1" dirty="0" err="1"/>
              <a:t>js</a:t>
            </a:r>
            <a:r>
              <a:rPr lang="zh-CN" altLang="zh-CN" sz="1500" dirty="0"/>
              <a:t>目录存放</a:t>
            </a:r>
            <a:r>
              <a:rPr lang="en-US" altLang="zh-CN" sz="1500" dirty="0"/>
              <a:t>JavaScript</a:t>
            </a:r>
            <a:r>
              <a:rPr lang="zh-CN" altLang="zh-CN" sz="1500" dirty="0"/>
              <a:t>文件，包含整体页面的颜色分布，如</a:t>
            </a:r>
            <a:r>
              <a:rPr lang="en-US" altLang="zh-CN" sz="1500" dirty="0"/>
              <a:t>style</a:t>
            </a:r>
            <a:r>
              <a:rPr lang="zh-CN" altLang="zh-CN" sz="1500" dirty="0"/>
              <a:t>文件</a:t>
            </a:r>
            <a:r>
              <a:rPr lang="en-US" altLang="zh-CN" sz="1500" dirty="0"/>
              <a:t>macarons.js</a:t>
            </a:r>
            <a:r>
              <a:rPr lang="zh-CN" altLang="zh-CN" sz="1500" dirty="0"/>
              <a:t>等，以及</a:t>
            </a:r>
            <a:r>
              <a:rPr lang="en-US" altLang="zh-CN" sz="1500" dirty="0" err="1"/>
              <a:t>echarts</a:t>
            </a:r>
            <a:r>
              <a:rPr lang="zh-CN" altLang="zh-CN" sz="1500" dirty="0"/>
              <a:t>的样式</a:t>
            </a:r>
            <a:endParaRPr lang="en-US" altLang="zh-CN" sz="1500" dirty="0"/>
          </a:p>
          <a:p>
            <a:pPr>
              <a:lnSpc>
                <a:spcPct val="125000"/>
              </a:lnSpc>
            </a:pPr>
            <a:r>
              <a:rPr lang="en-US" altLang="zh-CN" sz="1500" b="1" dirty="0"/>
              <a:t>lib</a:t>
            </a:r>
            <a:r>
              <a:rPr lang="zh-CN" altLang="zh-CN" sz="1500" dirty="0"/>
              <a:t>目录存放</a:t>
            </a:r>
            <a:r>
              <a:rPr lang="en-US" altLang="zh-CN" sz="1500" dirty="0"/>
              <a:t>Java</a:t>
            </a:r>
            <a:r>
              <a:rPr lang="zh-CN" altLang="zh-CN" sz="1500" dirty="0"/>
              <a:t>与</a:t>
            </a:r>
            <a:r>
              <a:rPr lang="en-US" altLang="zh-CN" sz="1500" dirty="0"/>
              <a:t>MySQL</a:t>
            </a:r>
            <a:r>
              <a:rPr lang="zh-CN" altLang="zh-CN" sz="1500" dirty="0"/>
              <a:t>的连接库。</a:t>
            </a:r>
            <a:endParaRPr lang="zh-CN" altLang="en-US" sz="1500" dirty="0"/>
          </a:p>
        </p:txBody>
      </p:sp>
      <p:pic>
        <p:nvPicPr>
          <p:cNvPr id="7" name="Picture 6"/>
          <p:cNvPicPr>
            <a:picLocks noChangeAspect="1"/>
          </p:cNvPicPr>
          <p:nvPr/>
        </p:nvPicPr>
        <p:blipFill>
          <a:blip r:embed="rId3"/>
          <a:srcRect r="23138"/>
          <a:stretch>
            <a:fillRect/>
          </a:stretch>
        </p:blipFill>
        <p:spPr>
          <a:xfrm>
            <a:off x="1296109" y="4328707"/>
            <a:ext cx="3161687" cy="2294335"/>
          </a:xfrm>
          <a:prstGeom prst="rect">
            <a:avLst/>
          </a:prstGeom>
          <a:ln>
            <a:solidFill>
              <a:schemeClr val="accent1"/>
            </a:solidFill>
          </a:ln>
        </p:spPr>
      </p:pic>
      <p:pic>
        <p:nvPicPr>
          <p:cNvPr id="8" name="Picture 7"/>
          <p:cNvPicPr>
            <a:picLocks noChangeAspect="1"/>
          </p:cNvPicPr>
          <p:nvPr/>
        </p:nvPicPr>
        <p:blipFill rotWithShape="1">
          <a:blip r:embed="rId4"/>
          <a:srcRect r="14366" b="20612"/>
          <a:stretch/>
        </p:blipFill>
        <p:spPr>
          <a:xfrm>
            <a:off x="8783597" y="2516432"/>
            <a:ext cx="2602730" cy="4106610"/>
          </a:xfrm>
          <a:prstGeom prst="rect">
            <a:avLst/>
          </a:prstGeom>
          <a:ln>
            <a:solidFill>
              <a:schemeClr val="accent1"/>
            </a:solidFill>
          </a:ln>
        </p:spPr>
      </p:pic>
      <p:pic>
        <p:nvPicPr>
          <p:cNvPr id="9" name="Picture 8"/>
          <p:cNvPicPr>
            <a:picLocks noChangeAspect="1"/>
          </p:cNvPicPr>
          <p:nvPr/>
        </p:nvPicPr>
        <p:blipFill>
          <a:blip r:embed="rId5"/>
          <a:stretch>
            <a:fillRect/>
          </a:stretch>
        </p:blipFill>
        <p:spPr>
          <a:xfrm>
            <a:off x="4865196" y="3877656"/>
            <a:ext cx="3511001" cy="2745386"/>
          </a:xfrm>
          <a:prstGeom prst="rect">
            <a:avLst/>
          </a:prstGeom>
          <a:ln>
            <a:solidFill>
              <a:schemeClr val="accent1"/>
            </a:solidFill>
          </a:ln>
        </p:spPr>
      </p:pic>
      <p:sp>
        <p:nvSpPr>
          <p:cNvPr id="12"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1.</a:t>
            </a:r>
            <a:r>
              <a:rPr lang="zh-CN" altLang="en-US" sz="1800" b="1" dirty="0"/>
              <a:t>可视化程序架构</a:t>
            </a:r>
          </a:p>
        </p:txBody>
      </p:sp>
      <p:sp>
        <p:nvSpPr>
          <p:cNvPr id="13"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56</a:t>
            </a:fld>
            <a:endParaRPr lang="zh-CN" altLang="en-US"/>
          </a:p>
        </p:txBody>
      </p:sp>
      <p:sp>
        <p:nvSpPr>
          <p:cNvPr id="4"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5343" y="1570355"/>
            <a:ext cx="10368455" cy="44993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5</a:t>
            </a:r>
            <a:r>
              <a:rPr lang="zh-CN" altLang="zh-CN" sz="2000" dirty="0"/>
              <a:t>个独立页面</a:t>
            </a:r>
            <a:endParaRPr lang="en-US" altLang="zh-CN" sz="2000" dirty="0"/>
          </a:p>
          <a:p>
            <a:pPr lvl="1">
              <a:lnSpc>
                <a:spcPct val="150000"/>
              </a:lnSpc>
            </a:pPr>
            <a:r>
              <a:rPr lang="zh-CN" altLang="zh-CN" sz="1600" dirty="0"/>
              <a:t>页面</a:t>
            </a:r>
            <a:r>
              <a:rPr lang="en-US" altLang="zh-CN" sz="1600" dirty="0"/>
              <a:t>1</a:t>
            </a:r>
            <a:r>
              <a:rPr lang="zh-CN" altLang="zh-CN" sz="1600" dirty="0"/>
              <a:t>为超市所有商品成交量对比饼图</a:t>
            </a:r>
            <a:endParaRPr lang="en-US" altLang="zh-CN" sz="1600" dirty="0"/>
          </a:p>
          <a:p>
            <a:pPr lvl="1">
              <a:lnSpc>
                <a:spcPct val="150000"/>
              </a:lnSpc>
            </a:pPr>
            <a:r>
              <a:rPr lang="zh-CN" altLang="zh-CN" sz="1600" dirty="0"/>
              <a:t>页面</a:t>
            </a:r>
            <a:r>
              <a:rPr lang="en-US" altLang="zh-CN" sz="1600" dirty="0"/>
              <a:t>2</a:t>
            </a:r>
            <a:r>
              <a:rPr lang="zh-CN" altLang="zh-CN" sz="1600" dirty="0"/>
              <a:t>为饮品成交量对比饼图</a:t>
            </a:r>
            <a:endParaRPr lang="en-US" altLang="zh-CN" sz="1600" dirty="0"/>
          </a:p>
          <a:p>
            <a:pPr lvl="1">
              <a:lnSpc>
                <a:spcPct val="150000"/>
              </a:lnSpc>
            </a:pPr>
            <a:r>
              <a:rPr lang="zh-CN" altLang="zh-CN" sz="1600" dirty="0"/>
              <a:t>页面</a:t>
            </a:r>
            <a:r>
              <a:rPr lang="en-US" altLang="zh-CN" sz="1600" dirty="0"/>
              <a:t>3</a:t>
            </a:r>
            <a:r>
              <a:rPr lang="zh-CN" altLang="zh-CN" sz="1600" dirty="0"/>
              <a:t>为各省会员人数</a:t>
            </a:r>
            <a:r>
              <a:rPr lang="zh-CN" altLang="en-US" sz="1600" dirty="0"/>
              <a:t>气泡图</a:t>
            </a:r>
            <a:endParaRPr lang="en-US" altLang="zh-CN" sz="1600" dirty="0"/>
          </a:p>
          <a:p>
            <a:pPr lvl="1">
              <a:lnSpc>
                <a:spcPct val="150000"/>
              </a:lnSpc>
            </a:pPr>
            <a:r>
              <a:rPr lang="zh-CN" altLang="zh-CN" sz="1600" dirty="0"/>
              <a:t>页面</a:t>
            </a:r>
            <a:r>
              <a:rPr lang="en-US" altLang="zh-CN" sz="1600" dirty="0"/>
              <a:t>4</a:t>
            </a:r>
            <a:r>
              <a:rPr lang="zh-CN" altLang="zh-CN" sz="1600" dirty="0"/>
              <a:t>为男女购买商品对比的柱状图</a:t>
            </a:r>
            <a:endParaRPr lang="en-US" altLang="zh-CN" sz="1600" dirty="0"/>
          </a:p>
          <a:p>
            <a:pPr lvl="1">
              <a:lnSpc>
                <a:spcPct val="150000"/>
              </a:lnSpc>
            </a:pPr>
            <a:r>
              <a:rPr lang="zh-CN" altLang="zh-CN" sz="1600" dirty="0"/>
              <a:t>页面</a:t>
            </a:r>
            <a:r>
              <a:rPr lang="en-US" altLang="zh-CN" sz="1600" dirty="0"/>
              <a:t>5</a:t>
            </a:r>
            <a:r>
              <a:rPr lang="zh-CN" altLang="zh-CN" sz="1600" dirty="0"/>
              <a:t>为商品购买关系的关系图</a:t>
            </a:r>
          </a:p>
          <a:p>
            <a:pPr>
              <a:lnSpc>
                <a:spcPct val="150000"/>
              </a:lnSpc>
            </a:pPr>
            <a:r>
              <a:rPr lang="zh-CN" altLang="zh-CN" sz="2000" dirty="0"/>
              <a:t>页面结构</a:t>
            </a:r>
            <a:endParaRPr lang="en-US" altLang="zh-CN" sz="2000" dirty="0"/>
          </a:p>
          <a:p>
            <a:pPr lvl="1">
              <a:lnSpc>
                <a:spcPct val="150000"/>
              </a:lnSpc>
            </a:pPr>
            <a:r>
              <a:rPr lang="zh-CN" altLang="zh-CN" sz="1600" dirty="0"/>
              <a:t>固定布局，均包含顶部的标题栏、左侧索引栏、主体部分的标题以及可视化图形。</a:t>
            </a:r>
            <a:endParaRPr lang="en-US" altLang="zh-CN" sz="16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57</a:t>
            </a:fld>
            <a:endParaRPr lang="zh-CN" altLang="en-US"/>
          </a:p>
        </p:txBody>
      </p:sp>
      <p:sp>
        <p:nvSpPr>
          <p:cNvPr id="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6"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en-US" sz="1800" dirty="0">
                <a:latin typeface="+mn-ea"/>
                <a:ea typeface="+mn-ea"/>
              </a:rPr>
              <a:t>页面设计及布局</a:t>
            </a:r>
            <a:endParaRPr lang="en-US" altLang="zh-CN" sz="1800" dirty="0">
              <a:latin typeface="+mn-ea"/>
              <a:ea typeface="+mn-ea"/>
            </a:endParaRPr>
          </a:p>
        </p:txBody>
      </p:sp>
      <p:sp>
        <p:nvSpPr>
          <p:cNvPr id="7" name="Rectangle 6"/>
          <p:cNvSpPr/>
          <p:nvPr/>
        </p:nvSpPr>
        <p:spPr>
          <a:xfrm>
            <a:off x="912493" y="2060996"/>
            <a:ext cx="10080000"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kern="100" dirty="0">
                <a:latin typeface="+mn-ea"/>
              </a:rPr>
              <a:t>Web</a:t>
            </a:r>
            <a:r>
              <a:rPr lang="zh-CN" altLang="zh-CN" kern="100" dirty="0">
                <a:latin typeface="+mn-ea"/>
                <a:cs typeface="Times New Roman" panose="02020603050405020304" pitchFamily="18" charset="0"/>
              </a:rPr>
              <a:t>页面的设计在</a:t>
            </a:r>
            <a:r>
              <a:rPr lang="en-US" altLang="zh-CN" kern="100" dirty="0" err="1">
                <a:latin typeface="+mn-ea"/>
              </a:rPr>
              <a:t>index.jsp</a:t>
            </a:r>
            <a:r>
              <a:rPr lang="zh-CN" altLang="zh-CN" kern="100" dirty="0">
                <a:latin typeface="+mn-ea"/>
                <a:cs typeface="Times New Roman" panose="02020603050405020304" pitchFamily="18" charset="0"/>
              </a:rPr>
              <a:t>文档中</a:t>
            </a:r>
            <a:endParaRPr lang="en-US" altLang="zh-CN" kern="100" dirty="0">
              <a:latin typeface="+mn-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kern="100" dirty="0">
                <a:latin typeface="+mn-ea"/>
                <a:cs typeface="Times New Roman" panose="02020603050405020304" pitchFamily="18" charset="0"/>
              </a:rPr>
              <a:t>页面布局</a:t>
            </a:r>
            <a:endParaRPr lang="en-US" altLang="zh-CN" kern="100" dirty="0">
              <a:latin typeface="+mn-ea"/>
              <a:cs typeface="Times New Roman" panose="02020603050405020304" pitchFamily="18" charset="0"/>
            </a:endParaRPr>
          </a:p>
          <a:p>
            <a:pPr marL="1200150" lvl="2" indent="-285750">
              <a:lnSpc>
                <a:spcPct val="150000"/>
              </a:lnSpc>
              <a:buFont typeface="Arial" panose="020B0604020202020204" pitchFamily="34" charset="0"/>
              <a:buChar char="•"/>
            </a:pPr>
            <a:r>
              <a:rPr lang="zh-CN" altLang="zh-CN" kern="100" dirty="0">
                <a:latin typeface="+mn-ea"/>
                <a:cs typeface="Times New Roman" panose="02020603050405020304" pitchFamily="18" charset="0"/>
              </a:rPr>
              <a:t>布局文档</a:t>
            </a:r>
            <a:r>
              <a:rPr lang="en-US" altLang="zh-CN" kern="100" dirty="0">
                <a:latin typeface="+mn-ea"/>
              </a:rPr>
              <a:t>style.css</a:t>
            </a:r>
            <a:r>
              <a:rPr lang="zh-CN" altLang="zh-CN" kern="100" dirty="0">
                <a:latin typeface="+mn-ea"/>
                <a:cs typeface="Times New Roman" panose="02020603050405020304" pitchFamily="18" charset="0"/>
              </a:rPr>
              <a:t>存储在</a:t>
            </a:r>
            <a:r>
              <a:rPr lang="en-US" altLang="zh-CN" kern="100" dirty="0" err="1">
                <a:latin typeface="+mn-ea"/>
              </a:rPr>
              <a:t>WebContent</a:t>
            </a:r>
            <a:r>
              <a:rPr lang="zh-CN" altLang="zh-CN" kern="100" dirty="0">
                <a:latin typeface="+mn-ea"/>
                <a:cs typeface="Times New Roman" panose="02020603050405020304" pitchFamily="18" charset="0"/>
              </a:rPr>
              <a:t>文件夹下</a:t>
            </a:r>
            <a:r>
              <a:rPr lang="en-US" altLang="zh-CN" kern="100" dirty="0" err="1">
                <a:latin typeface="+mn-ea"/>
              </a:rPr>
              <a:t>css</a:t>
            </a:r>
            <a:r>
              <a:rPr lang="zh-CN" altLang="zh-CN" kern="100" dirty="0">
                <a:latin typeface="+mn-ea"/>
                <a:cs typeface="Times New Roman" panose="02020603050405020304" pitchFamily="18" charset="0"/>
              </a:rPr>
              <a:t>文件夹下</a:t>
            </a:r>
            <a:endParaRPr lang="en-US" altLang="zh-CN" kern="100" dirty="0">
              <a:latin typeface="+mn-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kern="100" dirty="0">
                <a:latin typeface="+mn-ea"/>
                <a:cs typeface="Times New Roman" panose="02020603050405020304" pitchFamily="18" charset="0"/>
              </a:rPr>
              <a:t>主体结构配色</a:t>
            </a:r>
            <a:endParaRPr lang="en-US" altLang="zh-CN" kern="100" dirty="0">
              <a:latin typeface="+mn-ea"/>
              <a:cs typeface="Times New Roman" panose="02020603050405020304" pitchFamily="18" charset="0"/>
            </a:endParaRPr>
          </a:p>
          <a:p>
            <a:pPr marL="1200150" lvl="2" indent="-285750">
              <a:lnSpc>
                <a:spcPct val="150000"/>
              </a:lnSpc>
              <a:buFont typeface="Arial" panose="020B0604020202020204" pitchFamily="34" charset="0"/>
              <a:buChar char="•"/>
            </a:pPr>
            <a:r>
              <a:rPr lang="zh-CN" altLang="zh-CN" dirty="0"/>
              <a:t>使用页面布局的颜色</a:t>
            </a:r>
            <a:endParaRPr lang="en-US" altLang="zh-CN" dirty="0"/>
          </a:p>
          <a:p>
            <a:pPr marL="1200150" lvl="2" indent="-285750">
              <a:lnSpc>
                <a:spcPct val="150000"/>
              </a:lnSpc>
              <a:buFont typeface="Arial" panose="020B0604020202020204" pitchFamily="34" charset="0"/>
              <a:buChar char="•"/>
            </a:pPr>
            <a:r>
              <a:rPr lang="zh-CN" altLang="zh-CN" dirty="0"/>
              <a:t>引用</a:t>
            </a:r>
            <a:r>
              <a:rPr lang="en-US" altLang="zh-CN" dirty="0" err="1"/>
              <a:t>ECharts</a:t>
            </a:r>
            <a:r>
              <a:rPr lang="zh-CN" altLang="zh-CN" dirty="0"/>
              <a:t>中的配色</a:t>
            </a:r>
            <a:endParaRPr lang="en-US" altLang="zh-CN" kern="100" dirty="0">
              <a:latin typeface="+mn-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kern="100" dirty="0">
                <a:latin typeface="+mn-ea"/>
                <a:cs typeface="Times New Roman" panose="02020603050405020304" pitchFamily="18" charset="0"/>
              </a:rPr>
              <a:t>页面所需的数据</a:t>
            </a:r>
            <a:endParaRPr lang="zh-CN" altLang="en-US" dirty="0">
              <a:latin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58</a:t>
            </a:fld>
            <a:endParaRPr lang="zh-CN" altLang="en-US"/>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pic>
        <p:nvPicPr>
          <p:cNvPr id="7" name="Picture 6"/>
          <p:cNvPicPr>
            <a:picLocks noChangeAspect="1"/>
          </p:cNvPicPr>
          <p:nvPr/>
        </p:nvPicPr>
        <p:blipFill rotWithShape="1">
          <a:blip r:embed="rId3"/>
          <a:srcRect t="10505"/>
          <a:stretch/>
        </p:blipFill>
        <p:spPr>
          <a:xfrm>
            <a:off x="855342" y="2652671"/>
            <a:ext cx="7153541" cy="1724239"/>
          </a:xfrm>
          <a:prstGeom prst="rect">
            <a:avLst/>
          </a:prstGeom>
          <a:ln>
            <a:solidFill>
              <a:schemeClr val="accent1"/>
            </a:solidFill>
          </a:ln>
        </p:spPr>
      </p:pic>
      <p:pic>
        <p:nvPicPr>
          <p:cNvPr id="8" name="Picture 7"/>
          <p:cNvPicPr>
            <a:picLocks noChangeAspect="1"/>
          </p:cNvPicPr>
          <p:nvPr/>
        </p:nvPicPr>
        <p:blipFill>
          <a:blip r:embed="rId4"/>
          <a:stretch>
            <a:fillRect/>
          </a:stretch>
        </p:blipFill>
        <p:spPr>
          <a:xfrm>
            <a:off x="855342" y="4642488"/>
            <a:ext cx="4567996" cy="1806080"/>
          </a:xfrm>
          <a:prstGeom prst="rect">
            <a:avLst/>
          </a:prstGeom>
          <a:ln>
            <a:solidFill>
              <a:schemeClr val="accent1"/>
            </a:solidFill>
          </a:ln>
        </p:spPr>
      </p:pic>
      <p:pic>
        <p:nvPicPr>
          <p:cNvPr id="9" name="Picture 8"/>
          <p:cNvPicPr>
            <a:picLocks noChangeAspect="1"/>
          </p:cNvPicPr>
          <p:nvPr/>
        </p:nvPicPr>
        <p:blipFill>
          <a:blip r:embed="rId5"/>
          <a:stretch>
            <a:fillRect/>
          </a:stretch>
        </p:blipFill>
        <p:spPr>
          <a:xfrm>
            <a:off x="6062371" y="4642488"/>
            <a:ext cx="5114423" cy="1806080"/>
          </a:xfrm>
          <a:prstGeom prst="rect">
            <a:avLst/>
          </a:prstGeom>
          <a:ln>
            <a:solidFill>
              <a:schemeClr val="accent1"/>
            </a:solidFill>
          </a:ln>
        </p:spPr>
      </p:pic>
      <p:sp>
        <p:nvSpPr>
          <p:cNvPr id="10" name="Rounded Rectangle 9"/>
          <p:cNvSpPr/>
          <p:nvPr/>
        </p:nvSpPr>
        <p:spPr>
          <a:xfrm>
            <a:off x="6038935" y="3282526"/>
            <a:ext cx="1418896" cy="4354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颜色及格式</a:t>
            </a:r>
          </a:p>
        </p:txBody>
      </p:sp>
      <p:sp>
        <p:nvSpPr>
          <p:cNvPr id="11" name="Rounded Rectangle 10"/>
          <p:cNvSpPr/>
          <p:nvPr/>
        </p:nvSpPr>
        <p:spPr>
          <a:xfrm>
            <a:off x="3689131" y="5983574"/>
            <a:ext cx="1110226" cy="3354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侧边栏</a:t>
            </a:r>
          </a:p>
        </p:txBody>
      </p:sp>
      <p:sp>
        <p:nvSpPr>
          <p:cNvPr id="12" name="Rounded Rectangle 11"/>
          <p:cNvSpPr/>
          <p:nvPr/>
        </p:nvSpPr>
        <p:spPr>
          <a:xfrm>
            <a:off x="9959651" y="5854066"/>
            <a:ext cx="717275" cy="4649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主体</a:t>
            </a:r>
          </a:p>
        </p:txBody>
      </p:sp>
      <p:sp>
        <p:nvSpPr>
          <p:cNvPr id="16"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7"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4708" y="2060996"/>
            <a:ext cx="10368455" cy="380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zh-CN" sz="1800" dirty="0"/>
              <a:t>页面的颜色和格式、页面侧边栏以及页面主体</a:t>
            </a:r>
            <a:endParaRPr lang="zh-CN" altLang="en-US" sz="1200" dirty="0"/>
          </a:p>
        </p:txBody>
      </p:sp>
      <p:sp>
        <p:nvSpPr>
          <p:cNvPr id="15"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en-US" sz="1800" dirty="0">
                <a:latin typeface="+mn-ea"/>
                <a:ea typeface="+mn-ea"/>
              </a:rPr>
              <a:t>页面设计及布局</a:t>
            </a:r>
            <a:endParaRPr lang="en-US" altLang="zh-CN" sz="18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repeatCount="200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7"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59</a:t>
            </a:fld>
            <a:endParaRPr lang="zh-CN" altLang="en-US"/>
          </a:p>
        </p:txBody>
      </p:sp>
      <p:pic>
        <p:nvPicPr>
          <p:cNvPr id="4098" name="Picture 5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013" y="2132393"/>
            <a:ext cx="6393021" cy="440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6"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7"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1) </a:t>
            </a:r>
            <a:r>
              <a:rPr lang="zh-CN" altLang="en-US" sz="1800" dirty="0">
                <a:latin typeface="+mn-ea"/>
                <a:ea typeface="+mn-ea"/>
              </a:rPr>
              <a:t>页面设计及布局</a:t>
            </a:r>
            <a:endParaRPr lang="en-US" altLang="zh-CN" sz="1800" dirty="0">
              <a:latin typeface="+mn-ea"/>
              <a:ea typeface="+mn-ea"/>
            </a:endParaRPr>
          </a:p>
        </p:txBody>
      </p:sp>
      <p:sp>
        <p:nvSpPr>
          <p:cNvPr id="8" name="Rectangle 7"/>
          <p:cNvSpPr/>
          <p:nvPr/>
        </p:nvSpPr>
        <p:spPr>
          <a:xfrm>
            <a:off x="854707" y="2040997"/>
            <a:ext cx="10080000" cy="369332"/>
          </a:xfrm>
          <a:prstGeom prst="rect">
            <a:avLst/>
          </a:prstGeom>
        </p:spPr>
        <p:txBody>
          <a:bodyPr wrap="none">
            <a:spAutoFit/>
          </a:bodyPr>
          <a:lstStyle/>
          <a:p>
            <a:r>
              <a:rPr lang="zh-CN" altLang="en-US" dirty="0"/>
              <a:t>页面效果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60</a:t>
            </a:fld>
            <a:endParaRPr lang="zh-CN" altLang="en-US"/>
          </a:p>
        </p:txBody>
      </p:sp>
      <p:sp>
        <p:nvSpPr>
          <p:cNvPr id="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6" name="内容占位符 2"/>
          <p:cNvSpPr>
            <a:spLocks noGrp="1"/>
          </p:cNvSpPr>
          <p:nvPr/>
        </p:nvSpPr>
        <p:spPr>
          <a:xfrm>
            <a:off x="854708" y="1555617"/>
            <a:ext cx="10080000" cy="3702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8" name="内容占位符 2"/>
          <p:cNvSpPr>
            <a:spLocks noGrp="1"/>
          </p:cNvSpPr>
          <p:nvPr/>
        </p:nvSpPr>
        <p:spPr>
          <a:xfrm>
            <a:off x="854708" y="2123388"/>
            <a:ext cx="10080000" cy="1471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zh-CN" sz="1800" dirty="0"/>
              <a:t>各页面的数据由</a:t>
            </a:r>
            <a:r>
              <a:rPr lang="en-US" altLang="zh-CN" sz="1800" dirty="0"/>
              <a:t>connDb.java</a:t>
            </a:r>
            <a:r>
              <a:rPr lang="zh-CN" altLang="zh-CN" sz="1800" dirty="0"/>
              <a:t>和</a:t>
            </a:r>
            <a:r>
              <a:rPr lang="en-US" altLang="zh-CN" sz="1800" dirty="0" err="1"/>
              <a:t>index.jsp</a:t>
            </a:r>
            <a:r>
              <a:rPr lang="zh-CN" altLang="zh-CN" sz="1800" dirty="0"/>
              <a:t>两个文件来合作获取</a:t>
            </a:r>
            <a:endParaRPr lang="en-US" altLang="zh-CN" sz="1800" dirty="0"/>
          </a:p>
          <a:p>
            <a:pPr lvl="1">
              <a:lnSpc>
                <a:spcPct val="150000"/>
              </a:lnSpc>
            </a:pPr>
            <a:r>
              <a:rPr lang="en-US" altLang="zh-CN" sz="1800" dirty="0"/>
              <a:t>connDb.java</a:t>
            </a:r>
            <a:r>
              <a:rPr lang="zh-CN" altLang="zh-CN" sz="1800" dirty="0"/>
              <a:t>用于连接数据库并得到页面数据</a:t>
            </a:r>
            <a:endParaRPr lang="en-US" altLang="zh-CN" sz="1800" dirty="0"/>
          </a:p>
          <a:p>
            <a:pPr lvl="1">
              <a:lnSpc>
                <a:spcPct val="150000"/>
              </a:lnSpc>
            </a:pPr>
            <a:r>
              <a:rPr lang="en-US" altLang="zh-CN" sz="1800" dirty="0" err="1"/>
              <a:t>index.jsp</a:t>
            </a:r>
            <a:r>
              <a:rPr lang="zh-CN" altLang="zh-CN" sz="1800" dirty="0"/>
              <a:t>用于关联</a:t>
            </a:r>
            <a:r>
              <a:rPr lang="en-US" altLang="zh-CN" sz="1800" dirty="0"/>
              <a:t>connDb.java</a:t>
            </a:r>
            <a:r>
              <a:rPr lang="zh-CN" altLang="zh-CN" sz="1800" dirty="0"/>
              <a:t>使每个页面取到所需数据。</a:t>
            </a:r>
            <a:endParaRPr lang="en-US" altLang="zh-CN" sz="1800" dirty="0">
              <a:latin typeface="+mn-ea"/>
              <a:ea typeface="+mn-ea"/>
            </a:endParaRPr>
          </a:p>
        </p:txBody>
      </p:sp>
      <p:pic>
        <p:nvPicPr>
          <p:cNvPr id="5122" name="Picture 5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3792052"/>
            <a:ext cx="10240027" cy="120561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10" name="内容占位符 2"/>
          <p:cNvSpPr>
            <a:spLocks noGrp="1"/>
          </p:cNvSpPr>
          <p:nvPr/>
        </p:nvSpPr>
        <p:spPr>
          <a:xfrm>
            <a:off x="934721" y="5250197"/>
            <a:ext cx="10080000" cy="5672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zh-CN" sz="1800" dirty="0"/>
              <a:t>实现了当前页面与</a:t>
            </a:r>
            <a:r>
              <a:rPr lang="en-US" altLang="zh-CN" sz="1800" dirty="0"/>
              <a:t>connDb.java</a:t>
            </a:r>
            <a:r>
              <a:rPr lang="zh-CN" altLang="zh-CN" sz="1800" dirty="0"/>
              <a:t>中的哪一个</a:t>
            </a:r>
            <a:r>
              <a:rPr lang="en-US" altLang="zh-CN" sz="1800" dirty="0"/>
              <a:t>index</a:t>
            </a:r>
            <a:r>
              <a:rPr lang="zh-CN" altLang="zh-CN" sz="1800" dirty="0"/>
              <a:t>是相关联的</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61</a:t>
            </a:fld>
            <a:endParaRPr lang="zh-CN" altLang="en-US"/>
          </a:p>
        </p:txBody>
      </p:sp>
      <p:sp>
        <p:nvSpPr>
          <p:cNvPr id="4" name="内容占位符 2"/>
          <p:cNvSpPr>
            <a:spLocks noGrp="1"/>
          </p:cNvSpPr>
          <p:nvPr/>
        </p:nvSpPr>
        <p:spPr>
          <a:xfrm>
            <a:off x="854709"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cs typeface="+mn-cs"/>
            </a:endParaRPr>
          </a:p>
        </p:txBody>
      </p:sp>
      <p:sp>
        <p:nvSpPr>
          <p:cNvPr id="6"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7"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en-US" sz="1800" dirty="0"/>
              <a:t>连接数据库</a:t>
            </a:r>
            <a:endParaRPr lang="en-US" altLang="zh-CN" sz="1400" dirty="0">
              <a:latin typeface="+mn-ea"/>
              <a:ea typeface="+mn-ea"/>
            </a:endParaRPr>
          </a:p>
        </p:txBody>
      </p:sp>
      <p:sp>
        <p:nvSpPr>
          <p:cNvPr id="8" name="内容占位符 2"/>
          <p:cNvSpPr>
            <a:spLocks noGrp="1"/>
          </p:cNvSpPr>
          <p:nvPr/>
        </p:nvSpPr>
        <p:spPr>
          <a:xfrm>
            <a:off x="854708" y="2617858"/>
            <a:ext cx="10259982" cy="8663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altLang="zh-CN" sz="1800" dirty="0"/>
              <a:t>connDb.java</a:t>
            </a:r>
            <a:r>
              <a:rPr lang="zh-CN" altLang="zh-CN" sz="1800" dirty="0"/>
              <a:t>存放在</a:t>
            </a:r>
            <a:r>
              <a:rPr lang="en-US" altLang="zh-CN" sz="1800" dirty="0" err="1"/>
              <a:t>src</a:t>
            </a:r>
            <a:r>
              <a:rPr lang="zh-CN" altLang="zh-CN" sz="1800" dirty="0"/>
              <a:t>文件夹下，用于实现前端</a:t>
            </a:r>
            <a:r>
              <a:rPr lang="en-US" altLang="zh-CN" sz="1800" dirty="0"/>
              <a:t>Web</a:t>
            </a:r>
            <a:r>
              <a:rPr lang="zh-CN" altLang="zh-CN" sz="1800" dirty="0"/>
              <a:t>界面与</a:t>
            </a:r>
            <a:r>
              <a:rPr lang="en-US" altLang="zh-CN" sz="1800" dirty="0"/>
              <a:t>MySQL</a:t>
            </a:r>
            <a:r>
              <a:rPr lang="zh-CN" altLang="zh-CN" sz="1800" dirty="0"/>
              <a:t>数据库的连接</a:t>
            </a:r>
            <a:endParaRPr lang="en-US" altLang="zh-CN" sz="1800" dirty="0"/>
          </a:p>
          <a:p>
            <a:pPr marL="0" indent="0">
              <a:lnSpc>
                <a:spcPct val="114000"/>
              </a:lnSpc>
              <a:buNone/>
            </a:pPr>
            <a:r>
              <a:rPr lang="zh-CN" altLang="en-US" sz="1800" dirty="0"/>
              <a:t>首先</a:t>
            </a:r>
            <a:r>
              <a:rPr lang="zh-CN" altLang="zh-CN" sz="1800" dirty="0"/>
              <a:t>连接</a:t>
            </a:r>
            <a:r>
              <a:rPr lang="en-US" altLang="zh-CN" sz="1800" dirty="0"/>
              <a:t>MySQL</a:t>
            </a:r>
            <a:r>
              <a:rPr lang="zh-CN" altLang="zh-CN" sz="1800" dirty="0"/>
              <a:t>的数据库</a:t>
            </a:r>
            <a:r>
              <a:rPr lang="en-US" altLang="zh-CN" sz="1800" dirty="0"/>
              <a:t>supermarket</a:t>
            </a:r>
            <a:r>
              <a:rPr lang="zh-CN" altLang="zh-CN" sz="1800" dirty="0"/>
              <a:t>，参数分别为</a:t>
            </a:r>
            <a:r>
              <a:rPr lang="en-US" altLang="zh-CN" sz="1800" dirty="0"/>
              <a:t>root</a:t>
            </a:r>
            <a:r>
              <a:rPr lang="zh-CN" altLang="zh-CN" sz="1800" dirty="0"/>
              <a:t>用户及登录密码</a:t>
            </a:r>
            <a:r>
              <a:rPr lang="en-US" altLang="zh-CN" sz="1800" dirty="0"/>
              <a:t>123456</a:t>
            </a:r>
            <a:r>
              <a:rPr lang="zh-CN" altLang="en-US" sz="1800" dirty="0"/>
              <a:t>。下图为配置截图</a:t>
            </a:r>
            <a:endParaRPr lang="en-US" altLang="zh-CN" sz="1800" dirty="0">
              <a:latin typeface="+mn-ea"/>
              <a:ea typeface="+mn-ea"/>
            </a:endParaRPr>
          </a:p>
        </p:txBody>
      </p:sp>
      <p:pic>
        <p:nvPicPr>
          <p:cNvPr id="614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7" y="3619300"/>
            <a:ext cx="7828213" cy="310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62</a:t>
            </a:fld>
            <a:endParaRPr lang="zh-CN" altLang="en-US"/>
          </a:p>
        </p:txBody>
      </p:sp>
      <p:sp>
        <p:nvSpPr>
          <p:cNvPr id="4"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5343" y="2617858"/>
            <a:ext cx="10445564" cy="373836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zh-CN" altLang="zh-CN" sz="1800" dirty="0"/>
              <a:t>首页展示的是超市各类商品的成交量对比</a:t>
            </a:r>
            <a:endParaRPr lang="en-US" altLang="zh-CN" sz="1800" dirty="0"/>
          </a:p>
          <a:p>
            <a:pPr>
              <a:lnSpc>
                <a:spcPct val="200000"/>
              </a:lnSpc>
            </a:pPr>
            <a:r>
              <a:rPr lang="zh-CN" altLang="zh-CN" sz="1800" dirty="0"/>
              <a:t>使用</a:t>
            </a:r>
            <a:r>
              <a:rPr lang="en-US" altLang="zh-CN" sz="1800" dirty="0"/>
              <a:t>index()</a:t>
            </a:r>
            <a:r>
              <a:rPr lang="zh-CN" altLang="zh-CN" sz="1800" dirty="0"/>
              <a:t>来代表首页，用查询语句</a:t>
            </a:r>
            <a:r>
              <a:rPr lang="en-US" altLang="zh-CN" sz="1800" dirty="0" err="1"/>
              <a:t>rs</a:t>
            </a:r>
            <a:r>
              <a:rPr lang="en-US" altLang="zh-CN" sz="1800" dirty="0"/>
              <a:t>=</a:t>
            </a:r>
            <a:r>
              <a:rPr lang="en-US" altLang="zh-CN" sz="1800" dirty="0" err="1"/>
              <a:t>stmt.executeQuery</a:t>
            </a:r>
            <a:r>
              <a:rPr lang="en-US" altLang="zh-CN" sz="1800" dirty="0"/>
              <a:t>(“select </a:t>
            </a:r>
            <a:r>
              <a:rPr lang="en-US" altLang="zh-CN" sz="1800" dirty="0" err="1"/>
              <a:t>category_I</a:t>
            </a:r>
            <a:r>
              <a:rPr lang="en-US" altLang="zh-CN" sz="1800" dirty="0"/>
              <a:t>, count(*) </a:t>
            </a:r>
            <a:r>
              <a:rPr lang="en-US" altLang="zh-CN" sz="1800" dirty="0" err="1"/>
              <a:t>num</a:t>
            </a:r>
            <a:r>
              <a:rPr lang="en-US" altLang="zh-CN" sz="1800" dirty="0"/>
              <a:t> from </a:t>
            </a:r>
            <a:r>
              <a:rPr lang="en-US" altLang="zh-CN" sz="1800" dirty="0" err="1"/>
              <a:t>user_log</a:t>
            </a:r>
            <a:r>
              <a:rPr lang="en-US" altLang="zh-CN" sz="1800" dirty="0"/>
              <a:t> group by </a:t>
            </a:r>
            <a:r>
              <a:rPr lang="en-US" altLang="zh-CN" sz="1800" dirty="0" err="1"/>
              <a:t>category_I</a:t>
            </a:r>
            <a:r>
              <a:rPr lang="en-US" altLang="zh-CN" sz="1800" dirty="0"/>
              <a:t>”)</a:t>
            </a:r>
            <a:r>
              <a:rPr lang="zh-CN" altLang="zh-CN" sz="1800" dirty="0"/>
              <a:t>实现数据库</a:t>
            </a:r>
            <a:r>
              <a:rPr lang="en-US" altLang="zh-CN" sz="1800" dirty="0"/>
              <a:t>supermarket</a:t>
            </a:r>
            <a:r>
              <a:rPr lang="zh-CN" altLang="zh-CN" sz="1800" dirty="0"/>
              <a:t>下表</a:t>
            </a:r>
            <a:r>
              <a:rPr lang="en-US" altLang="zh-CN" sz="1800" dirty="0" err="1"/>
              <a:t>user_log</a:t>
            </a:r>
            <a:r>
              <a:rPr lang="zh-CN" altLang="zh-CN" sz="1800" dirty="0"/>
              <a:t>的商品一级分类</a:t>
            </a:r>
            <a:r>
              <a:rPr lang="en-US" altLang="zh-CN" sz="1800" dirty="0" err="1"/>
              <a:t>category_I</a:t>
            </a:r>
            <a:r>
              <a:rPr lang="zh-CN" altLang="zh-CN" sz="1800" dirty="0"/>
              <a:t>的数量统计。</a:t>
            </a:r>
            <a:endParaRPr lang="en-US" altLang="zh-CN" sz="1800" dirty="0"/>
          </a:p>
          <a:p>
            <a:pPr>
              <a:lnSpc>
                <a:spcPct val="200000"/>
              </a:lnSpc>
            </a:pPr>
            <a:r>
              <a:rPr lang="zh-CN" altLang="zh-CN" sz="1800" dirty="0"/>
              <a:t>使用语句</a:t>
            </a:r>
            <a:r>
              <a:rPr lang="en-US" altLang="zh-CN" sz="1800" dirty="0" err="1"/>
              <a:t>System.out.println</a:t>
            </a:r>
            <a:r>
              <a:rPr lang="en-US" altLang="zh-CN" sz="1800" dirty="0"/>
              <a:t>(temp[0]+”:”+temp[1])</a:t>
            </a:r>
            <a:r>
              <a:rPr lang="zh-CN" altLang="zh-CN" sz="1800" dirty="0"/>
              <a:t>可以将所做的查询结果打印出来，便于查看所使用的的查询语句是否正确。</a:t>
            </a:r>
          </a:p>
        </p:txBody>
      </p:sp>
      <p:sp>
        <p:nvSpPr>
          <p:cNvPr id="10"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1"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页面</a:t>
            </a:r>
            <a:r>
              <a:rPr lang="en-US" altLang="zh-CN" sz="1800" dirty="0"/>
              <a:t>1</a:t>
            </a:r>
            <a:r>
              <a:rPr lang="zh-CN" altLang="zh-CN" sz="1800" dirty="0"/>
              <a:t>超市各类商品的成交量对比数据</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63</a:t>
            </a:fld>
            <a:endParaRPr lang="zh-CN" altLang="en-US"/>
          </a:p>
        </p:txBody>
      </p:sp>
      <p:sp>
        <p:nvSpPr>
          <p:cNvPr id="6" name="内容占位符 2"/>
          <p:cNvSpPr txBox="1"/>
          <p:nvPr/>
        </p:nvSpPr>
        <p:spPr>
          <a:xfrm>
            <a:off x="855343" y="2472150"/>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1800" dirty="0"/>
              <a:t>查询代码截图</a:t>
            </a:r>
            <a:endParaRPr lang="en-US" altLang="zh-CN" sz="1800" dirty="0"/>
          </a:p>
          <a:p>
            <a:pPr>
              <a:lnSpc>
                <a:spcPct val="100000"/>
              </a:lnSpc>
            </a:pPr>
            <a:r>
              <a:rPr lang="zh-CN" altLang="en-US" sz="1800" dirty="0"/>
              <a:t>查询结果</a:t>
            </a:r>
            <a:endParaRPr lang="zh-CN" altLang="zh-CN" sz="1800" dirty="0"/>
          </a:p>
        </p:txBody>
      </p:sp>
      <p:sp>
        <p:nvSpPr>
          <p:cNvPr id="12"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3"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0"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pic>
        <p:nvPicPr>
          <p:cNvPr id="7171" name="Picture 90"/>
          <p:cNvPicPr>
            <a:picLocks noChangeAspect="1" noChangeArrowheads="1"/>
          </p:cNvPicPr>
          <p:nvPr/>
        </p:nvPicPr>
        <p:blipFill rotWithShape="1">
          <a:blip r:embed="rId3">
            <a:extLst>
              <a:ext uri="{28A0092B-C50C-407E-A947-70E740481C1C}">
                <a14:useLocalDpi xmlns:a14="http://schemas.microsoft.com/office/drawing/2010/main" val="0"/>
              </a:ext>
            </a:extLst>
          </a:blip>
          <a:srcRect l="3837"/>
          <a:stretch>
            <a:fillRect/>
          </a:stretch>
        </p:blipFill>
        <p:spPr bwMode="auto">
          <a:xfrm>
            <a:off x="62938" y="3255741"/>
            <a:ext cx="8746775" cy="309199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8750332" y="3421279"/>
            <a:ext cx="3342980" cy="2760918"/>
          </a:xfrm>
          <a:prstGeom prst="rect">
            <a:avLst/>
          </a:prstGeom>
          <a:ln>
            <a:solidFill>
              <a:schemeClr val="bg2"/>
            </a:solidFill>
          </a:ln>
        </p:spPr>
      </p:pic>
      <p:sp>
        <p:nvSpPr>
          <p:cNvPr id="11"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页面</a:t>
            </a:r>
            <a:r>
              <a:rPr lang="en-US" altLang="zh-CN" sz="1800" dirty="0"/>
              <a:t>1</a:t>
            </a:r>
            <a:r>
              <a:rPr lang="zh-CN" altLang="zh-CN" sz="1800" dirty="0"/>
              <a:t>超市各类商品的成交量对比数据</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64</a:t>
            </a:fld>
            <a:endParaRPr lang="zh-CN" altLang="en-US"/>
          </a:p>
        </p:txBody>
      </p:sp>
      <p:sp>
        <p:nvSpPr>
          <p:cNvPr id="7" name="内容占位符 2"/>
          <p:cNvSpPr txBox="1"/>
          <p:nvPr/>
        </p:nvSpPr>
        <p:spPr>
          <a:xfrm>
            <a:off x="855343" y="2442695"/>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1800" dirty="0"/>
              <a:t>商品一级分类为</a:t>
            </a:r>
            <a:r>
              <a:rPr lang="en-US" altLang="zh-CN" sz="1800" dirty="0"/>
              <a:t>DRINK</a:t>
            </a:r>
            <a:r>
              <a:rPr lang="zh-CN" altLang="zh-CN" sz="1800" dirty="0"/>
              <a:t>的条件下，二级商品的成交量分布</a:t>
            </a:r>
            <a:endParaRPr lang="en-US" altLang="zh-CN" sz="1800" dirty="0"/>
          </a:p>
          <a:p>
            <a:pPr>
              <a:lnSpc>
                <a:spcPct val="100000"/>
              </a:lnSpc>
            </a:pPr>
            <a:r>
              <a:rPr lang="zh-CN" altLang="zh-CN" sz="1800" dirty="0"/>
              <a:t>用</a:t>
            </a:r>
            <a:r>
              <a:rPr lang="en-US" altLang="zh-CN" sz="1800" dirty="0"/>
              <a:t>index_1()</a:t>
            </a:r>
            <a:r>
              <a:rPr lang="zh-CN" altLang="zh-CN" sz="1800" dirty="0"/>
              <a:t>来代表第二页，使用查询语句得到对应数据。</a:t>
            </a:r>
            <a:endParaRPr lang="en-US" altLang="zh-CN" sz="1800" dirty="0"/>
          </a:p>
          <a:p>
            <a:pPr>
              <a:lnSpc>
                <a:spcPct val="100000"/>
              </a:lnSpc>
            </a:pPr>
            <a:r>
              <a:rPr lang="zh-CN" altLang="en-US" sz="1800" dirty="0"/>
              <a:t>查询代码及查询结果</a:t>
            </a:r>
            <a:endParaRPr lang="zh-CN" altLang="zh-CN" sz="1800" dirty="0"/>
          </a:p>
        </p:txBody>
      </p:sp>
      <p:sp>
        <p:nvSpPr>
          <p:cNvPr id="10"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1"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3"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4"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(3) </a:t>
            </a:r>
            <a:r>
              <a:rPr lang="zh-CN" altLang="zh-CN" sz="1800" dirty="0"/>
              <a:t>页面</a:t>
            </a:r>
            <a:r>
              <a:rPr lang="en-US" altLang="zh-CN" sz="1800" dirty="0"/>
              <a:t>2 </a:t>
            </a:r>
            <a:r>
              <a:rPr lang="zh-CN" altLang="zh-CN" sz="1800" dirty="0"/>
              <a:t>超市各类商品的成交量对比数据</a:t>
            </a:r>
            <a:endParaRPr lang="en-US" altLang="zh-CN" sz="1400" dirty="0">
              <a:latin typeface="+mn-ea"/>
              <a:ea typeface="+mn-ea"/>
            </a:endParaRPr>
          </a:p>
        </p:txBody>
      </p:sp>
      <p:pic>
        <p:nvPicPr>
          <p:cNvPr id="8195" name="Picture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91" y="3678643"/>
            <a:ext cx="9559902" cy="304270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4"/>
          <a:stretch>
            <a:fillRect/>
          </a:stretch>
        </p:blipFill>
        <p:spPr>
          <a:xfrm>
            <a:off x="8379430" y="5113093"/>
            <a:ext cx="2943125" cy="1224190"/>
          </a:xfrm>
          <a:prstGeom prst="rect">
            <a:avLst/>
          </a:prstGeom>
          <a:ln>
            <a:solidFill>
              <a:schemeClr val="bg2"/>
            </a:solid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65</a:t>
            </a:fld>
            <a:endParaRPr lang="zh-CN" altLang="en-US"/>
          </a:p>
        </p:txBody>
      </p:sp>
      <p:sp>
        <p:nvSpPr>
          <p:cNvPr id="6" name="内容占位符 2"/>
          <p:cNvSpPr txBox="1"/>
          <p:nvPr/>
        </p:nvSpPr>
        <p:spPr>
          <a:xfrm>
            <a:off x="874479" y="2579348"/>
            <a:ext cx="10655882"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1800" dirty="0"/>
              <a:t>第三页为</a:t>
            </a:r>
            <a:r>
              <a:rPr lang="zh-CN" altLang="en-US" sz="1800" dirty="0"/>
              <a:t>气泡图</a:t>
            </a:r>
            <a:r>
              <a:rPr lang="zh-CN" altLang="zh-CN" sz="1800" dirty="0"/>
              <a:t>，来展示土耳其的各个省份、每个省份的会员人数以及每个省份的地理位置（经纬度）</a:t>
            </a:r>
            <a:endParaRPr lang="en-US" altLang="zh-CN" sz="1800" dirty="0"/>
          </a:p>
          <a:p>
            <a:pPr>
              <a:lnSpc>
                <a:spcPct val="100000"/>
              </a:lnSpc>
            </a:pPr>
            <a:r>
              <a:rPr lang="zh-CN" altLang="zh-CN" sz="1800" dirty="0"/>
              <a:t>用</a:t>
            </a:r>
            <a:r>
              <a:rPr lang="en-US" altLang="zh-CN" sz="1800" dirty="0"/>
              <a:t>index_2()</a:t>
            </a:r>
            <a:r>
              <a:rPr lang="zh-CN" altLang="zh-CN" sz="1800" dirty="0"/>
              <a:t>来代表第三页，使用查询语句得到对应数据。</a:t>
            </a:r>
            <a:endParaRPr lang="en-US" altLang="zh-CN" sz="1800" dirty="0"/>
          </a:p>
          <a:p>
            <a:pPr>
              <a:lnSpc>
                <a:spcPct val="100000"/>
              </a:lnSpc>
            </a:pPr>
            <a:r>
              <a:rPr lang="zh-CN" altLang="en-US" sz="1800" dirty="0"/>
              <a:t>查询代码</a:t>
            </a:r>
            <a:endParaRPr lang="zh-CN" altLang="zh-CN" sz="1800" dirty="0"/>
          </a:p>
        </p:txBody>
      </p:sp>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zh-CN" sz="1800" dirty="0"/>
              <a:t>页面</a:t>
            </a:r>
            <a:r>
              <a:rPr lang="en-US" altLang="zh-CN" sz="1800" dirty="0"/>
              <a:t>3 </a:t>
            </a:r>
            <a:r>
              <a:rPr lang="zh-CN" altLang="en-US" sz="1800" dirty="0"/>
              <a:t>气泡图</a:t>
            </a:r>
            <a:r>
              <a:rPr lang="zh-CN" altLang="zh-CN" sz="1800" dirty="0"/>
              <a:t>数据</a:t>
            </a:r>
            <a:endParaRPr lang="en-US" altLang="zh-CN" sz="1400" dirty="0">
              <a:latin typeface="+mn-ea"/>
              <a:ea typeface="+mn-ea"/>
            </a:endParaRPr>
          </a:p>
        </p:txBody>
      </p:sp>
      <p:pic>
        <p:nvPicPr>
          <p:cNvPr id="9218" name="Picture 5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479" y="3785313"/>
            <a:ext cx="10188685" cy="293603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66</a:t>
            </a:fld>
            <a:endParaRPr lang="zh-CN" altLang="en-US"/>
          </a:p>
        </p:txBody>
      </p:sp>
      <p:sp>
        <p:nvSpPr>
          <p:cNvPr id="6" name="内容占位符 2"/>
          <p:cNvSpPr txBox="1"/>
          <p:nvPr/>
        </p:nvSpPr>
        <p:spPr>
          <a:xfrm>
            <a:off x="855343" y="2417230"/>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t>查询结果</a:t>
            </a:r>
            <a:endParaRPr lang="zh-CN" altLang="zh-CN" sz="1800" dirty="0"/>
          </a:p>
        </p:txBody>
      </p:sp>
      <p:sp>
        <p:nvSpPr>
          <p:cNvPr id="13"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4"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6"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7"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zh-CN" sz="1800" dirty="0"/>
              <a:t>页面</a:t>
            </a:r>
            <a:r>
              <a:rPr lang="en-US" altLang="zh-CN" sz="1800" dirty="0"/>
              <a:t>3 </a:t>
            </a:r>
            <a:r>
              <a:rPr lang="zh-CN" altLang="en-US" sz="1800" dirty="0"/>
              <a:t>气泡图</a:t>
            </a:r>
            <a:r>
              <a:rPr lang="zh-CN" altLang="zh-CN" sz="1800" dirty="0"/>
              <a:t>数据</a:t>
            </a:r>
            <a:endParaRPr lang="en-US" altLang="zh-CN" sz="1400" dirty="0">
              <a:latin typeface="+mn-ea"/>
              <a:ea typeface="+mn-ea"/>
            </a:endParaRPr>
          </a:p>
        </p:txBody>
      </p:sp>
      <p:pic>
        <p:nvPicPr>
          <p:cNvPr id="10242" name="Picture 5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4" y="2813230"/>
            <a:ext cx="3321970" cy="37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5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1703" y="2813230"/>
            <a:ext cx="3321970" cy="37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5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2632" y="2813229"/>
            <a:ext cx="3321970" cy="37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5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0303" y="2825962"/>
            <a:ext cx="3135173" cy="37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67</a:t>
            </a:fld>
            <a:endParaRPr lang="zh-CN" altLang="en-US"/>
          </a:p>
        </p:txBody>
      </p:sp>
      <p:sp>
        <p:nvSpPr>
          <p:cNvPr id="6" name="内容占位符 2"/>
          <p:cNvSpPr txBox="1"/>
          <p:nvPr/>
        </p:nvSpPr>
        <p:spPr>
          <a:xfrm>
            <a:off x="855343" y="2617858"/>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1800" dirty="0"/>
              <a:t>男女会员在一级分类商品的购买量对比柱状图</a:t>
            </a:r>
            <a:endParaRPr lang="en-US" altLang="zh-CN" sz="1800" dirty="0"/>
          </a:p>
          <a:p>
            <a:pPr>
              <a:lnSpc>
                <a:spcPct val="100000"/>
              </a:lnSpc>
            </a:pPr>
            <a:r>
              <a:rPr lang="zh-CN" altLang="zh-CN" sz="1800" dirty="0"/>
              <a:t>用</a:t>
            </a:r>
            <a:r>
              <a:rPr lang="en-US" altLang="zh-CN" sz="1800" dirty="0"/>
              <a:t>index_3()</a:t>
            </a:r>
            <a:r>
              <a:rPr lang="zh-CN" altLang="zh-CN" sz="1800" dirty="0"/>
              <a:t>来代表第三页，使用查询语句得到对应数据。</a:t>
            </a:r>
            <a:endParaRPr lang="en-US" altLang="zh-CN" sz="1800" dirty="0"/>
          </a:p>
          <a:p>
            <a:pPr>
              <a:lnSpc>
                <a:spcPct val="100000"/>
              </a:lnSpc>
            </a:pPr>
            <a:r>
              <a:rPr lang="zh-CN" altLang="en-US" sz="1800" dirty="0"/>
              <a:t>查询代码及查询结果</a:t>
            </a:r>
            <a:endParaRPr lang="zh-CN" altLang="zh-CN" sz="1800" dirty="0"/>
          </a:p>
        </p:txBody>
      </p:sp>
      <p:pic>
        <p:nvPicPr>
          <p:cNvPr id="8" name="Picture 7"/>
          <p:cNvPicPr>
            <a:picLocks noChangeAspect="1"/>
          </p:cNvPicPr>
          <p:nvPr/>
        </p:nvPicPr>
        <p:blipFill>
          <a:blip r:embed="rId3"/>
          <a:stretch>
            <a:fillRect/>
          </a:stretch>
        </p:blipFill>
        <p:spPr>
          <a:xfrm>
            <a:off x="8153399" y="1514475"/>
            <a:ext cx="3794364" cy="4484392"/>
          </a:xfrm>
          <a:prstGeom prst="rect">
            <a:avLst/>
          </a:prstGeom>
          <a:ln>
            <a:solidFill>
              <a:schemeClr val="bg2"/>
            </a:solidFill>
          </a:ln>
        </p:spPr>
      </p:pic>
      <p:sp>
        <p:nvSpPr>
          <p:cNvPr id="9"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0"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3"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(5) </a:t>
            </a:r>
            <a:r>
              <a:rPr lang="zh-CN" altLang="zh-CN" sz="1800" dirty="0"/>
              <a:t>页面</a:t>
            </a:r>
            <a:r>
              <a:rPr lang="en-US" altLang="zh-CN" sz="1800" dirty="0"/>
              <a:t>4 </a:t>
            </a:r>
            <a:r>
              <a:rPr lang="zh-CN" altLang="zh-CN" sz="1800" dirty="0"/>
              <a:t>男女会员的购买量数据</a:t>
            </a:r>
            <a:endParaRPr lang="en-US" altLang="zh-CN" sz="1400" dirty="0">
              <a:latin typeface="+mn-ea"/>
              <a:ea typeface="+mn-ea"/>
            </a:endParaRPr>
          </a:p>
        </p:txBody>
      </p:sp>
      <p:pic>
        <p:nvPicPr>
          <p:cNvPr id="11266" name="Picture 96"/>
          <p:cNvPicPr>
            <a:picLocks noChangeAspect="1" noChangeArrowheads="1"/>
          </p:cNvPicPr>
          <p:nvPr/>
        </p:nvPicPr>
        <p:blipFill rotWithShape="1">
          <a:blip r:embed="rId4">
            <a:extLst>
              <a:ext uri="{28A0092B-C50C-407E-A947-70E740481C1C}">
                <a14:useLocalDpi xmlns:a14="http://schemas.microsoft.com/office/drawing/2010/main" val="0"/>
              </a:ext>
            </a:extLst>
          </a:blip>
          <a:srcRect l="3794"/>
          <a:stretch>
            <a:fillRect/>
          </a:stretch>
        </p:blipFill>
        <p:spPr bwMode="auto">
          <a:xfrm>
            <a:off x="141890" y="3959798"/>
            <a:ext cx="8011509" cy="21535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68</a:t>
            </a:fld>
            <a:endParaRPr lang="zh-CN" altLang="en-US"/>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3" name="内容占位符 2"/>
          <p:cNvSpPr txBox="1"/>
          <p:nvPr/>
        </p:nvSpPr>
        <p:spPr>
          <a:xfrm>
            <a:off x="855343" y="2515050"/>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1800" dirty="0"/>
              <a:t>商品购买关系图</a:t>
            </a:r>
            <a:endParaRPr lang="en-US" altLang="zh-CN" sz="1800" dirty="0"/>
          </a:p>
          <a:p>
            <a:pPr>
              <a:lnSpc>
                <a:spcPct val="100000"/>
              </a:lnSpc>
            </a:pPr>
            <a:r>
              <a:rPr lang="zh-CN" altLang="zh-CN" sz="1800" dirty="0"/>
              <a:t>使用数据库</a:t>
            </a:r>
            <a:r>
              <a:rPr lang="en-US" altLang="zh-CN" sz="1800" dirty="0"/>
              <a:t>supermarket</a:t>
            </a:r>
            <a:r>
              <a:rPr lang="zh-CN" altLang="zh-CN" sz="1800" dirty="0"/>
              <a:t>中的表</a:t>
            </a:r>
            <a:r>
              <a:rPr lang="en-US" altLang="zh-CN" sz="1800" dirty="0"/>
              <a:t>rules</a:t>
            </a:r>
            <a:r>
              <a:rPr lang="zh-CN" altLang="zh-CN" sz="1800" dirty="0"/>
              <a:t>来体现商品购买关系，使用表</a:t>
            </a:r>
            <a:r>
              <a:rPr lang="en-US" altLang="zh-CN" sz="1800" dirty="0" err="1"/>
              <a:t>user_log</a:t>
            </a:r>
            <a:r>
              <a:rPr lang="zh-CN" altLang="zh-CN" sz="1800" dirty="0"/>
              <a:t>来对应表</a:t>
            </a:r>
            <a:r>
              <a:rPr lang="en-US" altLang="zh-CN" sz="1800" dirty="0"/>
              <a:t>rules</a:t>
            </a:r>
            <a:r>
              <a:rPr lang="zh-CN" altLang="zh-CN" sz="1800" dirty="0"/>
              <a:t>中的商品名</a:t>
            </a:r>
            <a:endParaRPr lang="en-US" altLang="zh-CN" sz="1800" dirty="0"/>
          </a:p>
          <a:p>
            <a:pPr>
              <a:lnSpc>
                <a:spcPct val="100000"/>
              </a:lnSpc>
            </a:pPr>
            <a:r>
              <a:rPr lang="zh-CN" altLang="zh-CN" sz="1800" dirty="0"/>
              <a:t>用</a:t>
            </a:r>
            <a:r>
              <a:rPr lang="en-US" altLang="zh-CN" sz="1800" dirty="0"/>
              <a:t>index_4()</a:t>
            </a:r>
            <a:r>
              <a:rPr lang="zh-CN" altLang="zh-CN" sz="1800" dirty="0"/>
              <a:t>来代表第三页，使用查询语句得到对应数据。</a:t>
            </a:r>
            <a:endParaRPr lang="en-US" altLang="zh-CN" sz="1800" dirty="0"/>
          </a:p>
          <a:p>
            <a:pPr>
              <a:lnSpc>
                <a:spcPct val="100000"/>
              </a:lnSpc>
            </a:pPr>
            <a:r>
              <a:rPr lang="zh-CN" altLang="en-US" sz="1800" dirty="0"/>
              <a:t>查询商品购买关系代码</a:t>
            </a:r>
            <a:endParaRPr lang="en-US" altLang="zh-CN" sz="1800" dirty="0"/>
          </a:p>
        </p:txBody>
      </p:sp>
      <p:sp>
        <p:nvSpPr>
          <p:cNvPr id="14"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5"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(6) </a:t>
            </a:r>
            <a:r>
              <a:rPr lang="zh-CN" altLang="zh-CN" sz="1800" dirty="0"/>
              <a:t>页面</a:t>
            </a:r>
            <a:r>
              <a:rPr lang="en-US" altLang="zh-CN" sz="1800" dirty="0"/>
              <a:t>5 </a:t>
            </a:r>
            <a:r>
              <a:rPr lang="zh-CN" altLang="zh-CN" sz="1800" dirty="0"/>
              <a:t>商品购买关系数据</a:t>
            </a:r>
            <a:endParaRPr lang="en-US" altLang="zh-CN" sz="1400" dirty="0">
              <a:latin typeface="+mn-ea"/>
              <a:ea typeface="+mn-ea"/>
            </a:endParaRPr>
          </a:p>
        </p:txBody>
      </p:sp>
      <p:pic>
        <p:nvPicPr>
          <p:cNvPr id="12290" name="Picture 5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4061858"/>
            <a:ext cx="9598802" cy="252812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69</a:t>
            </a:fld>
            <a:endParaRPr lang="zh-CN" altLang="en-US"/>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3" name="内容占位符 2"/>
          <p:cNvSpPr txBox="1"/>
          <p:nvPr/>
        </p:nvSpPr>
        <p:spPr>
          <a:xfrm>
            <a:off x="855343" y="2515050"/>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1800" dirty="0"/>
              <a:t>查询</a:t>
            </a:r>
            <a:r>
              <a:rPr lang="zh-CN" altLang="zh-CN" sz="1800" dirty="0"/>
              <a:t>表</a:t>
            </a:r>
            <a:r>
              <a:rPr lang="en-US" altLang="zh-CN" sz="1800" dirty="0"/>
              <a:t>rules</a:t>
            </a:r>
            <a:r>
              <a:rPr lang="zh-CN" altLang="zh-CN" sz="1800" dirty="0"/>
              <a:t>中商品名称代码</a:t>
            </a:r>
            <a:endParaRPr lang="en-US" altLang="zh-CN" sz="1800" dirty="0"/>
          </a:p>
        </p:txBody>
      </p:sp>
      <p:sp>
        <p:nvSpPr>
          <p:cNvPr id="14"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5"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(6) </a:t>
            </a:r>
            <a:r>
              <a:rPr lang="zh-CN" altLang="zh-CN" sz="1800" dirty="0"/>
              <a:t>页面</a:t>
            </a:r>
            <a:r>
              <a:rPr lang="en-US" altLang="zh-CN" sz="1800" dirty="0"/>
              <a:t>5 </a:t>
            </a:r>
            <a:r>
              <a:rPr lang="zh-CN" altLang="zh-CN" sz="1800" dirty="0"/>
              <a:t>商品购买关系数据</a:t>
            </a:r>
            <a:endParaRPr lang="en-US" altLang="zh-CN" sz="1400" dirty="0">
              <a:latin typeface="+mn-ea"/>
              <a:ea typeface="+mn-ea"/>
            </a:endParaRPr>
          </a:p>
        </p:txBody>
      </p:sp>
      <p:pic>
        <p:nvPicPr>
          <p:cNvPr id="13314" name="Picture 5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816" y="3160146"/>
            <a:ext cx="10458138" cy="263264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70</a:t>
            </a:fld>
            <a:endParaRPr lang="zh-CN" altLang="en-US"/>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3" name="内容占位符 2"/>
          <p:cNvSpPr txBox="1"/>
          <p:nvPr/>
        </p:nvSpPr>
        <p:spPr>
          <a:xfrm>
            <a:off x="855343" y="2515050"/>
            <a:ext cx="10445564" cy="42786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1800" dirty="0"/>
              <a:t>购买关系查询结果及商品名称对应结果</a:t>
            </a:r>
            <a:endParaRPr lang="en-US" altLang="zh-CN" sz="1800" dirty="0"/>
          </a:p>
        </p:txBody>
      </p:sp>
      <p:sp>
        <p:nvSpPr>
          <p:cNvPr id="14"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2) </a:t>
            </a:r>
            <a:r>
              <a:rPr lang="zh-CN" altLang="en-US" sz="1800" dirty="0">
                <a:latin typeface="+mn-ea"/>
                <a:ea typeface="+mn-ea"/>
              </a:rPr>
              <a:t>数据读取</a:t>
            </a:r>
            <a:endParaRPr lang="en-US" altLang="zh-CN" sz="1800" dirty="0">
              <a:latin typeface="+mn-ea"/>
              <a:ea typeface="+mn-ea"/>
            </a:endParaRPr>
          </a:p>
        </p:txBody>
      </p:sp>
      <p:sp>
        <p:nvSpPr>
          <p:cNvPr id="15"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(6) </a:t>
            </a:r>
            <a:r>
              <a:rPr lang="zh-CN" altLang="zh-CN" sz="1800" dirty="0"/>
              <a:t>页面</a:t>
            </a:r>
            <a:r>
              <a:rPr lang="en-US" altLang="zh-CN" sz="1800" dirty="0"/>
              <a:t>5 </a:t>
            </a:r>
            <a:r>
              <a:rPr lang="zh-CN" altLang="zh-CN" sz="1800" dirty="0"/>
              <a:t>商品购买关系数据</a:t>
            </a:r>
            <a:endParaRPr lang="en-US" altLang="zh-CN" sz="1400" dirty="0">
              <a:latin typeface="+mn-ea"/>
              <a:ea typeface="+mn-ea"/>
            </a:endParaRPr>
          </a:p>
        </p:txBody>
      </p:sp>
      <p:pic>
        <p:nvPicPr>
          <p:cNvPr id="14338" name="Picture 5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832" y="2948351"/>
            <a:ext cx="2312768" cy="369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5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137" y="2948351"/>
            <a:ext cx="2560637"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71</a:t>
            </a:fld>
            <a:endParaRPr lang="zh-CN" altLang="en-US"/>
          </a:p>
        </p:txBody>
      </p:sp>
      <p:sp>
        <p:nvSpPr>
          <p:cNvPr id="4" name="内容占位符 2"/>
          <p:cNvSpPr>
            <a:spLocks noGrp="1"/>
          </p:cNvSpPr>
          <p:nvPr/>
        </p:nvSpPr>
        <p:spPr>
          <a:xfrm>
            <a:off x="855345" y="4847984"/>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zh-CN" altLang="en-US" sz="1800" b="1" dirty="0"/>
          </a:p>
        </p:txBody>
      </p:sp>
      <p:sp>
        <p:nvSpPr>
          <p:cNvPr id="5"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内容占位符 2"/>
          <p:cNvSpPr txBox="1"/>
          <p:nvPr/>
        </p:nvSpPr>
        <p:spPr>
          <a:xfrm>
            <a:off x="855343" y="2400511"/>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zh-CN" altLang="zh-CN" sz="1800" dirty="0"/>
              <a:t>超市所有商品一级分类的成交量对比图，用饼图来展示，鼠标指到具体的某一分类时可以显示当前的具体的商品一级分类名称和对应的交易量</a:t>
            </a:r>
            <a:endParaRPr lang="en-US" altLang="zh-CN" sz="1800" dirty="0"/>
          </a:p>
          <a:p>
            <a:pPr>
              <a:lnSpc>
                <a:spcPct val="114000"/>
              </a:lnSpc>
            </a:pPr>
            <a:r>
              <a:rPr lang="zh-CN" altLang="zh-CN" sz="1800" dirty="0"/>
              <a:t>不同颜色展示了超市的一级商品分类，共</a:t>
            </a:r>
            <a:r>
              <a:rPr lang="en-US" altLang="zh-CN" sz="1800" dirty="0"/>
              <a:t>11</a:t>
            </a:r>
            <a:r>
              <a:rPr lang="zh-CN" altLang="zh-CN" sz="1800" dirty="0"/>
              <a:t>分类，其中</a:t>
            </a:r>
            <a:r>
              <a:rPr lang="en-US" altLang="zh-CN" sz="1800" dirty="0"/>
              <a:t>DRINK</a:t>
            </a:r>
            <a:r>
              <a:rPr lang="zh-CN" altLang="zh-CN" sz="1800" dirty="0"/>
              <a:t>分类的成交数量为</a:t>
            </a:r>
            <a:r>
              <a:rPr lang="en-US" altLang="zh-CN" sz="1800" dirty="0"/>
              <a:t>71004</a:t>
            </a:r>
            <a:r>
              <a:rPr lang="zh-CN" altLang="zh-CN" sz="1800" dirty="0"/>
              <a:t>，占总交易量的</a:t>
            </a:r>
            <a:r>
              <a:rPr lang="en-US" altLang="zh-CN" sz="1800" dirty="0"/>
              <a:t>12.54%</a:t>
            </a:r>
            <a:r>
              <a:rPr lang="zh-CN" altLang="zh-CN" sz="1800" dirty="0"/>
              <a:t>。</a:t>
            </a:r>
            <a:endParaRPr lang="en-US" altLang="zh-CN" sz="1800" dirty="0"/>
          </a:p>
          <a:p>
            <a:pPr>
              <a:lnSpc>
                <a:spcPct val="114000"/>
              </a:lnSpc>
            </a:pPr>
            <a:endParaRPr lang="zh-CN" altLang="en-US" sz="1200" dirty="0"/>
          </a:p>
        </p:txBody>
      </p:sp>
      <p:pic>
        <p:nvPicPr>
          <p:cNvPr id="7" name="Picture 6"/>
          <p:cNvPicPr>
            <a:picLocks noChangeAspect="1"/>
          </p:cNvPicPr>
          <p:nvPr/>
        </p:nvPicPr>
        <p:blipFill>
          <a:blip r:embed="rId3"/>
          <a:stretch>
            <a:fillRect/>
          </a:stretch>
        </p:blipFill>
        <p:spPr>
          <a:xfrm>
            <a:off x="3937471" y="3609109"/>
            <a:ext cx="4317059" cy="2907554"/>
          </a:xfrm>
          <a:prstGeom prst="rect">
            <a:avLst/>
          </a:prstGeom>
          <a:ln>
            <a:solidFill>
              <a:schemeClr val="accent1"/>
            </a:solidFill>
          </a:ln>
        </p:spPr>
      </p:pic>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zh-CN" sz="1800" dirty="0"/>
              <a:t>页面</a:t>
            </a:r>
            <a:r>
              <a:rPr lang="en-US" altLang="zh-CN" sz="1800" dirty="0"/>
              <a:t>1-</a:t>
            </a:r>
            <a:r>
              <a:rPr lang="zh-CN" altLang="zh-CN" sz="1800" dirty="0"/>
              <a:t>超市所有商品成交量对比</a:t>
            </a:r>
            <a:r>
              <a:rPr lang="en-US" altLang="zh-CN" sz="1800" dirty="0"/>
              <a:t>-</a:t>
            </a:r>
            <a:r>
              <a:rPr lang="zh-CN" altLang="zh-CN" sz="1800" dirty="0"/>
              <a:t>饼图</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repeatCount="200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9"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72</a:t>
            </a:fld>
            <a:endParaRPr lang="zh-CN" altLang="en-US"/>
          </a:p>
        </p:txBody>
      </p:sp>
      <p:pic>
        <p:nvPicPr>
          <p:cNvPr id="7" name="Picture 6"/>
          <p:cNvPicPr>
            <a:picLocks noChangeAspect="1"/>
          </p:cNvPicPr>
          <p:nvPr/>
        </p:nvPicPr>
        <p:blipFill>
          <a:blip r:embed="rId3"/>
          <a:stretch>
            <a:fillRect/>
          </a:stretch>
        </p:blipFill>
        <p:spPr>
          <a:xfrm>
            <a:off x="3184634" y="2324623"/>
            <a:ext cx="7505011" cy="4033514"/>
          </a:xfrm>
          <a:prstGeom prst="rect">
            <a:avLst/>
          </a:prstGeom>
          <a:ln>
            <a:solidFill>
              <a:schemeClr val="bg2"/>
            </a:solidFill>
          </a:ln>
        </p:spPr>
      </p:pic>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(1) </a:t>
            </a:r>
            <a:r>
              <a:rPr lang="zh-CN" altLang="zh-CN" sz="1800" dirty="0"/>
              <a:t>页面</a:t>
            </a:r>
            <a:r>
              <a:rPr lang="en-US" altLang="zh-CN" sz="1800" dirty="0"/>
              <a:t>1</a:t>
            </a:r>
            <a:r>
              <a:rPr lang="zh-CN" altLang="en-US" sz="1800" dirty="0"/>
              <a:t>效果</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73</a:t>
            </a:fld>
            <a:endParaRPr lang="zh-CN" altLang="en-US"/>
          </a:p>
        </p:txBody>
      </p:sp>
      <p:sp>
        <p:nvSpPr>
          <p:cNvPr id="6" name="内容占位符 2"/>
          <p:cNvSpPr txBox="1"/>
          <p:nvPr/>
        </p:nvSpPr>
        <p:spPr>
          <a:xfrm>
            <a:off x="855343" y="2411344"/>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zh-CN" altLang="zh-CN" sz="1800" dirty="0"/>
              <a:t>在</a:t>
            </a:r>
            <a:r>
              <a:rPr lang="en-US" altLang="zh-CN" sz="1800" dirty="0"/>
              <a:t>DRINK</a:t>
            </a:r>
            <a:r>
              <a:rPr lang="zh-CN" altLang="zh-CN" sz="1800" dirty="0"/>
              <a:t>分类下的二级分类的成交量对比图，用饼图来展示，鼠标指到具体的某一分类时可以显示当前的具体的商品二级分类名称和对应的交易量</a:t>
            </a:r>
            <a:endParaRPr lang="en-US" altLang="zh-CN" sz="1800" dirty="0"/>
          </a:p>
          <a:p>
            <a:pPr>
              <a:lnSpc>
                <a:spcPct val="114000"/>
              </a:lnSpc>
            </a:pPr>
            <a:r>
              <a:rPr lang="zh-CN" altLang="zh-CN" sz="1800" dirty="0"/>
              <a:t>不同颜色展示了</a:t>
            </a:r>
            <a:r>
              <a:rPr lang="en-US" altLang="zh-CN" sz="1800" dirty="0"/>
              <a:t>DRINK</a:t>
            </a:r>
            <a:r>
              <a:rPr lang="zh-CN" altLang="zh-CN" sz="1800" dirty="0"/>
              <a:t>下的二级商品分类，共</a:t>
            </a:r>
            <a:r>
              <a:rPr lang="en-US" altLang="zh-CN" sz="1800" dirty="0"/>
              <a:t>5</a:t>
            </a:r>
            <a:r>
              <a:rPr lang="zh-CN" altLang="zh-CN" sz="1800" dirty="0"/>
              <a:t>分类，其中</a:t>
            </a:r>
            <a:r>
              <a:rPr lang="en-US" altLang="zh-CN" sz="1800" dirty="0"/>
              <a:t>GASLESS DRINK</a:t>
            </a:r>
            <a:r>
              <a:rPr lang="zh-CN" altLang="zh-CN" sz="1800" dirty="0"/>
              <a:t>分类的成交数量为</a:t>
            </a:r>
            <a:r>
              <a:rPr lang="en-US" altLang="zh-CN" sz="1800" dirty="0"/>
              <a:t>11777</a:t>
            </a:r>
            <a:r>
              <a:rPr lang="zh-CN" altLang="zh-CN" sz="1800" dirty="0"/>
              <a:t>，占总交易量的</a:t>
            </a:r>
            <a:r>
              <a:rPr lang="en-US" altLang="zh-CN" sz="1800" dirty="0"/>
              <a:t>16.59%</a:t>
            </a:r>
            <a:r>
              <a:rPr lang="zh-CN" altLang="zh-CN" sz="1800" dirty="0"/>
              <a:t>。</a:t>
            </a:r>
            <a:endParaRPr lang="en-US" altLang="zh-CN" sz="1800" dirty="0"/>
          </a:p>
          <a:p>
            <a:pPr>
              <a:lnSpc>
                <a:spcPct val="114000"/>
              </a:lnSpc>
            </a:pPr>
            <a:endParaRPr lang="zh-CN" altLang="en-US" sz="1200" dirty="0"/>
          </a:p>
        </p:txBody>
      </p:sp>
      <p:pic>
        <p:nvPicPr>
          <p:cNvPr id="7" name="Picture 6"/>
          <p:cNvPicPr>
            <a:picLocks noChangeAspect="1"/>
          </p:cNvPicPr>
          <p:nvPr/>
        </p:nvPicPr>
        <p:blipFill>
          <a:blip r:embed="rId3"/>
          <a:stretch>
            <a:fillRect/>
          </a:stretch>
        </p:blipFill>
        <p:spPr>
          <a:xfrm>
            <a:off x="3409398" y="3540804"/>
            <a:ext cx="5373204" cy="2986120"/>
          </a:xfrm>
          <a:prstGeom prst="rect">
            <a:avLst/>
          </a:prstGeom>
          <a:ln>
            <a:solidFill>
              <a:schemeClr val="accent1"/>
            </a:solidFill>
          </a:ln>
        </p:spPr>
      </p:pic>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页面</a:t>
            </a:r>
            <a:r>
              <a:rPr lang="en-US" altLang="zh-CN" sz="1800" dirty="0"/>
              <a:t>2-</a:t>
            </a:r>
            <a:r>
              <a:rPr lang="zh-CN" altLang="zh-CN" sz="1800" dirty="0"/>
              <a:t>超市饮品成交量对比</a:t>
            </a:r>
            <a:r>
              <a:rPr lang="en-US" altLang="zh-CN" sz="1800" dirty="0"/>
              <a:t>-</a:t>
            </a:r>
            <a:r>
              <a:rPr lang="zh-CN" altLang="zh-CN" sz="1800" dirty="0"/>
              <a:t>饼图</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74</a:t>
            </a:fld>
            <a:endParaRPr lang="zh-CN" altLang="en-US"/>
          </a:p>
        </p:txBody>
      </p:sp>
      <p:pic>
        <p:nvPicPr>
          <p:cNvPr id="7" name="Picture 6"/>
          <p:cNvPicPr>
            <a:picLocks noChangeAspect="1"/>
          </p:cNvPicPr>
          <p:nvPr/>
        </p:nvPicPr>
        <p:blipFill>
          <a:blip r:embed="rId3"/>
          <a:srcRect r="1300"/>
          <a:stretch>
            <a:fillRect/>
          </a:stretch>
        </p:blipFill>
        <p:spPr>
          <a:xfrm>
            <a:off x="3263461" y="2362145"/>
            <a:ext cx="7410417" cy="3998081"/>
          </a:xfrm>
          <a:prstGeom prst="rect">
            <a:avLst/>
          </a:prstGeom>
          <a:ln>
            <a:solidFill>
              <a:schemeClr val="accent1"/>
            </a:solidFill>
          </a:ln>
        </p:spPr>
      </p:pic>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(2) </a:t>
            </a:r>
            <a:r>
              <a:rPr lang="zh-CN" altLang="zh-CN" sz="1800" dirty="0"/>
              <a:t>页面</a:t>
            </a:r>
            <a:r>
              <a:rPr lang="en-US" altLang="zh-CN" sz="1800" dirty="0"/>
              <a:t>2</a:t>
            </a:r>
            <a:r>
              <a:rPr lang="zh-CN" altLang="en-US" sz="1800" dirty="0"/>
              <a:t>效果</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75</a:t>
            </a:fld>
            <a:endParaRPr lang="zh-CN" altLang="en-US"/>
          </a:p>
        </p:txBody>
      </p:sp>
      <p:sp>
        <p:nvSpPr>
          <p:cNvPr id="6" name="内容占位符 2"/>
          <p:cNvSpPr txBox="1"/>
          <p:nvPr/>
        </p:nvSpPr>
        <p:spPr>
          <a:xfrm>
            <a:off x="855343" y="2400981"/>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zh-CN" altLang="zh-CN" sz="1800" dirty="0"/>
              <a:t>在</a:t>
            </a:r>
            <a:r>
              <a:rPr lang="zh-CN" altLang="en-US" sz="1800" dirty="0"/>
              <a:t>坐标轴</a:t>
            </a:r>
            <a:r>
              <a:rPr lang="zh-CN" altLang="zh-CN" sz="1800" dirty="0"/>
              <a:t>上</a:t>
            </a:r>
            <a:r>
              <a:rPr lang="zh-CN" altLang="en-US" sz="1800" dirty="0"/>
              <a:t>以气泡</a:t>
            </a:r>
            <a:r>
              <a:rPr lang="zh-CN" altLang="zh-CN" sz="1800" dirty="0"/>
              <a:t>形式显示各个省份的会员人数，鼠标指到具体的某一</a:t>
            </a:r>
            <a:r>
              <a:rPr lang="zh-CN" altLang="en-US" sz="1800" dirty="0"/>
              <a:t>气泡</a:t>
            </a:r>
            <a:r>
              <a:rPr lang="zh-CN" altLang="zh-CN" sz="1800" dirty="0"/>
              <a:t>时可以显示当前</a:t>
            </a:r>
            <a:r>
              <a:rPr lang="zh-CN" altLang="en-US" sz="1800" dirty="0"/>
              <a:t>气泡</a:t>
            </a:r>
            <a:r>
              <a:rPr lang="zh-CN" altLang="zh-CN" sz="1800" dirty="0"/>
              <a:t>所对应的省份名称以及会员人数</a:t>
            </a:r>
            <a:endParaRPr lang="en-US" altLang="zh-CN" sz="1800" dirty="0"/>
          </a:p>
          <a:p>
            <a:pPr>
              <a:lnSpc>
                <a:spcPct val="114000"/>
              </a:lnSpc>
            </a:pPr>
            <a:r>
              <a:rPr lang="zh-CN" altLang="zh-CN" sz="1800" dirty="0"/>
              <a:t>各个气泡根据其对应省份的地理位置分布在坐标轴上，气泡越大说明会员人数越多，反之越少。图中安卡拉这个省的会员人数为</a:t>
            </a:r>
            <a:r>
              <a:rPr lang="en-US" altLang="zh-CN" sz="1800" dirty="0"/>
              <a:t>8593</a:t>
            </a:r>
            <a:r>
              <a:rPr lang="zh-CN" altLang="zh-CN" sz="1800" dirty="0"/>
              <a:t>，</a:t>
            </a:r>
            <a:r>
              <a:rPr lang="zh-CN" altLang="en-US" sz="1800" dirty="0"/>
              <a:t>气泡</a:t>
            </a:r>
            <a:r>
              <a:rPr lang="zh-CN" altLang="zh-CN" sz="1800" dirty="0"/>
              <a:t>大，而马尔丁的会员人数为</a:t>
            </a:r>
            <a:r>
              <a:rPr lang="en-US" altLang="zh-CN" sz="1800" dirty="0"/>
              <a:t>1246</a:t>
            </a:r>
            <a:r>
              <a:rPr lang="zh-CN" altLang="zh-CN" sz="1800" dirty="0"/>
              <a:t>，</a:t>
            </a:r>
            <a:r>
              <a:rPr lang="zh-CN" altLang="en-US" sz="1800" dirty="0"/>
              <a:t>气泡</a:t>
            </a:r>
            <a:r>
              <a:rPr lang="zh-CN" altLang="zh-CN" sz="1800" dirty="0"/>
              <a:t>很小。</a:t>
            </a:r>
            <a:endParaRPr lang="en-US" altLang="zh-CN" sz="1800" dirty="0"/>
          </a:p>
          <a:p>
            <a:pPr>
              <a:lnSpc>
                <a:spcPct val="114000"/>
              </a:lnSpc>
            </a:pPr>
            <a:endParaRPr lang="zh-CN" altLang="en-US" sz="1200" dirty="0"/>
          </a:p>
        </p:txBody>
      </p:sp>
      <p:sp>
        <p:nvSpPr>
          <p:cNvPr id="9"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0"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3"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(3) </a:t>
            </a:r>
            <a:r>
              <a:rPr lang="zh-CN" altLang="zh-CN" sz="1800" dirty="0"/>
              <a:t>页面</a:t>
            </a:r>
            <a:r>
              <a:rPr lang="en-US" altLang="zh-CN" sz="1800" dirty="0"/>
              <a:t>3</a:t>
            </a:r>
            <a:r>
              <a:rPr lang="zh-CN" altLang="zh-CN" sz="1800" dirty="0"/>
              <a:t>各省会员人数</a:t>
            </a:r>
            <a:r>
              <a:rPr lang="en-US" altLang="zh-CN" sz="1800" dirty="0"/>
              <a:t>-</a:t>
            </a:r>
            <a:r>
              <a:rPr lang="zh-CN" altLang="en-US" sz="1800" dirty="0"/>
              <a:t>气泡</a:t>
            </a:r>
            <a:r>
              <a:rPr lang="zh-CN" altLang="zh-CN" sz="1800" dirty="0"/>
              <a:t>图</a:t>
            </a:r>
            <a:endParaRPr lang="en-US" altLang="zh-CN" sz="1400" dirty="0">
              <a:latin typeface="+mn-ea"/>
              <a:ea typeface="+mn-ea"/>
            </a:endParaRPr>
          </a:p>
        </p:txBody>
      </p:sp>
      <p:pic>
        <p:nvPicPr>
          <p:cNvPr id="102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545" y="3882151"/>
            <a:ext cx="489902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0726" y="3882151"/>
            <a:ext cx="489902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76</a:t>
            </a:fld>
            <a:endParaRPr lang="zh-CN" altLang="en-US"/>
          </a:p>
        </p:txBody>
      </p:sp>
      <p:sp>
        <p:nvSpPr>
          <p:cNvPr id="6" name="内容占位符 2"/>
          <p:cNvSpPr txBox="1"/>
          <p:nvPr/>
        </p:nvSpPr>
        <p:spPr>
          <a:xfrm>
            <a:off x="855343" y="2565271"/>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zh-CN" sz="1800" dirty="0">
                <a:latin typeface="+mn-ea"/>
              </a:rPr>
              <a:t>本页面的数据是是从</a:t>
            </a:r>
            <a:r>
              <a:rPr lang="en-US" altLang="zh-CN" sz="1800" dirty="0">
                <a:latin typeface="+mn-ea"/>
              </a:rPr>
              <a:t>MySQL</a:t>
            </a:r>
            <a:r>
              <a:rPr lang="zh-CN" altLang="zh-CN" sz="1800" dirty="0">
                <a:latin typeface="+mn-ea"/>
              </a:rPr>
              <a:t>中获得的，该数据包含省份名称、省份的地理位置以及该省份的会员人数。</a:t>
            </a:r>
            <a:endParaRPr lang="en-US" altLang="zh-CN" sz="1800" dirty="0">
              <a:latin typeface="+mn-ea"/>
            </a:endParaRPr>
          </a:p>
          <a:p>
            <a:pPr>
              <a:lnSpc>
                <a:spcPct val="125000"/>
              </a:lnSpc>
            </a:pPr>
            <a:r>
              <a:rPr lang="zh-CN" altLang="zh-CN" sz="1800" dirty="0">
                <a:latin typeface="+mn-ea"/>
              </a:rPr>
              <a:t>具体格式为：</a:t>
            </a:r>
            <a:r>
              <a:rPr lang="en-US" altLang="zh-CN" sz="1800" dirty="0">
                <a:latin typeface="+mn-ea"/>
              </a:rPr>
              <a:t>{name:</a:t>
            </a:r>
            <a:r>
              <a:rPr lang="zh-CN" altLang="zh-CN" sz="1800" dirty="0">
                <a:latin typeface="+mn-ea"/>
              </a:rPr>
              <a:t>名称</a:t>
            </a:r>
            <a:r>
              <a:rPr lang="en-US" altLang="zh-CN" sz="1800" dirty="0">
                <a:latin typeface="+mn-ea"/>
              </a:rPr>
              <a:t>, value:[</a:t>
            </a:r>
            <a:r>
              <a:rPr lang="zh-CN" altLang="en-US" sz="1800" dirty="0">
                <a:latin typeface="+mn-ea"/>
              </a:rPr>
              <a:t>纵坐标</a:t>
            </a:r>
            <a:r>
              <a:rPr lang="en-US" altLang="zh-CN" sz="1800" dirty="0">
                <a:latin typeface="+mn-ea"/>
              </a:rPr>
              <a:t>,</a:t>
            </a:r>
            <a:r>
              <a:rPr lang="zh-CN" altLang="en-US" sz="1800" dirty="0">
                <a:latin typeface="+mn-ea"/>
              </a:rPr>
              <a:t>横坐标</a:t>
            </a:r>
            <a:r>
              <a:rPr lang="en-US" altLang="zh-CN" sz="1800" dirty="0">
                <a:latin typeface="+mn-ea"/>
              </a:rPr>
              <a:t>,</a:t>
            </a:r>
            <a:r>
              <a:rPr lang="zh-CN" altLang="en-US" sz="1800" dirty="0">
                <a:latin typeface="+mn-ea"/>
              </a:rPr>
              <a:t>数值</a:t>
            </a:r>
            <a:r>
              <a:rPr lang="en-US" altLang="zh-CN" sz="1800" dirty="0">
                <a:latin typeface="+mn-ea"/>
              </a:rPr>
              <a:t>]}</a:t>
            </a:r>
          </a:p>
          <a:p>
            <a:pPr>
              <a:lnSpc>
                <a:spcPct val="125000"/>
              </a:lnSpc>
            </a:pPr>
            <a:r>
              <a:rPr lang="zh-CN" altLang="zh-CN" sz="1800" dirty="0">
                <a:latin typeface="+mn-ea"/>
              </a:rPr>
              <a:t>从</a:t>
            </a:r>
            <a:r>
              <a:rPr lang="en-US" altLang="zh-CN" sz="1800" dirty="0">
                <a:latin typeface="+mn-ea"/>
              </a:rPr>
              <a:t>MySQL</a:t>
            </a:r>
            <a:r>
              <a:rPr lang="zh-CN" altLang="zh-CN" sz="1800" dirty="0">
                <a:latin typeface="+mn-ea"/>
              </a:rPr>
              <a:t>中获得格式为</a:t>
            </a:r>
            <a:r>
              <a:rPr lang="en-US" altLang="zh-CN" sz="1800" dirty="0">
                <a:latin typeface="+mn-ea"/>
              </a:rPr>
              <a:t>list</a:t>
            </a:r>
            <a:r>
              <a:rPr lang="zh-CN" altLang="zh-CN" sz="1800" dirty="0">
                <a:latin typeface="+mn-ea"/>
              </a:rPr>
              <a:t>的数据分别为</a:t>
            </a:r>
            <a:r>
              <a:rPr lang="en-US" altLang="zh-CN" sz="1800" dirty="0" err="1">
                <a:latin typeface="+mn-ea"/>
              </a:rPr>
              <a:t>list.get</a:t>
            </a:r>
            <a:r>
              <a:rPr lang="en-US" altLang="zh-CN" sz="1800" dirty="0">
                <a:latin typeface="+mn-ea"/>
              </a:rPr>
              <a:t>(</a:t>
            </a:r>
            <a:r>
              <a:rPr lang="en-US" altLang="zh-CN" sz="1800" dirty="0" err="1">
                <a:latin typeface="+mn-ea"/>
              </a:rPr>
              <a:t>i</a:t>
            </a:r>
            <a:r>
              <a:rPr lang="en-US" altLang="zh-CN" sz="1800" dirty="0">
                <a:latin typeface="+mn-ea"/>
              </a:rPr>
              <a:t>)[0]</a:t>
            </a:r>
            <a:r>
              <a:rPr lang="zh-CN" altLang="zh-CN" sz="1800" dirty="0">
                <a:latin typeface="+mn-ea"/>
              </a:rPr>
              <a:t>省份名称、</a:t>
            </a:r>
            <a:r>
              <a:rPr lang="en-US" altLang="zh-CN" sz="1800" dirty="0" err="1">
                <a:latin typeface="+mn-ea"/>
              </a:rPr>
              <a:t>list.get</a:t>
            </a:r>
            <a:r>
              <a:rPr lang="en-US" altLang="zh-CN" sz="1800" dirty="0">
                <a:latin typeface="+mn-ea"/>
              </a:rPr>
              <a:t>(</a:t>
            </a:r>
            <a:r>
              <a:rPr lang="en-US" altLang="zh-CN" sz="1800" dirty="0" err="1">
                <a:latin typeface="+mn-ea"/>
              </a:rPr>
              <a:t>i</a:t>
            </a:r>
            <a:r>
              <a:rPr lang="en-US" altLang="zh-CN" sz="1800" dirty="0">
                <a:latin typeface="+mn-ea"/>
              </a:rPr>
              <a:t>)[3]</a:t>
            </a:r>
            <a:r>
              <a:rPr lang="zh-CN" altLang="zh-CN" sz="1800" dirty="0">
                <a:latin typeface="+mn-ea"/>
              </a:rPr>
              <a:t>经度、</a:t>
            </a:r>
            <a:r>
              <a:rPr lang="en-US" altLang="zh-CN" sz="1800" dirty="0" err="1">
                <a:latin typeface="+mn-ea"/>
              </a:rPr>
              <a:t>list.get</a:t>
            </a:r>
            <a:r>
              <a:rPr lang="en-US" altLang="zh-CN" sz="1800" dirty="0">
                <a:latin typeface="+mn-ea"/>
              </a:rPr>
              <a:t>(</a:t>
            </a:r>
            <a:r>
              <a:rPr lang="en-US" altLang="zh-CN" sz="1800" dirty="0" err="1">
                <a:latin typeface="+mn-ea"/>
              </a:rPr>
              <a:t>i</a:t>
            </a:r>
            <a:r>
              <a:rPr lang="en-US" altLang="zh-CN" sz="1800" dirty="0">
                <a:latin typeface="+mn-ea"/>
              </a:rPr>
              <a:t>)[2]</a:t>
            </a:r>
            <a:r>
              <a:rPr lang="zh-CN" altLang="zh-CN" sz="1800" dirty="0">
                <a:latin typeface="+mn-ea"/>
              </a:rPr>
              <a:t>纬度以及</a:t>
            </a:r>
            <a:r>
              <a:rPr lang="en-US" altLang="zh-CN" sz="1800" dirty="0" err="1">
                <a:latin typeface="+mn-ea"/>
              </a:rPr>
              <a:t>list.get</a:t>
            </a:r>
            <a:r>
              <a:rPr lang="en-US" altLang="zh-CN" sz="1800" dirty="0">
                <a:latin typeface="+mn-ea"/>
              </a:rPr>
              <a:t>(</a:t>
            </a:r>
            <a:r>
              <a:rPr lang="en-US" altLang="zh-CN" sz="1800" dirty="0" err="1">
                <a:latin typeface="+mn-ea"/>
              </a:rPr>
              <a:t>i</a:t>
            </a:r>
            <a:r>
              <a:rPr lang="en-US" altLang="zh-CN" sz="1800" dirty="0">
                <a:latin typeface="+mn-ea"/>
              </a:rPr>
              <a:t>)[1]</a:t>
            </a:r>
            <a:r>
              <a:rPr lang="zh-CN" altLang="zh-CN" sz="1800" dirty="0">
                <a:latin typeface="+mn-ea"/>
              </a:rPr>
              <a:t>会员人数。</a:t>
            </a:r>
            <a:endParaRPr lang="zh-CN" altLang="en-US" sz="1800" dirty="0">
              <a:latin typeface="+mn-ea"/>
            </a:endParaRPr>
          </a:p>
        </p:txBody>
      </p:sp>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(3) </a:t>
            </a:r>
            <a:r>
              <a:rPr lang="zh-CN" altLang="zh-CN" sz="1800" dirty="0"/>
              <a:t>页面</a:t>
            </a:r>
            <a:r>
              <a:rPr lang="en-US" altLang="zh-CN" sz="1800" dirty="0"/>
              <a:t>3</a:t>
            </a:r>
            <a:r>
              <a:rPr lang="zh-CN" altLang="zh-CN" sz="1800" dirty="0"/>
              <a:t>各省会员人数</a:t>
            </a:r>
            <a:r>
              <a:rPr lang="en-US" altLang="zh-CN" sz="1800" dirty="0"/>
              <a:t>-</a:t>
            </a:r>
            <a:r>
              <a:rPr lang="zh-CN" altLang="en-US" sz="1800" dirty="0"/>
              <a:t>气泡</a:t>
            </a:r>
            <a:r>
              <a:rPr lang="zh-CN" altLang="zh-CN" sz="1800" dirty="0"/>
              <a:t>图</a:t>
            </a:r>
            <a:endParaRPr lang="en-US" altLang="zh-CN" sz="1400" dirty="0">
              <a:latin typeface="+mn-ea"/>
              <a:ea typeface="+mn-ea"/>
            </a:endParaRPr>
          </a:p>
        </p:txBody>
      </p:sp>
      <p:pic>
        <p:nvPicPr>
          <p:cNvPr id="16386" name="Picture 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08" y="4837796"/>
            <a:ext cx="10252239" cy="170098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77</a:t>
            </a:fld>
            <a:endParaRPr lang="zh-CN" altLang="en-US"/>
          </a:p>
        </p:txBody>
      </p:sp>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(3) </a:t>
            </a:r>
            <a:r>
              <a:rPr lang="zh-CN" altLang="zh-CN" sz="1800" dirty="0"/>
              <a:t>页面</a:t>
            </a:r>
            <a:r>
              <a:rPr lang="en-US" altLang="zh-CN" sz="1800" dirty="0"/>
              <a:t>3</a:t>
            </a:r>
            <a:r>
              <a:rPr lang="zh-CN" altLang="en-US" sz="1800" dirty="0"/>
              <a:t>效果</a:t>
            </a:r>
            <a:endParaRPr lang="en-US" altLang="zh-CN" sz="1400" dirty="0">
              <a:latin typeface="+mn-ea"/>
              <a:ea typeface="+mn-ea"/>
            </a:endParaRPr>
          </a:p>
        </p:txBody>
      </p:sp>
      <p:pic>
        <p:nvPicPr>
          <p:cNvPr id="205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658" y="2086737"/>
            <a:ext cx="8409050" cy="4505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78</a:t>
            </a:fld>
            <a:endParaRPr lang="zh-CN" altLang="en-US"/>
          </a:p>
        </p:txBody>
      </p:sp>
      <p:sp>
        <p:nvSpPr>
          <p:cNvPr id="6" name="内容占位符 2"/>
          <p:cNvSpPr txBox="1"/>
          <p:nvPr/>
        </p:nvSpPr>
        <p:spPr>
          <a:xfrm>
            <a:off x="855343" y="2411344"/>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zh-CN" altLang="zh-CN" sz="1800" dirty="0"/>
              <a:t>汇总了男女在</a:t>
            </a:r>
            <a:r>
              <a:rPr lang="en-US" altLang="zh-CN" sz="1800" dirty="0"/>
              <a:t>11</a:t>
            </a:r>
            <a:r>
              <a:rPr lang="zh-CN" altLang="zh-CN" sz="1800" dirty="0"/>
              <a:t>大类的一级商品分类下的购买量，并通过柱状图实现</a:t>
            </a:r>
            <a:endParaRPr lang="en-US" altLang="zh-CN" sz="1800" dirty="0"/>
          </a:p>
          <a:p>
            <a:pPr>
              <a:lnSpc>
                <a:spcPct val="114000"/>
              </a:lnSpc>
            </a:pPr>
            <a:r>
              <a:rPr lang="zh-CN" altLang="zh-CN" sz="1800" dirty="0"/>
              <a:t>蓝色柱状表示女性购买的每一大类商品的交易量，黄色柱状表示男性购买每一大类商品的交易量，鼠标指到具体的某一个柱状图时可以显示当前所指示的是哪一种商品以及对应的男女购买。</a:t>
            </a:r>
            <a:endParaRPr lang="zh-CN" altLang="en-US" sz="1200" dirty="0"/>
          </a:p>
        </p:txBody>
      </p:sp>
      <p:sp>
        <p:nvSpPr>
          <p:cNvPr id="9"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0"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3"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zh-CN" sz="1800" dirty="0"/>
              <a:t>页面</a:t>
            </a:r>
            <a:r>
              <a:rPr lang="en-US" altLang="zh-CN" sz="1800" dirty="0"/>
              <a:t>4-</a:t>
            </a:r>
            <a:r>
              <a:rPr lang="zh-CN" altLang="zh-CN" sz="1800" dirty="0"/>
              <a:t>男女购买商品比例</a:t>
            </a:r>
            <a:r>
              <a:rPr lang="en-US" altLang="zh-CN" sz="1800" dirty="0"/>
              <a:t>-</a:t>
            </a:r>
            <a:r>
              <a:rPr lang="zh-CN" altLang="zh-CN" sz="1800" dirty="0"/>
              <a:t>柱状图</a:t>
            </a:r>
            <a:endParaRPr lang="en-US" altLang="zh-CN" sz="1400" dirty="0">
              <a:latin typeface="+mn-ea"/>
              <a:ea typeface="+mn-ea"/>
            </a:endParaRPr>
          </a:p>
        </p:txBody>
      </p:sp>
      <p:pic>
        <p:nvPicPr>
          <p:cNvPr id="1741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2705" y="3552003"/>
            <a:ext cx="4475819" cy="302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79</a:t>
            </a:fld>
            <a:endParaRPr lang="zh-CN" altLang="en-US"/>
          </a:p>
        </p:txBody>
      </p:sp>
      <p:sp>
        <p:nvSpPr>
          <p:cNvPr id="6" name="内容占位符 2"/>
          <p:cNvSpPr txBox="1"/>
          <p:nvPr/>
        </p:nvSpPr>
        <p:spPr>
          <a:xfrm>
            <a:off x="855343" y="2411344"/>
            <a:ext cx="5356271" cy="29385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t>双</a:t>
            </a:r>
            <a:r>
              <a:rPr lang="zh-CN" altLang="zh-CN" sz="1800" dirty="0"/>
              <a:t>柱状图的数据是从</a:t>
            </a:r>
            <a:r>
              <a:rPr lang="en-US" altLang="zh-CN" sz="1800" dirty="0"/>
              <a:t>MySQL</a:t>
            </a:r>
            <a:r>
              <a:rPr lang="zh-CN" altLang="zh-CN" sz="1800" dirty="0"/>
              <a:t>中获得格式为</a:t>
            </a:r>
            <a:r>
              <a:rPr lang="en-US" altLang="zh-CN" sz="1800" dirty="0"/>
              <a:t>list</a:t>
            </a:r>
            <a:r>
              <a:rPr lang="zh-CN" altLang="zh-CN" sz="1800" dirty="0"/>
              <a:t>的数据之后分为</a:t>
            </a:r>
            <a:r>
              <a:rPr lang="en-US" altLang="zh-CN" sz="1800" dirty="0"/>
              <a:t>data[0]</a:t>
            </a:r>
            <a:r>
              <a:rPr lang="zh-CN" altLang="zh-CN" sz="1800" dirty="0"/>
              <a:t>与</a:t>
            </a:r>
            <a:r>
              <a:rPr lang="en-US" altLang="zh-CN" sz="1800" dirty="0"/>
              <a:t>data[1]</a:t>
            </a:r>
            <a:r>
              <a:rPr lang="zh-CN" altLang="zh-CN" sz="1800" dirty="0"/>
              <a:t>。</a:t>
            </a:r>
            <a:endParaRPr lang="en-US" altLang="zh-CN" sz="1800" dirty="0"/>
          </a:p>
          <a:p>
            <a:pPr>
              <a:lnSpc>
                <a:spcPct val="150000"/>
              </a:lnSpc>
            </a:pPr>
            <a:r>
              <a:rPr lang="en-US" altLang="zh-CN" sz="1800" dirty="0"/>
              <a:t>list</a:t>
            </a:r>
            <a:r>
              <a:rPr lang="zh-CN" altLang="zh-CN" sz="1800" dirty="0"/>
              <a:t>的数据包含三个部分，分别为性别、商品分类和数量，通过判断</a:t>
            </a:r>
            <a:r>
              <a:rPr lang="en-US" altLang="zh-CN" sz="1800" dirty="0"/>
              <a:t>list</a:t>
            </a:r>
            <a:r>
              <a:rPr lang="zh-CN" altLang="zh-CN" sz="1800" dirty="0"/>
              <a:t>中的第</a:t>
            </a:r>
            <a:r>
              <a:rPr lang="en-US" altLang="zh-CN" sz="1800" dirty="0"/>
              <a:t>0</a:t>
            </a:r>
            <a:r>
              <a:rPr lang="zh-CN" altLang="zh-CN" sz="1800" dirty="0"/>
              <a:t>列是</a:t>
            </a:r>
            <a:r>
              <a:rPr lang="en-US" altLang="zh-CN" sz="1800" dirty="0"/>
              <a:t>FEMALE</a:t>
            </a:r>
            <a:r>
              <a:rPr lang="zh-CN" altLang="zh-CN" sz="1800" dirty="0"/>
              <a:t>还是</a:t>
            </a:r>
            <a:r>
              <a:rPr lang="en-US" altLang="zh-CN" sz="1800" dirty="0"/>
              <a:t>MALE</a:t>
            </a:r>
            <a:r>
              <a:rPr lang="zh-CN" altLang="zh-CN" sz="1800" dirty="0"/>
              <a:t>来为</a:t>
            </a:r>
            <a:r>
              <a:rPr lang="en-US" altLang="zh-CN" sz="1800" dirty="0"/>
              <a:t>data[0]</a:t>
            </a:r>
            <a:r>
              <a:rPr lang="zh-CN" altLang="zh-CN" sz="1800" dirty="0"/>
              <a:t>和</a:t>
            </a:r>
            <a:r>
              <a:rPr lang="en-US" altLang="zh-CN" sz="1800" dirty="0"/>
              <a:t>data[1]</a:t>
            </a:r>
            <a:r>
              <a:rPr lang="zh-CN" altLang="zh-CN" sz="1800" dirty="0"/>
              <a:t>输入数量数据。</a:t>
            </a:r>
            <a:endParaRPr lang="en-US" altLang="zh-CN" sz="1800" dirty="0"/>
          </a:p>
          <a:p>
            <a:pPr>
              <a:lnSpc>
                <a:spcPct val="150000"/>
              </a:lnSpc>
            </a:pPr>
            <a:r>
              <a:rPr lang="zh-CN" altLang="zh-CN" sz="1800" dirty="0"/>
              <a:t>这里用</a:t>
            </a:r>
            <a:r>
              <a:rPr lang="en-US" altLang="zh-CN" sz="1800" dirty="0"/>
              <a:t>data[0]</a:t>
            </a:r>
            <a:r>
              <a:rPr lang="zh-CN" altLang="zh-CN" sz="1800" dirty="0"/>
              <a:t>表示女性购买各类商品的交易量，</a:t>
            </a:r>
            <a:r>
              <a:rPr lang="en-US" altLang="zh-CN" sz="1800" dirty="0"/>
              <a:t>data[1]</a:t>
            </a:r>
            <a:r>
              <a:rPr lang="zh-CN" altLang="zh-CN" sz="1800" dirty="0"/>
              <a:t>表示男性购买各类商品的交易量。</a:t>
            </a:r>
            <a:endParaRPr lang="zh-CN" altLang="en-US" sz="1200" dirty="0"/>
          </a:p>
        </p:txBody>
      </p:sp>
      <p:pic>
        <p:nvPicPr>
          <p:cNvPr id="7" name="图片 1"/>
          <p:cNvPicPr>
            <a:picLocks noChangeAspect="1"/>
          </p:cNvPicPr>
          <p:nvPr/>
        </p:nvPicPr>
        <p:blipFill>
          <a:blip r:embed="rId3"/>
          <a:stretch>
            <a:fillRect/>
          </a:stretch>
        </p:blipFill>
        <p:spPr>
          <a:xfrm>
            <a:off x="6870644" y="1570355"/>
            <a:ext cx="4666746" cy="4666746"/>
          </a:xfrm>
          <a:prstGeom prst="rect">
            <a:avLst/>
          </a:prstGeom>
          <a:noFill/>
          <a:ln>
            <a:solidFill>
              <a:schemeClr val="bg2"/>
            </a:solidFill>
          </a:ln>
        </p:spPr>
      </p:pic>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zh-CN" sz="1800" dirty="0"/>
              <a:t>页面</a:t>
            </a:r>
            <a:r>
              <a:rPr lang="en-US" altLang="zh-CN" sz="1800" dirty="0"/>
              <a:t>4-</a:t>
            </a:r>
            <a:r>
              <a:rPr lang="zh-CN" altLang="zh-CN" sz="1800" dirty="0"/>
              <a:t>男女购买商品比例</a:t>
            </a:r>
            <a:r>
              <a:rPr lang="en-US" altLang="zh-CN" sz="1800" dirty="0"/>
              <a:t>-</a:t>
            </a:r>
            <a:r>
              <a:rPr lang="zh-CN" altLang="zh-CN" sz="1800" dirty="0"/>
              <a:t>柱状图</a:t>
            </a:r>
            <a:endParaRPr lang="en-US" altLang="zh-CN" sz="1400" dirty="0">
              <a:latin typeface="+mn-ea"/>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80</a:t>
            </a:fld>
            <a:endParaRPr lang="zh-CN" altLang="en-US"/>
          </a:p>
        </p:txBody>
      </p:sp>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(4) </a:t>
            </a:r>
            <a:r>
              <a:rPr lang="zh-CN" altLang="zh-CN" sz="1800" dirty="0"/>
              <a:t>页面</a:t>
            </a:r>
            <a:r>
              <a:rPr lang="en-US" altLang="zh-CN" sz="1800" dirty="0"/>
              <a:t>4</a:t>
            </a:r>
            <a:r>
              <a:rPr lang="zh-CN" altLang="en-US" sz="1800" dirty="0"/>
              <a:t>效果</a:t>
            </a:r>
            <a:endParaRPr lang="en-US" altLang="zh-CN" sz="1400" dirty="0">
              <a:latin typeface="+mn-ea"/>
              <a:ea typeface="+mn-ea"/>
            </a:endParaRPr>
          </a:p>
        </p:txBody>
      </p:sp>
      <p:pic>
        <p:nvPicPr>
          <p:cNvPr id="18434"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t="784" b="1"/>
          <a:stretch>
            <a:fillRect/>
          </a:stretch>
        </p:blipFill>
        <p:spPr bwMode="auto">
          <a:xfrm>
            <a:off x="2494125" y="2017985"/>
            <a:ext cx="8582641" cy="455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81</a:t>
            </a:fld>
            <a:endParaRPr lang="zh-CN" altLang="en-US"/>
          </a:p>
        </p:txBody>
      </p:sp>
      <p:sp>
        <p:nvSpPr>
          <p:cNvPr id="6" name="内容占位符 2"/>
          <p:cNvSpPr txBox="1"/>
          <p:nvPr/>
        </p:nvSpPr>
        <p:spPr>
          <a:xfrm>
            <a:off x="855343" y="2298667"/>
            <a:ext cx="10368455" cy="14566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zh-CN" altLang="zh-CN" sz="1800" dirty="0">
                <a:latin typeface="+mn-ea"/>
              </a:rPr>
              <a:t>通过</a:t>
            </a:r>
            <a:r>
              <a:rPr lang="en-US" altLang="zh-CN" sz="1800" dirty="0">
                <a:latin typeface="+mn-ea"/>
              </a:rPr>
              <a:t>SPARK</a:t>
            </a:r>
            <a:r>
              <a:rPr lang="zh-CN" altLang="zh-CN" sz="1800" dirty="0">
                <a:latin typeface="+mn-ea"/>
              </a:rPr>
              <a:t>数据分析得到的商品购买关系</a:t>
            </a:r>
            <a:r>
              <a:rPr lang="zh-CN" altLang="en-US" sz="1800" dirty="0">
                <a:latin typeface="+mn-ea"/>
              </a:rPr>
              <a:t>以关系图的方式进行可视化展示</a:t>
            </a:r>
            <a:endParaRPr lang="en-US" altLang="zh-CN" sz="1800" dirty="0">
              <a:latin typeface="+mn-ea"/>
            </a:endParaRPr>
          </a:p>
          <a:p>
            <a:pPr>
              <a:lnSpc>
                <a:spcPct val="114000"/>
              </a:lnSpc>
            </a:pPr>
            <a:r>
              <a:rPr lang="zh-CN" altLang="zh-CN" sz="1800" dirty="0">
                <a:latin typeface="+mn-ea"/>
              </a:rPr>
              <a:t>以散点来代表商品名称，以弧线来表示商品之间的购买关系，并通过弧线的粗细来体现购买关系的强弱，即更粗的弧线表示购买的可能性更大。鼠标指针指示到具体的弧线时能够显示购买关系，如图中所示，</a:t>
            </a:r>
            <a:r>
              <a:rPr lang="en-US" altLang="zh-CN" sz="1800" dirty="0">
                <a:latin typeface="+mn-ea"/>
              </a:rPr>
              <a:t>CARROT&gt;CURLY</a:t>
            </a:r>
            <a:r>
              <a:rPr lang="zh-CN" altLang="zh-CN" sz="1800" dirty="0">
                <a:latin typeface="+mn-ea"/>
              </a:rPr>
              <a:t>表示购买了</a:t>
            </a:r>
            <a:r>
              <a:rPr lang="en-US" altLang="zh-CN" sz="1800" dirty="0">
                <a:latin typeface="+mn-ea"/>
              </a:rPr>
              <a:t>CARROT</a:t>
            </a:r>
            <a:r>
              <a:rPr lang="zh-CN" altLang="zh-CN" sz="1800" dirty="0">
                <a:latin typeface="+mn-ea"/>
              </a:rPr>
              <a:t>之后还有可能购买</a:t>
            </a:r>
            <a:r>
              <a:rPr lang="en-US" altLang="zh-CN" sz="1800" dirty="0">
                <a:latin typeface="+mn-ea"/>
              </a:rPr>
              <a:t>CURLY</a:t>
            </a:r>
            <a:r>
              <a:rPr lang="zh-CN" altLang="zh-CN" sz="1800" dirty="0">
                <a:latin typeface="+mn-ea"/>
              </a:rPr>
              <a:t>。</a:t>
            </a:r>
            <a:endParaRPr lang="zh-CN" altLang="en-US" sz="1200" dirty="0">
              <a:latin typeface="+mn-ea"/>
            </a:endParaRPr>
          </a:p>
        </p:txBody>
      </p:sp>
      <p:sp>
        <p:nvSpPr>
          <p:cNvPr id="8"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9"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2" name="内容占位符 2"/>
          <p:cNvSpPr>
            <a:spLocks noGrp="1"/>
          </p:cNvSpPr>
          <p:nvPr/>
        </p:nvSpPr>
        <p:spPr>
          <a:xfrm>
            <a:off x="854708" y="1951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(5) </a:t>
            </a:r>
            <a:r>
              <a:rPr lang="zh-CN" altLang="zh-CN" sz="1800" dirty="0"/>
              <a:t>页面</a:t>
            </a:r>
            <a:r>
              <a:rPr lang="en-US" altLang="zh-CN" sz="1800" dirty="0"/>
              <a:t>5</a:t>
            </a:r>
            <a:r>
              <a:rPr lang="zh-CN" altLang="zh-CN" sz="1800" dirty="0"/>
              <a:t>商品购买关系</a:t>
            </a:r>
            <a:r>
              <a:rPr lang="en-US" altLang="zh-CN" sz="1800" dirty="0"/>
              <a:t>-</a:t>
            </a:r>
            <a:r>
              <a:rPr lang="zh-CN" altLang="zh-CN" sz="1800" dirty="0"/>
              <a:t>关系图</a:t>
            </a:r>
            <a:endParaRPr lang="en-US" altLang="zh-CN" sz="1400" dirty="0">
              <a:latin typeface="+mn-ea"/>
              <a:ea typeface="+mn-ea"/>
            </a:endParaRPr>
          </a:p>
        </p:txBody>
      </p:sp>
      <p:pic>
        <p:nvPicPr>
          <p:cNvPr id="19458"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597" y="3829611"/>
            <a:ext cx="3609975"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82</a:t>
            </a:fld>
            <a:endParaRPr lang="zh-CN" altLang="en-US"/>
          </a:p>
        </p:txBody>
      </p:sp>
      <p:sp>
        <p:nvSpPr>
          <p:cNvPr id="6" name="内容占位符 2"/>
          <p:cNvSpPr txBox="1"/>
          <p:nvPr/>
        </p:nvSpPr>
        <p:spPr>
          <a:xfrm>
            <a:off x="855343" y="2411344"/>
            <a:ext cx="6585981" cy="33957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zh-CN" sz="1600" dirty="0"/>
              <a:t>本页面的数据是从</a:t>
            </a:r>
            <a:r>
              <a:rPr lang="en-US" altLang="zh-CN" sz="1600" dirty="0"/>
              <a:t>MySQL</a:t>
            </a:r>
            <a:r>
              <a:rPr lang="zh-CN" altLang="zh-CN" sz="1600" dirty="0"/>
              <a:t>中获得的，该数据包含两个</a:t>
            </a:r>
            <a:r>
              <a:rPr lang="en-US" altLang="zh-CN" sz="1600" dirty="0"/>
              <a:t>list</a:t>
            </a:r>
            <a:r>
              <a:rPr lang="zh-CN" altLang="zh-CN" sz="1600" dirty="0"/>
              <a:t>，其中</a:t>
            </a:r>
            <a:r>
              <a:rPr lang="en-US" altLang="zh-CN" sz="1600" dirty="0"/>
              <a:t>list</a:t>
            </a:r>
            <a:r>
              <a:rPr lang="zh-CN" altLang="zh-CN" sz="1600" dirty="0"/>
              <a:t>表示商品关系，</a:t>
            </a:r>
            <a:r>
              <a:rPr lang="en-US" altLang="zh-CN" sz="1600" dirty="0"/>
              <a:t>list2</a:t>
            </a:r>
            <a:r>
              <a:rPr lang="zh-CN" altLang="zh-CN" sz="1600" dirty="0"/>
              <a:t>表示对应商品名称。</a:t>
            </a:r>
            <a:endParaRPr lang="en-US" altLang="zh-CN" sz="1600" dirty="0"/>
          </a:p>
          <a:p>
            <a:pPr>
              <a:lnSpc>
                <a:spcPct val="150000"/>
              </a:lnSpc>
            </a:pPr>
            <a:r>
              <a:rPr lang="zh-CN" altLang="zh-CN" sz="1600" dirty="0"/>
              <a:t>节点</a:t>
            </a:r>
            <a:r>
              <a:rPr lang="en-US" altLang="zh-CN" sz="1600" dirty="0"/>
              <a:t>nodes</a:t>
            </a:r>
            <a:r>
              <a:rPr lang="zh-CN" altLang="zh-CN" sz="1600" dirty="0"/>
              <a:t>需要给出节点名称，并为该节点打上标号</a:t>
            </a:r>
            <a:endParaRPr lang="en-US" altLang="zh-CN" sz="1600" dirty="0"/>
          </a:p>
          <a:p>
            <a:pPr lvl="1">
              <a:lnSpc>
                <a:spcPct val="150000"/>
              </a:lnSpc>
            </a:pPr>
            <a:r>
              <a:rPr lang="zh-CN" altLang="zh-CN" sz="1600" dirty="0"/>
              <a:t>具体格式为：</a:t>
            </a:r>
            <a:r>
              <a:rPr lang="en-US" altLang="zh-CN" sz="1600" dirty="0"/>
              <a:t>{name:’</a:t>
            </a:r>
            <a:r>
              <a:rPr lang="zh-CN" altLang="zh-CN" sz="1600" dirty="0"/>
              <a:t>节点名称</a:t>
            </a:r>
            <a:r>
              <a:rPr lang="en-US" altLang="zh-CN" sz="1600" dirty="0"/>
              <a:t>’, id :’</a:t>
            </a:r>
            <a:r>
              <a:rPr lang="zh-CN" altLang="zh-CN" sz="1600" dirty="0"/>
              <a:t>节点编号</a:t>
            </a:r>
            <a:r>
              <a:rPr lang="en-US" altLang="zh-CN" sz="1600" dirty="0"/>
              <a:t>’}</a:t>
            </a:r>
            <a:r>
              <a:rPr lang="zh-CN" altLang="zh-CN" sz="1600" dirty="0"/>
              <a:t>。</a:t>
            </a:r>
            <a:endParaRPr lang="en-US" altLang="zh-CN" sz="1600" dirty="0"/>
          </a:p>
          <a:p>
            <a:pPr>
              <a:lnSpc>
                <a:spcPct val="150000"/>
              </a:lnSpc>
            </a:pPr>
            <a:r>
              <a:rPr lang="zh-CN" altLang="zh-CN" sz="1600" dirty="0"/>
              <a:t>连接线，需要给出</a:t>
            </a:r>
            <a:r>
              <a:rPr lang="en-US" altLang="zh-CN" sz="1600" dirty="0"/>
              <a:t>source</a:t>
            </a:r>
            <a:r>
              <a:rPr lang="zh-CN" altLang="zh-CN" sz="1600" dirty="0"/>
              <a:t>节点和</a:t>
            </a:r>
            <a:r>
              <a:rPr lang="en-US" altLang="zh-CN" sz="1600" dirty="0"/>
              <a:t>target</a:t>
            </a:r>
            <a:r>
              <a:rPr lang="zh-CN" altLang="zh-CN" sz="1600" dirty="0"/>
              <a:t>节点，以及</a:t>
            </a:r>
            <a:r>
              <a:rPr lang="en-US" altLang="zh-CN" sz="1600" dirty="0"/>
              <a:t>relation</a:t>
            </a:r>
          </a:p>
          <a:p>
            <a:pPr lvl="1">
              <a:lnSpc>
                <a:spcPct val="150000"/>
              </a:lnSpc>
            </a:pPr>
            <a:r>
              <a:rPr lang="zh-CN" altLang="zh-CN" sz="1600" dirty="0"/>
              <a:t>具体格式为：</a:t>
            </a:r>
            <a:r>
              <a:rPr lang="en-US" altLang="zh-CN" sz="1600" dirty="0"/>
              <a:t>{</a:t>
            </a:r>
            <a:r>
              <a:rPr lang="en-US" altLang="zh-CN" sz="1600" dirty="0" err="1"/>
              <a:t>source:’source</a:t>
            </a:r>
            <a:r>
              <a:rPr lang="zh-CN" altLang="zh-CN" sz="1600" dirty="0"/>
              <a:t>节点</a:t>
            </a:r>
            <a:r>
              <a:rPr lang="en-US" altLang="zh-CN" sz="1600" dirty="0"/>
              <a:t>id’, </a:t>
            </a:r>
            <a:r>
              <a:rPr lang="en-US" altLang="zh-CN" sz="1600" dirty="0" err="1"/>
              <a:t>target:’target</a:t>
            </a:r>
            <a:r>
              <a:rPr lang="zh-CN" altLang="zh-CN" sz="1600" dirty="0"/>
              <a:t>节点</a:t>
            </a:r>
            <a:r>
              <a:rPr lang="en-US" altLang="zh-CN" sz="1600" dirty="0" err="1"/>
              <a:t>id’,relation</a:t>
            </a:r>
            <a:r>
              <a:rPr lang="en-US" altLang="zh-CN" sz="1600" dirty="0"/>
              <a:t>:{name:’</a:t>
            </a:r>
            <a:r>
              <a:rPr lang="zh-CN" altLang="zh-CN" sz="1600" dirty="0"/>
              <a:t>连接线名称</a:t>
            </a:r>
            <a:r>
              <a:rPr lang="en-US" altLang="zh-CN" sz="1600" dirty="0"/>
              <a:t>’}}</a:t>
            </a:r>
            <a:r>
              <a:rPr lang="zh-CN" altLang="zh-CN" sz="1600" dirty="0"/>
              <a:t>，若想根据关系设计不同粗细的弧线，需再加上</a:t>
            </a:r>
            <a:r>
              <a:rPr lang="en-US" altLang="zh-CN" sz="1600" dirty="0" err="1"/>
              <a:t>lineStyle</a:t>
            </a:r>
            <a:r>
              <a:rPr lang="en-US" altLang="zh-CN" sz="1600" dirty="0"/>
              <a:t>:{width:’</a:t>
            </a:r>
            <a:r>
              <a:rPr lang="zh-CN" altLang="zh-CN" sz="1600" dirty="0"/>
              <a:t>粗细程度</a:t>
            </a:r>
            <a:r>
              <a:rPr lang="en-US" altLang="zh-CN" sz="1600" dirty="0"/>
              <a:t>’}}</a:t>
            </a:r>
            <a:r>
              <a:rPr lang="zh-CN" altLang="zh-CN" sz="1600" dirty="0"/>
              <a:t>。</a:t>
            </a:r>
            <a:endParaRPr lang="en-US" altLang="zh-CN" sz="1600" dirty="0"/>
          </a:p>
        </p:txBody>
      </p:sp>
      <p:sp>
        <p:nvSpPr>
          <p:cNvPr id="9"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10"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3" name="内容占位符 2"/>
          <p:cNvSpPr>
            <a:spLocks noGrp="1"/>
          </p:cNvSpPr>
          <p:nvPr/>
        </p:nvSpPr>
        <p:spPr>
          <a:xfrm>
            <a:off x="854708" y="1951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(5) </a:t>
            </a:r>
            <a:r>
              <a:rPr lang="zh-CN" altLang="zh-CN" sz="1800" dirty="0"/>
              <a:t>页面</a:t>
            </a:r>
            <a:r>
              <a:rPr lang="en-US" altLang="zh-CN" sz="1800" dirty="0"/>
              <a:t>5</a:t>
            </a:r>
            <a:r>
              <a:rPr lang="zh-CN" altLang="zh-CN" sz="1800" dirty="0"/>
              <a:t>商品购买关系</a:t>
            </a:r>
            <a:r>
              <a:rPr lang="en-US" altLang="zh-CN" sz="1800" dirty="0"/>
              <a:t>-</a:t>
            </a:r>
            <a:r>
              <a:rPr lang="zh-CN" altLang="zh-CN" sz="1800" dirty="0"/>
              <a:t>关系图</a:t>
            </a:r>
            <a:endParaRPr lang="en-US" altLang="zh-CN" sz="1400" dirty="0">
              <a:latin typeface="+mn-ea"/>
              <a:ea typeface="+mn-ea"/>
            </a:endParaRPr>
          </a:p>
        </p:txBody>
      </p:sp>
      <p:pic>
        <p:nvPicPr>
          <p:cNvPr id="20482" name="Picture 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189" y="2411344"/>
            <a:ext cx="3820756" cy="148347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0483" name="Picture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189" y="4109235"/>
            <a:ext cx="3864004" cy="13037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3.4.3 </a:t>
            </a:r>
            <a:r>
              <a:rPr lang="zh-CN" altLang="en-US" dirty="0"/>
              <a:t>可视化展示</a:t>
            </a:r>
          </a:p>
        </p:txBody>
      </p:sp>
      <p:sp>
        <p:nvSpPr>
          <p:cNvPr id="3" name="Slide Number Placeholder 2"/>
          <p:cNvSpPr>
            <a:spLocks noGrp="1"/>
          </p:cNvSpPr>
          <p:nvPr>
            <p:ph type="sldNum" sz="quarter" idx="12"/>
          </p:nvPr>
        </p:nvSpPr>
        <p:spPr/>
        <p:txBody>
          <a:bodyPr/>
          <a:lstStyle/>
          <a:p>
            <a:fld id="{565CE74E-AB26-4998-AD42-012C4C1AD076}" type="slidenum">
              <a:rPr lang="zh-CN" altLang="en-US" smtClean="0"/>
              <a:t>83</a:t>
            </a:fld>
            <a:endParaRPr lang="zh-CN" altLang="en-US"/>
          </a:p>
        </p:txBody>
      </p:sp>
      <p:sp>
        <p:nvSpPr>
          <p:cNvPr id="7" name="内容占位符 2"/>
          <p:cNvSpPr>
            <a:spLocks noGrp="1"/>
          </p:cNvSpPr>
          <p:nvPr/>
        </p:nvSpPr>
        <p:spPr>
          <a:xfrm>
            <a:off x="855345" y="1064260"/>
            <a:ext cx="6153785" cy="356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b="1" dirty="0"/>
              <a:t>2. </a:t>
            </a:r>
            <a:r>
              <a:rPr lang="zh-CN" altLang="en-US" sz="1800" b="1" dirty="0"/>
              <a:t>代码详解及对应页面效果图</a:t>
            </a:r>
          </a:p>
        </p:txBody>
      </p:sp>
      <p:sp>
        <p:nvSpPr>
          <p:cNvPr id="8" name="五边形 25"/>
          <p:cNvSpPr/>
          <p:nvPr/>
        </p:nvSpPr>
        <p:spPr>
          <a:xfrm>
            <a:off x="527050" y="1089660"/>
            <a:ext cx="237490" cy="274955"/>
          </a:xfrm>
          <a:prstGeom prst="homePlate">
            <a:avLst/>
          </a:prstGeom>
          <a:solidFill>
            <a:srgbClr val="156F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0" name="内容占位符 2"/>
          <p:cNvSpPr>
            <a:spLocks noGrp="1"/>
          </p:cNvSpPr>
          <p:nvPr/>
        </p:nvSpPr>
        <p:spPr>
          <a:xfrm>
            <a:off x="854708" y="1555616"/>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latin typeface="+mn-ea"/>
                <a:ea typeface="+mn-ea"/>
              </a:rPr>
              <a:t>3) </a:t>
            </a:r>
            <a:r>
              <a:rPr lang="zh-CN" altLang="zh-CN" sz="1800" dirty="0"/>
              <a:t>可视化页面设计</a:t>
            </a:r>
            <a:endParaRPr lang="en-US" altLang="zh-CN" sz="1800" dirty="0">
              <a:latin typeface="+mn-ea"/>
              <a:ea typeface="+mn-ea"/>
            </a:endParaRPr>
          </a:p>
        </p:txBody>
      </p:sp>
      <p:sp>
        <p:nvSpPr>
          <p:cNvPr id="11" name="内容占位符 2"/>
          <p:cNvSpPr>
            <a:spLocks noGrp="1"/>
          </p:cNvSpPr>
          <p:nvPr/>
        </p:nvSpPr>
        <p:spPr>
          <a:xfrm>
            <a:off x="854708" y="2086737"/>
            <a:ext cx="10080000" cy="39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800" dirty="0"/>
              <a:t>(5) </a:t>
            </a:r>
            <a:r>
              <a:rPr lang="zh-CN" altLang="zh-CN" sz="1800" dirty="0"/>
              <a:t>页面</a:t>
            </a:r>
            <a:r>
              <a:rPr lang="en-US" altLang="zh-CN" sz="1800" dirty="0"/>
              <a:t>5</a:t>
            </a:r>
            <a:r>
              <a:rPr lang="zh-CN" altLang="en-US" sz="1800" dirty="0"/>
              <a:t>效果</a:t>
            </a:r>
            <a:endParaRPr lang="en-US" altLang="zh-CN" sz="1400" dirty="0">
              <a:latin typeface="+mn-ea"/>
              <a:ea typeface="+mn-ea"/>
            </a:endParaRPr>
          </a:p>
        </p:txBody>
      </p:sp>
      <p:pic>
        <p:nvPicPr>
          <p:cNvPr id="21506"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923" y="1951616"/>
            <a:ext cx="9164413" cy="457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2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LOCALPRESID" val="17887932464212249"/>
</p:tagLst>
</file>

<file path=ppt/tags/tag2.xml><?xml version="1.0" encoding="utf-8"?>
<p:tagLst xmlns:a="http://schemas.openxmlformats.org/drawingml/2006/main" xmlns:r="http://schemas.openxmlformats.org/officeDocument/2006/relationships" xmlns:p="http://schemas.openxmlformats.org/presentationml/2006/main">
  <p:tag name="LOCALSLIDEID" val="17887932464366187"/>
</p:tagLst>
</file>

<file path=ppt/tags/tag3.xml><?xml version="1.0" encoding="utf-8"?>
<p:tagLst xmlns:a="http://schemas.openxmlformats.org/drawingml/2006/main" xmlns:r="http://schemas.openxmlformats.org/officeDocument/2006/relationships" xmlns:p="http://schemas.openxmlformats.org/presentationml/2006/main">
  <p:tag name="LOCALSLIDEID" val="17887932464364027"/>
</p:tagLst>
</file>

<file path=ppt/tags/tag4.xml><?xml version="1.0" encoding="utf-8"?>
<p:tagLst xmlns:a="http://schemas.openxmlformats.org/drawingml/2006/main" xmlns:r="http://schemas.openxmlformats.org/officeDocument/2006/relationships" xmlns:p="http://schemas.openxmlformats.org/presentationml/2006/main">
  <p:tag name="LOCALSLIDEID" val="17887932464463520"/>
</p:tagLst>
</file>

<file path=ppt/tags/tag5.xml><?xml version="1.0" encoding="utf-8"?>
<p:tagLst xmlns:a="http://schemas.openxmlformats.org/drawingml/2006/main" xmlns:r="http://schemas.openxmlformats.org/officeDocument/2006/relationships" xmlns:p="http://schemas.openxmlformats.org/presentationml/2006/main">
  <p:tag name="LOCALSLIDEID" val="17887932464668760"/>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a4919e0e-1b39-494d-bf09-a4d89eb0a4ae}"/>
  <p:tag name="TABLE_ENDDRAG_ORIGIN_RECT" val="424*153"/>
  <p:tag name="TABLE_ENDDRAG_RECT" val="482*112*424*153"/>
</p:tagLst>
</file>

<file path=ppt/tags/tag7.xml><?xml version="1.0" encoding="utf-8"?>
<p:tagLst xmlns:a="http://schemas.openxmlformats.org/drawingml/2006/main" xmlns:r="http://schemas.openxmlformats.org/officeDocument/2006/relationships" xmlns:p="http://schemas.openxmlformats.org/presentationml/2006/main">
  <p:tag name="LOCALSLIDEID" val="17887932464762689"/>
</p:tagLst>
</file>

<file path=ppt/tags/tag8.xml><?xml version="1.0" encoding="utf-8"?>
<p:tagLst xmlns:a="http://schemas.openxmlformats.org/drawingml/2006/main" xmlns:r="http://schemas.openxmlformats.org/officeDocument/2006/relationships" xmlns:p="http://schemas.openxmlformats.org/presentationml/2006/main">
  <p:tag name="LOCALSLIDEID" val="17887932464816369"/>
</p:tagLst>
</file>

<file path=ppt/tags/tag9.xml><?xml version="1.0" encoding="utf-8"?>
<p:tagLst xmlns:a="http://schemas.openxmlformats.org/drawingml/2006/main" xmlns:r="http://schemas.openxmlformats.org/officeDocument/2006/relationships" xmlns:p="http://schemas.openxmlformats.org/presentationml/2006/main">
  <p:tag name="LOCALSLIDEID" val="17887932464911091"/>
</p:tagLst>
</file>

<file path=ppt/tags/tag10.xml><?xml version="1.0" encoding="utf-8"?>
<p:tagLst xmlns:a="http://schemas.openxmlformats.org/drawingml/2006/main" xmlns:r="http://schemas.openxmlformats.org/officeDocument/2006/relationships" xmlns:p="http://schemas.openxmlformats.org/presentationml/2006/main">
  <p:tag name="LOCALSLIDEID" val="17887932465014067"/>
</p:tagLst>
</file>

<file path=ppt/tags/tag11.xml><?xml version="1.0" encoding="utf-8"?>
<p:tagLst xmlns:a="http://schemas.openxmlformats.org/drawingml/2006/main" xmlns:r="http://schemas.openxmlformats.org/officeDocument/2006/relationships" xmlns:p="http://schemas.openxmlformats.org/presentationml/2006/main">
  <p:tag name="LOCALSLIDEID" val="17887932465062371"/>
</p:tagLst>
</file>

<file path=ppt/tags/tag12.xml><?xml version="1.0" encoding="utf-8"?>
<p:tagLst xmlns:a="http://schemas.openxmlformats.org/drawingml/2006/main" xmlns:r="http://schemas.openxmlformats.org/officeDocument/2006/relationships" xmlns:p="http://schemas.openxmlformats.org/presentationml/2006/main">
  <p:tag name="LOCALSLIDEID" val="17887932465118401"/>
</p:tagLst>
</file>

<file path=ppt/tags/tag13.xml><?xml version="1.0" encoding="utf-8"?>
<p:tagLst xmlns:a="http://schemas.openxmlformats.org/drawingml/2006/main" xmlns:r="http://schemas.openxmlformats.org/officeDocument/2006/relationships" xmlns:p="http://schemas.openxmlformats.org/presentationml/2006/main">
  <p:tag name="LOCALSLIDEID" val="17887932465262420"/>
</p:tagLst>
</file>

<file path=ppt/tags/tag14.xml><?xml version="1.0" encoding="utf-8"?>
<p:tagLst xmlns:a="http://schemas.openxmlformats.org/drawingml/2006/main" xmlns:r="http://schemas.openxmlformats.org/officeDocument/2006/relationships" xmlns:p="http://schemas.openxmlformats.org/presentationml/2006/main">
  <p:tag name="LOCALSLIDEID" val="17887932465310826"/>
</p:tagLst>
</file>

<file path=ppt/tags/tag15.xml><?xml version="1.0" encoding="utf-8"?>
<p:tagLst xmlns:a="http://schemas.openxmlformats.org/drawingml/2006/main" xmlns:r="http://schemas.openxmlformats.org/officeDocument/2006/relationships" xmlns:p="http://schemas.openxmlformats.org/presentationml/2006/main">
  <p:tag name="LOCALSLIDEID" val="17887932465411351"/>
</p:tagLst>
</file>

<file path=ppt/tags/tag16.xml><?xml version="1.0" encoding="utf-8"?>
<p:tagLst xmlns:a="http://schemas.openxmlformats.org/drawingml/2006/main" xmlns:r="http://schemas.openxmlformats.org/officeDocument/2006/relationships" xmlns:p="http://schemas.openxmlformats.org/presentationml/2006/main">
  <p:tag name="LOCALSLIDEID" val="17887932465462568"/>
</p:tagLst>
</file>

<file path=ppt/tags/tag17.xml><?xml version="1.0" encoding="utf-8"?>
<p:tagLst xmlns:a="http://schemas.openxmlformats.org/drawingml/2006/main" xmlns:r="http://schemas.openxmlformats.org/officeDocument/2006/relationships" xmlns:p="http://schemas.openxmlformats.org/presentationml/2006/main">
  <p:tag name="LOCALSLIDEID" val="17887932465569935"/>
</p:tagLst>
</file>

<file path=ppt/tags/tag18.xml><?xml version="1.0" encoding="utf-8"?>
<p:tagLst xmlns:a="http://schemas.openxmlformats.org/drawingml/2006/main" xmlns:r="http://schemas.openxmlformats.org/officeDocument/2006/relationships" xmlns:p="http://schemas.openxmlformats.org/presentationml/2006/main">
  <p:tag name="LOCALSLIDEID" val="17887932465612643"/>
</p:tagLst>
</file>

<file path=ppt/tags/tag19.xml><?xml version="1.0" encoding="utf-8"?>
<p:tagLst xmlns:a="http://schemas.openxmlformats.org/drawingml/2006/main" xmlns:r="http://schemas.openxmlformats.org/officeDocument/2006/relationships" xmlns:p="http://schemas.openxmlformats.org/presentationml/2006/main">
  <p:tag name="LOCALSLIDEID" val="17887932465718575"/>
</p:tagLst>
</file>

<file path=ppt/tags/tag20.xml><?xml version="1.0" encoding="utf-8"?>
<p:tagLst xmlns:a="http://schemas.openxmlformats.org/drawingml/2006/main" xmlns:r="http://schemas.openxmlformats.org/officeDocument/2006/relationships" xmlns:p="http://schemas.openxmlformats.org/presentationml/2006/main">
  <p:tag name="LOCALSLIDEID" val="17887932465819868"/>
</p:tagLst>
</file>

<file path=ppt/tags/tag21.xml><?xml version="1.0" encoding="utf-8"?>
<p:tagLst xmlns:a="http://schemas.openxmlformats.org/drawingml/2006/main" xmlns:r="http://schemas.openxmlformats.org/officeDocument/2006/relationships" xmlns:p="http://schemas.openxmlformats.org/presentationml/2006/main">
  <p:tag name="LOCALSLIDEID" val="17887932465918844"/>
</p:tagLst>
</file>

<file path=ppt/tags/tag22.xml><?xml version="1.0" encoding="utf-8"?>
<p:tagLst xmlns:a="http://schemas.openxmlformats.org/drawingml/2006/main" xmlns:r="http://schemas.openxmlformats.org/officeDocument/2006/relationships" xmlns:p="http://schemas.openxmlformats.org/presentationml/2006/main">
  <p:tag name="LOCALSLIDEID" val="17887932466017937"/>
</p:tagLst>
</file>

<file path=ppt/tags/tag23.xml><?xml version="1.0" encoding="utf-8"?>
<p:tagLst xmlns:a="http://schemas.openxmlformats.org/drawingml/2006/main" xmlns:r="http://schemas.openxmlformats.org/officeDocument/2006/relationships" xmlns:p="http://schemas.openxmlformats.org/presentationml/2006/main">
  <p:tag name="LOCALSLIDEID" val="17887932466067947"/>
</p:tagLst>
</file>

<file path=ppt/tags/tag24.xml><?xml version="1.0" encoding="utf-8"?>
<p:tagLst xmlns:a="http://schemas.openxmlformats.org/drawingml/2006/main" xmlns:r="http://schemas.openxmlformats.org/officeDocument/2006/relationships" xmlns:p="http://schemas.openxmlformats.org/presentationml/2006/main">
  <p:tag name="LOCALSLIDEID" val="17887932466166368"/>
</p:tagLst>
</file>

<file path=ppt/tags/tag25.xml><?xml version="1.0" encoding="utf-8"?>
<p:tagLst xmlns:a="http://schemas.openxmlformats.org/drawingml/2006/main" xmlns:r="http://schemas.openxmlformats.org/officeDocument/2006/relationships" xmlns:p="http://schemas.openxmlformats.org/presentationml/2006/main">
  <p:tag name="LOCALSLIDEID" val="17887932466269685"/>
</p:tagLst>
</file>

<file path=ppt/tags/tag26.xml><?xml version="1.0" encoding="utf-8"?>
<p:tagLst xmlns:a="http://schemas.openxmlformats.org/drawingml/2006/main" xmlns:r="http://schemas.openxmlformats.org/officeDocument/2006/relationships" xmlns:p="http://schemas.openxmlformats.org/presentationml/2006/main">
  <p:tag name="LOCALSLIDEID" val="17887932466419406"/>
</p:tagLst>
</file>

<file path=ppt/tags/tag27.xml><?xml version="1.0" encoding="utf-8"?>
<p:tagLst xmlns:a="http://schemas.openxmlformats.org/drawingml/2006/main" xmlns:r="http://schemas.openxmlformats.org/officeDocument/2006/relationships" xmlns:p="http://schemas.openxmlformats.org/presentationml/2006/main">
  <p:tag name="LOCALSLIDEID" val="17887932466515228"/>
</p:tagLst>
</file>

<file path=ppt/tags/tag28.xml><?xml version="1.0" encoding="utf-8"?>
<p:tagLst xmlns:a="http://schemas.openxmlformats.org/drawingml/2006/main" xmlns:r="http://schemas.openxmlformats.org/officeDocument/2006/relationships" xmlns:p="http://schemas.openxmlformats.org/presentationml/2006/main">
  <p:tag name="LOCALSLIDEID" val="17887932466618094"/>
</p:tagLst>
</file>

<file path=ppt/tags/tag29.xml><?xml version="1.0" encoding="utf-8"?>
<p:tagLst xmlns:a="http://schemas.openxmlformats.org/drawingml/2006/main" xmlns:r="http://schemas.openxmlformats.org/officeDocument/2006/relationships" xmlns:p="http://schemas.openxmlformats.org/presentationml/2006/main">
  <p:tag name="LOCALSLIDEID" val="17887932466715965"/>
</p:tagLst>
</file>

<file path=ppt/tags/tag30.xml><?xml version="1.0" encoding="utf-8"?>
<p:tagLst xmlns:a="http://schemas.openxmlformats.org/drawingml/2006/main" xmlns:r="http://schemas.openxmlformats.org/officeDocument/2006/relationships" xmlns:p="http://schemas.openxmlformats.org/presentationml/2006/main">
  <p:tag name="LOCALSLIDEID" val="17887932466814318"/>
</p:tagLst>
</file>

<file path=ppt/tags/tag31.xml><?xml version="1.0" encoding="utf-8"?>
<p:tagLst xmlns:a="http://schemas.openxmlformats.org/drawingml/2006/main" xmlns:r="http://schemas.openxmlformats.org/officeDocument/2006/relationships" xmlns:p="http://schemas.openxmlformats.org/presentationml/2006/main">
  <p:tag name="LOCALSLIDEID" val="17887932466814318"/>
</p:tagLst>
</file>

<file path=ppt/tags/tag32.xml><?xml version="1.0" encoding="utf-8"?>
<p:tagLst xmlns:a="http://schemas.openxmlformats.org/drawingml/2006/main" xmlns:r="http://schemas.openxmlformats.org/officeDocument/2006/relationships" xmlns:p="http://schemas.openxmlformats.org/presentationml/2006/main">
  <p:tag name="LOCALSLIDEID" val="17887932466814318"/>
</p:tagLst>
</file>

<file path=ppt/tags/tag33.xml><?xml version="1.0" encoding="utf-8"?>
<p:tagLst xmlns:a="http://schemas.openxmlformats.org/drawingml/2006/main" xmlns:r="http://schemas.openxmlformats.org/officeDocument/2006/relationships" xmlns:p="http://schemas.openxmlformats.org/presentationml/2006/main">
  <p:tag name="LOCALSLIDEID" val="17887932466916103"/>
</p:tagLst>
</file>

<file path=ppt/tags/tag34.xml><?xml version="1.0" encoding="utf-8"?>
<p:tagLst xmlns:a="http://schemas.openxmlformats.org/drawingml/2006/main" xmlns:r="http://schemas.openxmlformats.org/officeDocument/2006/relationships" xmlns:p="http://schemas.openxmlformats.org/presentationml/2006/main">
  <p:tag name="LOCALSLIDEID" val="17887932466960280"/>
</p:tagLst>
</file>

<file path=ppt/tags/tag35.xml><?xml version="1.0" encoding="utf-8"?>
<p:tagLst xmlns:a="http://schemas.openxmlformats.org/drawingml/2006/main" xmlns:r="http://schemas.openxmlformats.org/officeDocument/2006/relationships" xmlns:p="http://schemas.openxmlformats.org/presentationml/2006/main">
  <p:tag name="LOCALSLIDEID" val="17887932467062017"/>
</p:tagLst>
</file>

<file path=ppt/tags/tag36.xml><?xml version="1.0" encoding="utf-8"?>
<p:tagLst xmlns:a="http://schemas.openxmlformats.org/drawingml/2006/main" xmlns:r="http://schemas.openxmlformats.org/officeDocument/2006/relationships" xmlns:p="http://schemas.openxmlformats.org/presentationml/2006/main">
  <p:tag name="LOCALSLIDEID" val="17887932467060892"/>
</p:tagLst>
</file>

<file path=ppt/tags/tag37.xml><?xml version="1.0" encoding="utf-8"?>
<p:tagLst xmlns:a="http://schemas.openxmlformats.org/drawingml/2006/main" xmlns:r="http://schemas.openxmlformats.org/officeDocument/2006/relationships" xmlns:p="http://schemas.openxmlformats.org/presentationml/2006/main">
  <p:tag name="LOCALSLIDEID" val="17887932467114550"/>
</p:tagLst>
</file>

<file path=ppt/tags/tag38.xml><?xml version="1.0" encoding="utf-8"?>
<p:tagLst xmlns:a="http://schemas.openxmlformats.org/drawingml/2006/main" xmlns:r="http://schemas.openxmlformats.org/officeDocument/2006/relationships" xmlns:p="http://schemas.openxmlformats.org/presentationml/2006/main">
  <p:tag name="LOCALSLIDEID" val="17887932467110830"/>
</p:tagLst>
</file>

<file path=ppt/tags/tag39.xml><?xml version="1.0" encoding="utf-8"?>
<p:tagLst xmlns:a="http://schemas.openxmlformats.org/drawingml/2006/main" xmlns:r="http://schemas.openxmlformats.org/officeDocument/2006/relationships" xmlns:p="http://schemas.openxmlformats.org/presentationml/2006/main">
  <p:tag name="LOCALSLIDEID" val="17887932467166715"/>
</p:tagLst>
</file>

<file path=ppt/tags/tag40.xml><?xml version="1.0" encoding="utf-8"?>
<p:tagLst xmlns:a="http://schemas.openxmlformats.org/drawingml/2006/main" xmlns:r="http://schemas.openxmlformats.org/officeDocument/2006/relationships" xmlns:p="http://schemas.openxmlformats.org/presentationml/2006/main">
  <p:tag name="LOCALSLIDEID" val="17887932467217977"/>
</p:tagLst>
</file>

<file path=ppt/tags/tag41.xml><?xml version="1.0" encoding="utf-8"?>
<p:tagLst xmlns:a="http://schemas.openxmlformats.org/drawingml/2006/main" xmlns:r="http://schemas.openxmlformats.org/officeDocument/2006/relationships" xmlns:p="http://schemas.openxmlformats.org/presentationml/2006/main">
  <p:tag name="LOCALSLIDEID" val="17887932467213827"/>
</p:tagLst>
</file>

<file path=ppt/tags/tag42.xml><?xml version="1.0" encoding="utf-8"?>
<p:tagLst xmlns:a="http://schemas.openxmlformats.org/drawingml/2006/main" xmlns:r="http://schemas.openxmlformats.org/officeDocument/2006/relationships" xmlns:p="http://schemas.openxmlformats.org/presentationml/2006/main">
  <p:tag name="LOCALSLIDEID" val="17887932467268668"/>
</p:tagLst>
</file>

<file path=ppt/tags/tag43.xml><?xml version="1.0" encoding="utf-8"?>
<p:tagLst xmlns:a="http://schemas.openxmlformats.org/drawingml/2006/main" xmlns:r="http://schemas.openxmlformats.org/officeDocument/2006/relationships" xmlns:p="http://schemas.openxmlformats.org/presentationml/2006/main">
  <p:tag name="LOCALSLIDEID" val="17887932467319132"/>
</p:tagLst>
</file>

<file path=ppt/tags/tag44.xml><?xml version="1.0" encoding="utf-8"?>
<p:tagLst xmlns:a="http://schemas.openxmlformats.org/drawingml/2006/main" xmlns:r="http://schemas.openxmlformats.org/officeDocument/2006/relationships" xmlns:p="http://schemas.openxmlformats.org/presentationml/2006/main">
  <p:tag name="LOCALSLIDEID" val="17887932467310256"/>
</p:tagLst>
</file>

<file path=ppt/tags/tag45.xml><?xml version="1.0" encoding="utf-8"?>
<p:tagLst xmlns:a="http://schemas.openxmlformats.org/drawingml/2006/main" xmlns:r="http://schemas.openxmlformats.org/officeDocument/2006/relationships" xmlns:p="http://schemas.openxmlformats.org/presentationml/2006/main">
  <p:tag name="LOCALSLIDEID" val="17887932467368131"/>
</p:tagLst>
</file>

<file path=ppt/tags/tag46.xml><?xml version="1.0" encoding="utf-8"?>
<p:tagLst xmlns:a="http://schemas.openxmlformats.org/drawingml/2006/main" xmlns:r="http://schemas.openxmlformats.org/officeDocument/2006/relationships" xmlns:p="http://schemas.openxmlformats.org/presentationml/2006/main">
  <p:tag name="LOCALSLIDEID" val="17887932467366312"/>
</p:tagLst>
</file>

<file path=ppt/tags/tag47.xml><?xml version="1.0" encoding="utf-8"?>
<p:tagLst xmlns:a="http://schemas.openxmlformats.org/drawingml/2006/main" xmlns:r="http://schemas.openxmlformats.org/officeDocument/2006/relationships" xmlns:p="http://schemas.openxmlformats.org/presentationml/2006/main">
  <p:tag name="LOCALSLIDEID" val="17887932467413492"/>
</p:tagLst>
</file>

<file path=ppt/tags/tag48.xml><?xml version="1.0" encoding="utf-8"?>
<p:tagLst xmlns:a="http://schemas.openxmlformats.org/drawingml/2006/main" xmlns:r="http://schemas.openxmlformats.org/officeDocument/2006/relationships" xmlns:p="http://schemas.openxmlformats.org/presentationml/2006/main">
  <p:tag name="LOCALSLIDEID" val="17887932467463305"/>
</p:tagLst>
</file>

<file path=ppt/tags/tag49.xml><?xml version="1.0" encoding="utf-8"?>
<p:tagLst xmlns:a="http://schemas.openxmlformats.org/drawingml/2006/main" xmlns:r="http://schemas.openxmlformats.org/officeDocument/2006/relationships" xmlns:p="http://schemas.openxmlformats.org/presentationml/2006/main">
  <p:tag name="LOCALSLIDEID" val="17887932467460854"/>
</p:tagLst>
</file>

<file path=ppt/tags/tag50.xml><?xml version="1.0" encoding="utf-8"?>
<p:tagLst xmlns:a="http://schemas.openxmlformats.org/drawingml/2006/main" xmlns:r="http://schemas.openxmlformats.org/officeDocument/2006/relationships" xmlns:p="http://schemas.openxmlformats.org/presentationml/2006/main">
  <p:tag name="LOCALSLIDEID" val="17887932467518675"/>
</p:tagLst>
</file>

<file path=ppt/tags/tag51.xml><?xml version="1.0" encoding="utf-8"?>
<p:tagLst xmlns:a="http://schemas.openxmlformats.org/drawingml/2006/main" xmlns:r="http://schemas.openxmlformats.org/officeDocument/2006/relationships" xmlns:p="http://schemas.openxmlformats.org/presentationml/2006/main">
  <p:tag name="LOCALSLIDEID" val="17887932467569426"/>
</p:tagLst>
</file>

<file path=ppt/tags/tag52.xml><?xml version="1.0" encoding="utf-8"?>
<p:tagLst xmlns:a="http://schemas.openxmlformats.org/drawingml/2006/main" xmlns:r="http://schemas.openxmlformats.org/officeDocument/2006/relationships" xmlns:p="http://schemas.openxmlformats.org/presentationml/2006/main">
  <p:tag name="LOCALSLIDEID" val="17887932467613521"/>
</p:tagLst>
</file>

<file path=ppt/tags/tag53.xml><?xml version="1.0" encoding="utf-8"?>
<p:tagLst xmlns:a="http://schemas.openxmlformats.org/drawingml/2006/main" xmlns:r="http://schemas.openxmlformats.org/officeDocument/2006/relationships" xmlns:p="http://schemas.openxmlformats.org/presentationml/2006/main">
  <p:tag name="LOCALSLIDEID" val="17887932467669566"/>
</p:tagLst>
</file>

<file path=ppt/tags/tag54.xml><?xml version="1.0" encoding="utf-8"?>
<p:tagLst xmlns:a="http://schemas.openxmlformats.org/drawingml/2006/main" xmlns:r="http://schemas.openxmlformats.org/officeDocument/2006/relationships" xmlns:p="http://schemas.openxmlformats.org/presentationml/2006/main">
  <p:tag name="LOCALSLIDEID" val="17887932467711759"/>
</p:tagLst>
</file>

<file path=ppt/tags/tag55.xml><?xml version="1.0" encoding="utf-8"?>
<p:tagLst xmlns:a="http://schemas.openxmlformats.org/drawingml/2006/main" xmlns:r="http://schemas.openxmlformats.org/officeDocument/2006/relationships" xmlns:p="http://schemas.openxmlformats.org/presentationml/2006/main">
  <p:tag name="LOCALSLIDEID" val="17887932468014205"/>
</p:tagLst>
</file>

<file path=ppt/tags/tag56.xml><?xml version="1.0" encoding="utf-8"?>
<p:tagLst xmlns:a="http://schemas.openxmlformats.org/drawingml/2006/main" xmlns:r="http://schemas.openxmlformats.org/officeDocument/2006/relationships" xmlns:p="http://schemas.openxmlformats.org/presentationml/2006/main">
  <p:tag name="LOCALSLIDEID" val="17887932468069762"/>
</p:tagLst>
</file>

<file path=ppt/tags/tag57.xml><?xml version="1.0" encoding="utf-8"?>
<p:tagLst xmlns:a="http://schemas.openxmlformats.org/drawingml/2006/main" xmlns:r="http://schemas.openxmlformats.org/officeDocument/2006/relationships" xmlns:p="http://schemas.openxmlformats.org/presentationml/2006/main">
  <p:tag name="LOCALSLIDEID" val="17887932468115352"/>
</p:tagLst>
</file>

<file path=ppt/tags/tag58.xml><?xml version="1.0" encoding="utf-8"?>
<p:tagLst xmlns:a="http://schemas.openxmlformats.org/drawingml/2006/main" xmlns:r="http://schemas.openxmlformats.org/officeDocument/2006/relationships" xmlns:p="http://schemas.openxmlformats.org/presentationml/2006/main">
  <p:tag name="LOCALSLIDEID" val="17887932468214518"/>
</p:tagLst>
</file>

<file path=ppt/tags/tag59.xml><?xml version="1.0" encoding="utf-8"?>
<p:tagLst xmlns:a="http://schemas.openxmlformats.org/drawingml/2006/main" xmlns:r="http://schemas.openxmlformats.org/officeDocument/2006/relationships" xmlns:p="http://schemas.openxmlformats.org/presentationml/2006/main">
  <p:tag name="LOCALSLIDEID" val="17887932468266304"/>
</p:tagLst>
</file>

<file path=ppt/tags/tag60.xml><?xml version="1.0" encoding="utf-8"?>
<p:tagLst xmlns:a="http://schemas.openxmlformats.org/drawingml/2006/main" xmlns:r="http://schemas.openxmlformats.org/officeDocument/2006/relationships" xmlns:p="http://schemas.openxmlformats.org/presentationml/2006/main">
  <p:tag name="LOCALSLIDEID" val="17887932468314851"/>
</p:tagLst>
</file>

<file path=ppt/tags/tag61.xml><?xml version="1.0" encoding="utf-8"?>
<p:tagLst xmlns:a="http://schemas.openxmlformats.org/drawingml/2006/main" xmlns:r="http://schemas.openxmlformats.org/officeDocument/2006/relationships" xmlns:p="http://schemas.openxmlformats.org/presentationml/2006/main">
  <p:tag name="LOCALSLIDEID" val="17887932468313263"/>
</p:tagLst>
</file>

<file path=ppt/tags/tag62.xml><?xml version="1.0" encoding="utf-8"?>
<p:tagLst xmlns:a="http://schemas.openxmlformats.org/drawingml/2006/main" xmlns:r="http://schemas.openxmlformats.org/officeDocument/2006/relationships" xmlns:p="http://schemas.openxmlformats.org/presentationml/2006/main">
  <p:tag name="LOCALSLIDEID" val="17887932468411269"/>
</p:tagLst>
</file>

<file path=ppt/tags/tag63.xml><?xml version="1.0" encoding="utf-8"?>
<p:tagLst xmlns:a="http://schemas.openxmlformats.org/drawingml/2006/main" xmlns:r="http://schemas.openxmlformats.org/officeDocument/2006/relationships" xmlns:p="http://schemas.openxmlformats.org/presentationml/2006/main">
  <p:tag name="LOCALSLIDEID" val="17887932468460385"/>
</p:tagLst>
</file>

<file path=ppt/tags/tag64.xml><?xml version="1.0" encoding="utf-8"?>
<p:tagLst xmlns:a="http://schemas.openxmlformats.org/drawingml/2006/main" xmlns:r="http://schemas.openxmlformats.org/officeDocument/2006/relationships" xmlns:p="http://schemas.openxmlformats.org/presentationml/2006/main">
  <p:tag name="LOCALSLIDEID" val="17887932468564319"/>
</p:tagLst>
</file>

<file path=ppt/tags/tag65.xml><?xml version="1.0" encoding="utf-8"?>
<p:tagLst xmlns:a="http://schemas.openxmlformats.org/drawingml/2006/main" xmlns:r="http://schemas.openxmlformats.org/officeDocument/2006/relationships" xmlns:p="http://schemas.openxmlformats.org/presentationml/2006/main">
  <p:tag name="LOCALSLIDEID" val="17887932468664354"/>
</p:tagLst>
</file>

<file path=ppt/tags/tag66.xml><?xml version="1.0" encoding="utf-8"?>
<p:tagLst xmlns:a="http://schemas.openxmlformats.org/drawingml/2006/main" xmlns:r="http://schemas.openxmlformats.org/officeDocument/2006/relationships" xmlns:p="http://schemas.openxmlformats.org/presentationml/2006/main">
  <p:tag name="LOCALSLIDEID" val="17887932468764958"/>
</p:tagLst>
</file>

<file path=ppt/tags/tag67.xml><?xml version="1.0" encoding="utf-8"?>
<p:tagLst xmlns:a="http://schemas.openxmlformats.org/drawingml/2006/main" xmlns:r="http://schemas.openxmlformats.org/officeDocument/2006/relationships" xmlns:p="http://schemas.openxmlformats.org/presentationml/2006/main">
  <p:tag name="LOCALSLIDEID" val="17887932468812017"/>
</p:tagLst>
</file>

<file path=ppt/tags/tag68.xml><?xml version="1.0" encoding="utf-8"?>
<p:tagLst xmlns:a="http://schemas.openxmlformats.org/drawingml/2006/main" xmlns:r="http://schemas.openxmlformats.org/officeDocument/2006/relationships" xmlns:p="http://schemas.openxmlformats.org/presentationml/2006/main">
  <p:tag name="LOCALSLIDEID" val="17887932468918355"/>
</p:tagLst>
</file>

<file path=ppt/tags/tag69.xml><?xml version="1.0" encoding="utf-8"?>
<p:tagLst xmlns:a="http://schemas.openxmlformats.org/drawingml/2006/main" xmlns:r="http://schemas.openxmlformats.org/officeDocument/2006/relationships" xmlns:p="http://schemas.openxmlformats.org/presentationml/2006/main">
  <p:tag name="LOCALSLIDEID" val="17887932469017840"/>
</p:tagLst>
</file>

<file path=ppt/tags/tag70.xml><?xml version="1.0" encoding="utf-8"?>
<p:tagLst xmlns:a="http://schemas.openxmlformats.org/drawingml/2006/main" xmlns:r="http://schemas.openxmlformats.org/officeDocument/2006/relationships" xmlns:p="http://schemas.openxmlformats.org/presentationml/2006/main">
  <p:tag name="LOCALSLIDEID" val="17887932469061309"/>
</p:tagLst>
</file>

<file path=ppt/tags/tag71.xml><?xml version="1.0" encoding="utf-8"?>
<p:tagLst xmlns:a="http://schemas.openxmlformats.org/drawingml/2006/main" xmlns:r="http://schemas.openxmlformats.org/officeDocument/2006/relationships" xmlns:p="http://schemas.openxmlformats.org/presentationml/2006/main">
  <p:tag name="LOCALSLIDEID" val="17887932469119748"/>
</p:tagLst>
</file>

<file path=ppt/tags/tag72.xml><?xml version="1.0" encoding="utf-8"?>
<p:tagLst xmlns:a="http://schemas.openxmlformats.org/drawingml/2006/main" xmlns:r="http://schemas.openxmlformats.org/officeDocument/2006/relationships" xmlns:p="http://schemas.openxmlformats.org/presentationml/2006/main">
  <p:tag name="LOCALSLIDEID" val="17887932469269674"/>
</p:tagLst>
</file>

<file path=ppt/tags/tag73.xml><?xml version="1.0" encoding="utf-8"?>
<p:tagLst xmlns:a="http://schemas.openxmlformats.org/drawingml/2006/main" xmlns:r="http://schemas.openxmlformats.org/officeDocument/2006/relationships" xmlns:p="http://schemas.openxmlformats.org/presentationml/2006/main">
  <p:tag name="LOCALSLIDEID" val="17887932469310819"/>
</p:tagLst>
</file>

<file path=ppt/tags/tag74.xml><?xml version="1.0" encoding="utf-8"?>
<p:tagLst xmlns:a="http://schemas.openxmlformats.org/drawingml/2006/main" xmlns:r="http://schemas.openxmlformats.org/officeDocument/2006/relationships" xmlns:p="http://schemas.openxmlformats.org/presentationml/2006/main">
  <p:tag name="LOCALSLIDEID" val="17887932469368144"/>
</p:tagLst>
</file>

<file path=ppt/tags/tag75.xml><?xml version="1.0" encoding="utf-8"?>
<p:tagLst xmlns:a="http://schemas.openxmlformats.org/drawingml/2006/main" xmlns:r="http://schemas.openxmlformats.org/officeDocument/2006/relationships" xmlns:p="http://schemas.openxmlformats.org/presentationml/2006/main">
  <p:tag name="LOCALSLIDEID" val="17887932469466485"/>
</p:tagLst>
</file>

<file path=ppt/tags/tag76.xml><?xml version="1.0" encoding="utf-8"?>
<p:tagLst xmlns:a="http://schemas.openxmlformats.org/drawingml/2006/main" xmlns:r="http://schemas.openxmlformats.org/officeDocument/2006/relationships" xmlns:p="http://schemas.openxmlformats.org/presentationml/2006/main">
  <p:tag name="LOCALSLIDEID" val="17887932469516389"/>
</p:tagLst>
</file>

<file path=ppt/tags/tag77.xml><?xml version="1.0" encoding="utf-8"?>
<p:tagLst xmlns:a="http://schemas.openxmlformats.org/drawingml/2006/main" xmlns:r="http://schemas.openxmlformats.org/officeDocument/2006/relationships" xmlns:p="http://schemas.openxmlformats.org/presentationml/2006/main">
  <p:tag name="LOCALSLIDEID" val="17887932469611796"/>
</p:tagLst>
</file>

<file path=ppt/tags/tag78.xml><?xml version="1.0" encoding="utf-8"?>
<p:tagLst xmlns:a="http://schemas.openxmlformats.org/drawingml/2006/main" xmlns:r="http://schemas.openxmlformats.org/officeDocument/2006/relationships" xmlns:p="http://schemas.openxmlformats.org/presentationml/2006/main">
  <p:tag name="LOCALSLIDEID" val="17887932469664688"/>
</p:tagLst>
</file>

<file path=ppt/tags/tag79.xml><?xml version="1.0" encoding="utf-8"?>
<p:tagLst xmlns:a="http://schemas.openxmlformats.org/drawingml/2006/main" xmlns:r="http://schemas.openxmlformats.org/officeDocument/2006/relationships" xmlns:p="http://schemas.openxmlformats.org/presentationml/2006/main">
  <p:tag name="LOCALSLIDEID" val="17887932469810402"/>
</p:tagLst>
</file>

<file path=ppt/tags/tag80.xml><?xml version="1.0" encoding="utf-8"?>
<p:tagLst xmlns:a="http://schemas.openxmlformats.org/drawingml/2006/main" xmlns:r="http://schemas.openxmlformats.org/officeDocument/2006/relationships" xmlns:p="http://schemas.openxmlformats.org/presentationml/2006/main">
  <p:tag name="LOCALSLIDEID" val="17887932469917309"/>
</p:tagLst>
</file>

<file path=ppt/tags/tag81.xml><?xml version="1.0" encoding="utf-8"?>
<p:tagLst xmlns:a="http://schemas.openxmlformats.org/drawingml/2006/main" xmlns:r="http://schemas.openxmlformats.org/officeDocument/2006/relationships" xmlns:p="http://schemas.openxmlformats.org/presentationml/2006/main">
  <p:tag name="LOCALSLIDEID" val="17887932469967273"/>
</p:tagLst>
</file>

<file path=ppt/tags/tag82.xml><?xml version="1.0" encoding="utf-8"?>
<p:tagLst xmlns:a="http://schemas.openxmlformats.org/drawingml/2006/main" xmlns:r="http://schemas.openxmlformats.org/officeDocument/2006/relationships" xmlns:p="http://schemas.openxmlformats.org/presentationml/2006/main">
  <p:tag name="LOCALSLIDEID" val="17887932470011748"/>
</p:tagLst>
</file>

<file path=ppt/tags/tag83.xml><?xml version="1.0" encoding="utf-8"?>
<p:tagLst xmlns:a="http://schemas.openxmlformats.org/drawingml/2006/main" xmlns:r="http://schemas.openxmlformats.org/officeDocument/2006/relationships" xmlns:p="http://schemas.openxmlformats.org/presentationml/2006/main">
  <p:tag name="LOCALSLIDEID" val="17887932470068653"/>
</p:tagLst>
</file>

<file path=ppt/tags/tag84.xml><?xml version="1.0" encoding="utf-8"?>
<p:tagLst xmlns:a="http://schemas.openxmlformats.org/drawingml/2006/main" xmlns:r="http://schemas.openxmlformats.org/officeDocument/2006/relationships" xmlns:p="http://schemas.openxmlformats.org/presentationml/2006/main">
  <p:tag name="LOCALSLIDEID" val="17887932470162316"/>
</p:tagLst>
</file>

<file path=ppt/tags/tag85.xml><?xml version="1.0" encoding="utf-8"?>
<p:tagLst xmlns:a="http://schemas.openxmlformats.org/drawingml/2006/main" xmlns:r="http://schemas.openxmlformats.org/officeDocument/2006/relationships" xmlns:p="http://schemas.openxmlformats.org/presentationml/2006/main">
  <p:tag name="LOCALSLIDEID" val="1788793247026572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TotalTime>
  <Words>6182</Words>
  <Application>Microsoft Office PowerPoint</Application>
  <PresentationFormat>宽屏</PresentationFormat>
  <Paragraphs>666</Paragraphs>
  <Slides>83</Slides>
  <Notes>4</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83</vt:i4>
      </vt:variant>
    </vt:vector>
  </HeadingPairs>
  <TitlesOfParts>
    <vt:vector size="90" baseType="lpstr">
      <vt:lpstr>等线</vt:lpstr>
      <vt:lpstr>微软雅黑</vt:lpstr>
      <vt:lpstr>Arial</vt:lpstr>
      <vt:lpstr>Calibri</vt:lpstr>
      <vt:lpstr>Wingdings</vt:lpstr>
      <vt:lpstr>Office 主题</vt:lpstr>
      <vt:lpstr>1_Office 主题</vt:lpstr>
      <vt:lpstr>PowerPoint 演示文稿</vt:lpstr>
      <vt:lpstr>3.4 项目实践</vt:lpstr>
      <vt:lpstr>3.4 项目实践</vt:lpstr>
      <vt:lpstr>3.4 项目实践</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3.4.1基于Hive+MySQL+Sqoop的数据存储与传输</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3.4.2 基于零售交易数据的Spark数据处理与分析</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lpstr>3.4.3 可视化展示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大数据综合应用实践</dc:title>
  <dc:creator>ccp</dc:creator>
  <cp:lastModifiedBy>继新 马</cp:lastModifiedBy>
  <cp:revision>127</cp:revision>
  <dcterms:created xsi:type="dcterms:W3CDTF">2021-12-23T01:50:00Z</dcterms:created>
  <dcterms:modified xsi:type="dcterms:W3CDTF">2026-09-24T13:51:58Z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4907CCDB80994830856479D5DAB473CD</vt:lpwstr>
  </property>
  <property fmtid="{D5CDD505-2E9C-101B-9397-08002B2CF9AE}" pid="3" name="KSOProductBuildVer">
    <vt:lpwstr>2052-11.1.0.11369</vt:lpwstr>
  </property>
</Properties>
</file>